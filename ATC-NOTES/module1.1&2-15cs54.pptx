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258" r:id="rId3"/>
    <p:sldId id="262" r:id="rId4"/>
    <p:sldId id="263" r:id="rId5"/>
    <p:sldId id="264" r:id="rId6"/>
    <p:sldId id="265" r:id="rId7"/>
    <p:sldId id="266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B4CC8-F9AB-49E5-BDE6-BA63CFE9FAE8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EA850-D36C-4D2D-B279-0EEBF04DDF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300F8-C23C-40E1-8BE2-F1C6D598C056}" type="datetimeFigureOut">
              <a:rPr lang="en-US" smtClean="0"/>
              <a:pPr/>
              <a:t>9/4/2020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B6DD6-99A6-49AD-B194-CC031FF701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685800"/>
            <a:ext cx="8610600" cy="2438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smtClean="0">
                <a:solidFill>
                  <a:srgbClr val="7030A0"/>
                </a:solidFill>
              </a:rPr>
              <a:t/>
            </a:r>
            <a:br>
              <a:rPr lang="en-US" b="1" smtClean="0">
                <a:solidFill>
                  <a:srgbClr val="7030A0"/>
                </a:solidFill>
              </a:rPr>
            </a:br>
            <a:r>
              <a:rPr lang="en-US" b="1" smtClean="0">
                <a:solidFill>
                  <a:srgbClr val="7030A0"/>
                </a:solidFill>
              </a:rPr>
              <a:t>18CS54</a:t>
            </a: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i="1" dirty="0" smtClean="0">
                <a:solidFill>
                  <a:srgbClr val="0070C0"/>
                </a:solidFill>
              </a:rPr>
              <a:t>Automata, Computability, &amp; Complexity</a:t>
            </a:r>
            <a:br>
              <a:rPr lang="en-US" i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endParaRPr lang="en-US" b="1" dirty="0" smtClean="0">
              <a:solidFill>
                <a:srgbClr val="7030A0"/>
              </a:solidFill>
            </a:endParaRPr>
          </a:p>
        </p:txBody>
      </p:sp>
      <p:sp>
        <p:nvSpPr>
          <p:cNvPr id="205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1CB9D1A-2623-41F2-B7A4-CC6AFD795876}" type="slidenum">
              <a:rPr lang="en-US" smtClean="0"/>
              <a:pPr/>
              <a:t>1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8610600" cy="1470025"/>
          </a:xfrm>
        </p:spPr>
        <p:txBody>
          <a:bodyPr/>
          <a:lstStyle/>
          <a:p>
            <a:pPr eaLnBrk="1" hangingPunct="1"/>
            <a:r>
              <a:rPr lang="en-US" b="1" smtClean="0"/>
              <a:t>Why Study the Theory of Computation?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581400"/>
            <a:ext cx="8534400" cy="1752600"/>
          </a:xfrm>
        </p:spPr>
        <p:txBody>
          <a:bodyPr/>
          <a:lstStyle/>
          <a:p>
            <a:pPr eaLnBrk="1" hangingPunct="1"/>
            <a:r>
              <a:rPr lang="en-US" smtClean="0"/>
              <a:t>Implementations come and go.</a:t>
            </a: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685800" y="5805488"/>
            <a:ext cx="8458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>
                <a:solidFill>
                  <a:schemeClr val="tx2"/>
                </a:solidFill>
              </a:rPr>
              <a:t>Chapter 1</a:t>
            </a:r>
          </a:p>
        </p:txBody>
      </p:sp>
      <p:sp>
        <p:nvSpPr>
          <p:cNvPr id="307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8B4EE15-B9F7-4D10-B768-C5D94ECA42A7}" type="slidenum">
              <a:rPr lang="en-US" smtClean="0"/>
              <a:pPr/>
              <a:t>2</a:t>
            </a:fld>
            <a:endParaRPr lang="en-US" smtClean="0"/>
          </a:p>
        </p:txBody>
      </p:sp>
      <p:pic>
        <p:nvPicPr>
          <p:cNvPr id="3078" name="Picture 6" descr="C:\Program Files (x86)\Microsoft Office\MEDIA\CAGCAT10\j0292982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4191000"/>
            <a:ext cx="1843088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Why study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153400" cy="4525963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Science of Computing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Properties </a:t>
            </a:r>
            <a:r>
              <a:rPr lang="en-US" dirty="0" smtClean="0"/>
              <a:t>(problems &amp; algorithms) having nothing to do with current technology or languages</a:t>
            </a:r>
          </a:p>
          <a:p>
            <a:pPr eaLnBrk="1" hangingPunct="1">
              <a:defRPr/>
            </a:pPr>
            <a:r>
              <a:rPr lang="en-US" dirty="0" smtClean="0"/>
              <a:t>Provides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Abstract Structures</a:t>
            </a:r>
          </a:p>
          <a:p>
            <a:pPr eaLnBrk="1" hangingPunct="1">
              <a:defRPr/>
            </a:pPr>
            <a:r>
              <a:rPr lang="en-US" dirty="0" smtClean="0"/>
              <a:t>Defines 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Provable Limits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7944AC3-7788-4727-AF27-E09885A63F0D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Goals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Study Principles of Problems themselves</a:t>
            </a:r>
          </a:p>
          <a:p>
            <a:pPr eaLnBrk="1" hangingPunct="1">
              <a:defRPr/>
            </a:pPr>
            <a:r>
              <a:rPr lang="en-US" dirty="0" smtClean="0"/>
              <a:t>Does a solution exist?  </a:t>
            </a:r>
          </a:p>
          <a:p>
            <a:pPr lvl="1" eaLnBrk="1" hangingPunct="1">
              <a:defRPr/>
            </a:pPr>
            <a:r>
              <a:rPr lang="en-US" dirty="0" smtClean="0"/>
              <a:t>If not, is there a restricted variation?</a:t>
            </a:r>
          </a:p>
          <a:p>
            <a:pPr eaLnBrk="1" hangingPunct="1">
              <a:defRPr/>
            </a:pPr>
            <a:r>
              <a:rPr lang="en-US" dirty="0" smtClean="0"/>
              <a:t>Can solution be implemented in fixed memory?</a:t>
            </a:r>
          </a:p>
          <a:p>
            <a:pPr eaLnBrk="1" hangingPunct="1">
              <a:defRPr/>
            </a:pPr>
            <a:r>
              <a:rPr lang="en-US" dirty="0" smtClean="0"/>
              <a:t>Is Solution efficient?</a:t>
            </a:r>
          </a:p>
          <a:p>
            <a:pPr lvl="1" eaLnBrk="1" hangingPunct="1">
              <a:defRPr/>
            </a:pPr>
            <a:r>
              <a:rPr lang="en-US" dirty="0" smtClean="0"/>
              <a:t>Growth of time &amp; memory with problem size?</a:t>
            </a:r>
          </a:p>
          <a:p>
            <a:pPr eaLnBrk="1" hangingPunct="1">
              <a:defRPr/>
            </a:pPr>
            <a:r>
              <a:rPr lang="en-US" dirty="0" smtClean="0"/>
              <a:t>Are there equivalent groups of problems?</a:t>
            </a:r>
          </a:p>
          <a:p>
            <a:pPr marL="457200" lvl="1" indent="0" eaLnBrk="1" hangingPunct="1">
              <a:buFontTx/>
              <a:buNone/>
              <a:defRPr/>
            </a:pPr>
            <a:endParaRPr 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331165B-3B80-41A4-B3D7-317C1D6B375C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8001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smtClean="0"/>
              <a:t>Applications of the Theory</a:t>
            </a:r>
            <a:r>
              <a:rPr lang="en-US" smtClean="0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924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Programming languages, compilers, &amp; context-free grammars.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FSMs (finite state machines) for parity checkers, vending machines, communication protocols, &amp; building security devices.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Interactive games as nondeterministic FSMs.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Natural languages are mostly context-free.  Speech understanding systems use probabilistic FSMs.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Computational Biology: DNA &amp; proteins are strings.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The </a:t>
            </a:r>
            <a:r>
              <a:rPr lang="en-US" sz="2400" dirty="0" err="1" smtClean="0"/>
              <a:t>undecidability</a:t>
            </a:r>
            <a:r>
              <a:rPr lang="en-US" sz="2400" dirty="0" smtClean="0"/>
              <a:t> of a simple security model.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Artificial Intelligence: the </a:t>
            </a:r>
            <a:r>
              <a:rPr lang="en-US" sz="2400" dirty="0" err="1" smtClean="0"/>
              <a:t>undecidability</a:t>
            </a:r>
            <a:r>
              <a:rPr lang="en-US" sz="2400" dirty="0" smtClean="0"/>
              <a:t> of first-order logic.</a:t>
            </a:r>
          </a:p>
        </p:txBody>
      </p:sp>
      <p:sp>
        <p:nvSpPr>
          <p:cNvPr id="922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5CC989F-8EB5-4BD2-8448-8ACFB03BCF12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143000"/>
            <a:ext cx="7772400" cy="35814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Languages and Strings</a:t>
            </a:r>
            <a:b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>This is one of MOST important chapters.</a:t>
            </a:r>
            <a:br>
              <a:rPr lang="en-US" sz="2800" dirty="0" smtClean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>It includes the </a:t>
            </a:r>
            <a:r>
              <a:rPr lang="en-US" sz="2800" dirty="0" smtClean="0">
                <a:solidFill>
                  <a:srgbClr val="7030A0"/>
                </a:solidFill>
              </a:rPr>
              <a:t>TERMINOLOGY</a:t>
            </a:r>
            <a:r>
              <a:rPr lang="en-US" sz="2800" dirty="0" smtClean="0">
                <a:solidFill>
                  <a:schemeClr val="tx1"/>
                </a:solidFill>
              </a:rPr>
              <a:t> required to be successful in this course.</a:t>
            </a:r>
            <a:br>
              <a:rPr lang="en-US" sz="2800" dirty="0" smtClean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rgbClr val="7030A0"/>
                </a:solidFill>
              </a:rPr>
              <a:t>KNOW this chapter &amp; ALL DEFINITIONS!! </a:t>
            </a:r>
            <a:endParaRPr lang="en-US" dirty="0" smtClean="0">
              <a:solidFill>
                <a:srgbClr val="7030A0"/>
              </a:solidFill>
            </a:endParaRPr>
          </a:p>
        </p:txBody>
      </p:sp>
      <p:sp>
        <p:nvSpPr>
          <p:cNvPr id="1024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3E5C5B4-92AD-44AA-B736-1D07F01CDE57}" type="slidenum">
              <a:rPr lang="en-US" smtClean="0"/>
              <a:pPr/>
              <a:t>6</a:t>
            </a:fld>
            <a:endParaRPr lang="en-US" smtClean="0"/>
          </a:p>
        </p:txBody>
      </p:sp>
      <p:pic>
        <p:nvPicPr>
          <p:cNvPr id="10245" name="Picture 5" descr="C:\Users\Halverson\AppData\Local\Microsoft\Windows\Temporary Internet Files\Content.IE5\SPK9DF8L\MC900442068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533400"/>
            <a:ext cx="1866900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66800" y="1905000"/>
            <a:ext cx="78486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(1) </a:t>
            </a:r>
            <a:r>
              <a:rPr lang="en-US" sz="2000" b="1" dirty="0">
                <a:solidFill>
                  <a:srgbClr val="7030A0"/>
                </a:solidFill>
              </a:rPr>
              <a:t>Lexical analysis</a:t>
            </a:r>
            <a:r>
              <a:rPr lang="en-US" sz="2000" dirty="0"/>
              <a:t>: Scan the program; break it into variable names, numbers, etc.</a:t>
            </a:r>
          </a:p>
          <a:p>
            <a:r>
              <a:rPr lang="en-US" sz="2000" dirty="0"/>
              <a:t>(2) </a:t>
            </a:r>
            <a:r>
              <a:rPr lang="en-US" sz="2000" b="1" dirty="0">
                <a:solidFill>
                  <a:srgbClr val="7030A0"/>
                </a:solidFill>
              </a:rPr>
              <a:t>Parsing</a:t>
            </a:r>
            <a:r>
              <a:rPr lang="en-US" sz="2000" dirty="0"/>
              <a:t>: Create a tree that corresponds to the sequence of operations to be executed, e.g.,</a:t>
            </a:r>
          </a:p>
          <a:p>
            <a:pPr algn="ctr"/>
            <a:r>
              <a:rPr lang="en-US" sz="2000" dirty="0"/>
              <a:t>/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 +               10</a:t>
            </a:r>
          </a:p>
          <a:p>
            <a:pPr algn="ctr"/>
            <a:endParaRPr lang="en-US" sz="2000" dirty="0"/>
          </a:p>
          <a:p>
            <a:r>
              <a:rPr lang="en-US" sz="2000" dirty="0"/>
              <a:t>    			2         5</a:t>
            </a:r>
            <a:br>
              <a:rPr lang="en-US" sz="2000" dirty="0"/>
            </a:br>
            <a:r>
              <a:rPr lang="en-US" sz="2000" dirty="0"/>
              <a:t>(3) </a:t>
            </a:r>
            <a:r>
              <a:rPr lang="en-US" sz="2000" b="1" dirty="0">
                <a:solidFill>
                  <a:srgbClr val="7030A0"/>
                </a:solidFill>
              </a:rPr>
              <a:t>Optimization</a:t>
            </a:r>
            <a:r>
              <a:rPr lang="en-US" sz="2000" dirty="0"/>
              <a:t>: Recognize, can skip first assignment since value is never used; can </a:t>
            </a:r>
            <a:r>
              <a:rPr lang="en-US" sz="2000" dirty="0" err="1"/>
              <a:t>precompute</a:t>
            </a:r>
            <a:r>
              <a:rPr lang="en-US" sz="2000" dirty="0"/>
              <a:t> the arithmetic expression, since it contains only constants.</a:t>
            </a:r>
          </a:p>
          <a:p>
            <a:r>
              <a:rPr lang="en-US" sz="2000" dirty="0"/>
              <a:t>(4) </a:t>
            </a:r>
            <a:r>
              <a:rPr lang="en-US" sz="2000" b="1" dirty="0">
                <a:solidFill>
                  <a:srgbClr val="7030A0"/>
                </a:solidFill>
              </a:rPr>
              <a:t>Termination</a:t>
            </a:r>
            <a:r>
              <a:rPr lang="en-US" sz="2000" dirty="0"/>
              <a:t>: Determine if program is guaranteed to halt.</a:t>
            </a:r>
          </a:p>
          <a:p>
            <a:r>
              <a:rPr lang="en-US" sz="2000" dirty="0"/>
              <a:t>(5) </a:t>
            </a:r>
            <a:r>
              <a:rPr lang="en-US" sz="2000" b="1" dirty="0">
                <a:solidFill>
                  <a:srgbClr val="7030A0"/>
                </a:solidFill>
              </a:rPr>
              <a:t>Interpretation</a:t>
            </a:r>
            <a:r>
              <a:rPr lang="en-US" sz="2000" dirty="0"/>
              <a:t>: Figure out what (</a:t>
            </a:r>
            <a:r>
              <a:rPr lang="en-US" sz="1600" dirty="0"/>
              <a:t>if anything</a:t>
            </a:r>
            <a:r>
              <a:rPr lang="en-US" sz="2000" dirty="0"/>
              <a:t>) useful program does.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-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Let's Look at Some Problems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828800" y="898525"/>
            <a:ext cx="22653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int alpha, beta;</a:t>
            </a:r>
          </a:p>
          <a:p>
            <a:r>
              <a:rPr lang="en-US" sz="2000"/>
              <a:t>alpha = 3;</a:t>
            </a:r>
          </a:p>
          <a:p>
            <a:r>
              <a:rPr lang="en-US" sz="2000"/>
              <a:t>beta = (2 + 5) / 10;</a:t>
            </a:r>
          </a:p>
        </p:txBody>
      </p:sp>
      <p:cxnSp>
        <p:nvCxnSpPr>
          <p:cNvPr id="11269" name="AutoShape 5"/>
          <p:cNvCxnSpPr>
            <a:cxnSpLocks noChangeShapeType="1"/>
          </p:cNvCxnSpPr>
          <p:nvPr/>
        </p:nvCxnSpPr>
        <p:spPr bwMode="auto">
          <a:xfrm flipV="1">
            <a:off x="4495800" y="35052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270" name="AutoShape 6"/>
          <p:cNvCxnSpPr>
            <a:cxnSpLocks noChangeShapeType="1"/>
          </p:cNvCxnSpPr>
          <p:nvPr/>
        </p:nvCxnSpPr>
        <p:spPr bwMode="auto">
          <a:xfrm flipV="1">
            <a:off x="4114800" y="4191000"/>
            <a:ext cx="228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271" name="AutoShape 7"/>
          <p:cNvCxnSpPr>
            <a:cxnSpLocks noChangeShapeType="1"/>
          </p:cNvCxnSpPr>
          <p:nvPr/>
        </p:nvCxnSpPr>
        <p:spPr bwMode="auto">
          <a:xfrm flipH="1" flipV="1">
            <a:off x="4495800" y="4038600"/>
            <a:ext cx="228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272" name="AutoShape 8"/>
          <p:cNvCxnSpPr>
            <a:cxnSpLocks noChangeShapeType="1"/>
          </p:cNvCxnSpPr>
          <p:nvPr/>
        </p:nvCxnSpPr>
        <p:spPr bwMode="auto">
          <a:xfrm flipH="1" flipV="1">
            <a:off x="5029200" y="3505200"/>
            <a:ext cx="4572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27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C1DABA2-BB43-4902-901E-60F38F10E7B4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smtClean="0"/>
              <a:t>A Framework for Analyzing Problems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990600" y="1408113"/>
            <a:ext cx="800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762000" y="1676400"/>
            <a:ext cx="822960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/>
              <a:t>We need a single framework in which we can analyze a very diverse set of problems.</a:t>
            </a:r>
          </a:p>
          <a:p>
            <a:endParaRPr lang="en-US" sz="2800"/>
          </a:p>
          <a:p>
            <a:r>
              <a:rPr lang="en-US" sz="2800"/>
              <a:t>The framework is </a:t>
            </a:r>
          </a:p>
          <a:p>
            <a:endParaRPr lang="en-US" sz="2800"/>
          </a:p>
          <a:p>
            <a:r>
              <a:rPr lang="en-US" sz="2800"/>
              <a:t>	</a:t>
            </a:r>
            <a:r>
              <a:rPr lang="en-US" sz="2800" b="1">
                <a:solidFill>
                  <a:srgbClr val="7030A0"/>
                </a:solidFill>
              </a:rPr>
              <a:t>Language Recognition</a:t>
            </a:r>
          </a:p>
          <a:p>
            <a:endParaRPr lang="en-US" sz="2800"/>
          </a:p>
          <a:p>
            <a:r>
              <a:rPr lang="en-US" sz="2800">
                <a:solidFill>
                  <a:srgbClr val="7030A0"/>
                </a:solidFill>
              </a:rPr>
              <a:t>*</a:t>
            </a:r>
            <a:r>
              <a:rPr lang="en-US" sz="2800"/>
              <a:t>A </a:t>
            </a:r>
            <a:r>
              <a:rPr lang="en-US" sz="2800" b="1" i="1">
                <a:solidFill>
                  <a:srgbClr val="7030A0"/>
                </a:solidFill>
              </a:rPr>
              <a:t>language</a:t>
            </a:r>
            <a:r>
              <a:rPr lang="en-US" sz="2800"/>
              <a:t> is a (possibly </a:t>
            </a:r>
            <a:r>
              <a:rPr lang="en-US" sz="2800" i="1"/>
              <a:t>infinite</a:t>
            </a:r>
            <a:r>
              <a:rPr lang="en-US" sz="2800"/>
              <a:t>) </a:t>
            </a:r>
            <a:r>
              <a:rPr lang="en-US" sz="2800" u="sng">
                <a:solidFill>
                  <a:srgbClr val="296165"/>
                </a:solidFill>
              </a:rPr>
              <a:t>set</a:t>
            </a:r>
            <a:r>
              <a:rPr lang="en-US" sz="2800"/>
              <a:t> of </a:t>
            </a:r>
            <a:r>
              <a:rPr lang="en-US" sz="2800" i="1"/>
              <a:t>finite</a:t>
            </a:r>
            <a:r>
              <a:rPr lang="en-US" sz="2800"/>
              <a:t> length strings over a </a:t>
            </a:r>
            <a:r>
              <a:rPr lang="en-US" sz="2800" i="1"/>
              <a:t>finite</a:t>
            </a:r>
            <a:r>
              <a:rPr lang="en-US" sz="2800"/>
              <a:t> alphabet.</a:t>
            </a:r>
          </a:p>
          <a:p>
            <a:endParaRPr lang="en-US" sz="2800"/>
          </a:p>
          <a:p>
            <a:r>
              <a:rPr lang="en-US" sz="2000">
                <a:solidFill>
                  <a:srgbClr val="235357"/>
                </a:solidFill>
              </a:rPr>
              <a:t>NOTE: Pay particular attention to use of </a:t>
            </a:r>
            <a:r>
              <a:rPr lang="en-US" sz="2000" i="1">
                <a:solidFill>
                  <a:srgbClr val="235357"/>
                </a:solidFill>
              </a:rPr>
              <a:t>finite</a:t>
            </a:r>
            <a:r>
              <a:rPr lang="en-US" sz="2000">
                <a:solidFill>
                  <a:srgbClr val="235357"/>
                </a:solidFill>
              </a:rPr>
              <a:t> &amp; </a:t>
            </a:r>
            <a:r>
              <a:rPr lang="en-US" sz="2000" i="1">
                <a:solidFill>
                  <a:srgbClr val="235357"/>
                </a:solidFill>
              </a:rPr>
              <a:t>infinite </a:t>
            </a:r>
            <a:r>
              <a:rPr lang="en-US" sz="2000">
                <a:solidFill>
                  <a:srgbClr val="235357"/>
                </a:solidFill>
              </a:rPr>
              <a:t>in all definitions!</a:t>
            </a:r>
          </a:p>
        </p:txBody>
      </p:sp>
      <p:sp>
        <p:nvSpPr>
          <p:cNvPr id="1536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EC5A7D6-0FA1-484B-AE78-7353A78C1BF2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Alphabet - </a:t>
            </a:r>
            <a:r>
              <a:rPr lang="en-US" dirty="0">
                <a:sym typeface="Symbol" pitchFamily="18" charset="2"/>
              </a:rPr>
              <a:t></a:t>
            </a:r>
            <a:endParaRPr lang="en-US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4876800"/>
          </a:xfrm>
        </p:spPr>
        <p:txBody>
          <a:bodyPr/>
          <a:lstStyle/>
          <a:p>
            <a:r>
              <a:rPr lang="en-US" smtClean="0"/>
              <a:t>An </a:t>
            </a:r>
            <a:r>
              <a:rPr lang="en-US" smtClean="0">
                <a:solidFill>
                  <a:srgbClr val="7030A0"/>
                </a:solidFill>
              </a:rPr>
              <a:t>alphabet</a:t>
            </a:r>
            <a:r>
              <a:rPr lang="en-US" smtClean="0"/>
              <a:t> is a non-empty, finite set of characters/symbols</a:t>
            </a:r>
          </a:p>
          <a:p>
            <a:pPr lvl="1"/>
            <a:r>
              <a:rPr lang="en-US" sz="3200" smtClean="0"/>
              <a:t>Use </a:t>
            </a:r>
            <a:r>
              <a:rPr lang="en-US" sz="3200" smtClean="0">
                <a:solidFill>
                  <a:srgbClr val="7030A0"/>
                </a:solidFill>
                <a:sym typeface="Symbol" pitchFamily="18" charset="2"/>
              </a:rPr>
              <a:t> </a:t>
            </a:r>
            <a:r>
              <a:rPr lang="en-US" sz="3200" smtClean="0">
                <a:sym typeface="Symbol" pitchFamily="18" charset="2"/>
              </a:rPr>
              <a:t>to denote an alphabet</a:t>
            </a:r>
          </a:p>
          <a:p>
            <a:pPr lvl="1"/>
            <a:endParaRPr lang="en-US" smtClean="0">
              <a:solidFill>
                <a:srgbClr val="7030A0"/>
              </a:solidFill>
              <a:sym typeface="Symbol" pitchFamily="18" charset="2"/>
            </a:endParaRPr>
          </a:p>
          <a:p>
            <a:r>
              <a:rPr lang="en-US" smtClean="0">
                <a:sym typeface="Symbol" pitchFamily="18" charset="2"/>
              </a:rPr>
              <a:t>Examples</a:t>
            </a:r>
          </a:p>
          <a:p>
            <a:pPr lvl="1">
              <a:buFont typeface="Symbol" pitchFamily="18" charset="2"/>
              <a:buChar char="S"/>
            </a:pPr>
            <a:r>
              <a:rPr lang="en-US" smtClean="0">
                <a:sym typeface="Symbol" pitchFamily="18" charset="2"/>
              </a:rPr>
              <a:t>= { a, b }</a:t>
            </a:r>
          </a:p>
          <a:p>
            <a:pPr lvl="1">
              <a:buFont typeface="Symbol" pitchFamily="18" charset="2"/>
              <a:buChar char="S"/>
            </a:pPr>
            <a:r>
              <a:rPr lang="en-US" smtClean="0">
                <a:sym typeface="Symbol" pitchFamily="18" charset="2"/>
              </a:rPr>
              <a:t>= { 0, 1, 2 }</a:t>
            </a:r>
          </a:p>
          <a:p>
            <a:pPr lvl="1">
              <a:buFont typeface="Symbol" pitchFamily="18" charset="2"/>
              <a:buChar char="S"/>
            </a:pPr>
            <a:r>
              <a:rPr lang="en-US" smtClean="0">
                <a:sym typeface="Symbol" pitchFamily="18" charset="2"/>
              </a:rPr>
              <a:t> = { a, b, c,…z, A, B, … Z }</a:t>
            </a:r>
          </a:p>
          <a:p>
            <a:pPr lvl="1">
              <a:buFont typeface="Symbol" pitchFamily="18" charset="2"/>
              <a:buChar char="S"/>
            </a:pPr>
            <a:r>
              <a:rPr lang="en-US" smtClean="0">
                <a:sym typeface="Symbol" pitchFamily="18" charset="2"/>
              </a:rPr>
              <a:t> = { #, $, *, @, &amp; }</a:t>
            </a:r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3F310D7-797F-4E7E-AA3E-61B185934FC7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077200" cy="4525963"/>
          </a:xfrm>
        </p:spPr>
        <p:txBody>
          <a:bodyPr/>
          <a:lstStyle/>
          <a:p>
            <a:r>
              <a:rPr lang="en-US" smtClean="0"/>
              <a:t>A </a:t>
            </a:r>
            <a:r>
              <a:rPr lang="en-US" b="1" i="1" smtClean="0">
                <a:solidFill>
                  <a:srgbClr val="7030A0"/>
                </a:solidFill>
              </a:rPr>
              <a:t>string</a:t>
            </a:r>
            <a:r>
              <a:rPr lang="en-US" smtClean="0"/>
              <a:t> is a finite sequence, possibly empty, of characters drawn from some alphabet </a:t>
            </a:r>
            <a:r>
              <a:rPr lang="en-US" smtClean="0">
                <a:sym typeface="Symbol" pitchFamily="18" charset="2"/>
              </a:rPr>
              <a:t></a:t>
            </a:r>
            <a:r>
              <a:rPr lang="en-US" smtClean="0"/>
              <a:t>. </a:t>
            </a:r>
          </a:p>
          <a:p>
            <a:r>
              <a:rPr lang="en-US" sz="3600" smtClean="0">
                <a:solidFill>
                  <a:srgbClr val="7030A0"/>
                </a:solidFill>
                <a:sym typeface="Symbol" pitchFamily="18" charset="2"/>
              </a:rPr>
              <a:t></a:t>
            </a:r>
            <a:r>
              <a:rPr lang="en-US" smtClean="0"/>
              <a:t> is the empty string</a:t>
            </a:r>
            <a:endParaRPr lang="en-US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• </a:t>
            </a:r>
            <a:r>
              <a:rPr lang="en-US" smtClean="0">
                <a:solidFill>
                  <a:srgbClr val="7030A0"/>
                </a:solidFill>
                <a:sym typeface="Symbol" pitchFamily="18" charset="2"/>
              </a:rPr>
              <a:t></a:t>
            </a:r>
            <a:r>
              <a:rPr lang="en-US" smtClean="0">
                <a:solidFill>
                  <a:srgbClr val="7030A0"/>
                </a:solidFill>
              </a:rPr>
              <a:t>*</a:t>
            </a:r>
            <a:r>
              <a:rPr lang="en-US" smtClean="0"/>
              <a:t> is the set of all possible strings over an alphabet </a:t>
            </a:r>
            <a:r>
              <a:rPr lang="en-US" smtClean="0">
                <a:sym typeface="Symbol" pitchFamily="18" charset="2"/>
              </a:rPr>
              <a:t></a:t>
            </a:r>
            <a:r>
              <a:rPr lang="en-US" smtClean="0"/>
              <a:t>. </a:t>
            </a:r>
          </a:p>
          <a:p>
            <a:endParaRPr 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F119A8C-1B93-40A9-92E6-762A4E766910}" type="slidenum">
              <a:rPr lang="en-US" smtClean="0"/>
              <a:pPr/>
              <a:t>10</a:t>
            </a:fld>
            <a:endParaRPr lang="en-US" smtClean="0"/>
          </a:p>
        </p:txBody>
      </p:sp>
      <p:pic>
        <p:nvPicPr>
          <p:cNvPr id="17413" name="Picture 4" descr="C:\Users\Halverson\AppData\Local\Microsoft\Windows\Temporary Internet Files\Content.IE5\43H9RXTT\MP900405430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4419600"/>
            <a:ext cx="2803525" cy="200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8153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Example Alphabets &amp; Strings</a:t>
            </a:r>
            <a:r>
              <a:rPr lang="en-US" sz="4000" dirty="0" smtClean="0"/>
              <a:t> </a:t>
            </a:r>
          </a:p>
        </p:txBody>
      </p:sp>
      <p:graphicFrame>
        <p:nvGraphicFramePr>
          <p:cNvPr id="24581" name="Group 5"/>
          <p:cNvGraphicFramePr>
            <a:graphicFrameLocks noGrp="1"/>
          </p:cNvGraphicFramePr>
          <p:nvPr/>
        </p:nvGraphicFramePr>
        <p:xfrm>
          <a:off x="762000" y="2667000"/>
          <a:ext cx="7848600" cy="3670300"/>
        </p:xfrm>
        <a:graphic>
          <a:graphicData uri="http://schemas.openxmlformats.org/drawingml/2006/table">
            <a:tbl>
              <a:tblPr/>
              <a:tblGrid>
                <a:gridCol w="2195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Alphabet name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Alphabet symbols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Example strings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The lower case English alphabet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{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a, b, c, …, z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}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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  <a:sym typeface="Symbol" pitchFamily="18" charset="2"/>
                        </a:rPr>
                        <a:t>aabbcg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 pitchFamily="18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  <a:sym typeface="Symbol" pitchFamily="18" charset="2"/>
                        </a:rPr>
                        <a:t>aaaaa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The binary alphabet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{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0, 1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}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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  <a:sym typeface="Symbol" pitchFamily="18" charset="2"/>
                        </a:rPr>
                        <a:t>0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  <a:sym typeface="Symbol" pitchFamily="18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  <a:sym typeface="Symbol" pitchFamily="18" charset="2"/>
                        </a:rPr>
                        <a:t>001100,11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star alphabet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{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Monotype Sorts" pitchFamily="2" charset="2"/>
                        </a:rPr>
                        <a:t>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Monotype Sorts" pitchFamily="2" charset="2"/>
                        </a:rPr>
                        <a:t>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Monotype Sorts" pitchFamily="2" charset="2"/>
                        </a:rPr>
                        <a:t>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Monotype Sorts" pitchFamily="2" charset="2"/>
                        </a:rPr>
                        <a:t>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Monotype Sorts" pitchFamily="2" charset="2"/>
                        </a:rPr>
                        <a:t>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Monotype Sorts" pitchFamily="2" charset="2"/>
                        </a:rPr>
                        <a:t>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}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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Monotype Sorts" pitchFamily="2" charset="2"/>
                        </a:rPr>
                        <a:t>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Monotype Sorts" pitchFamily="2" charset="2"/>
                        </a:rPr>
                        <a:t>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Monotype Sorts" pitchFamily="2" charset="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music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alphabet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Anastasia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{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w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h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x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r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Wingdings" pitchFamily="2" charset="2"/>
                        </a:rPr>
                        <a:t>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Anastasia" pitchFamily="2" charset="2"/>
                        </a:rPr>
                        <a:t>}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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q w , w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w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astasia" pitchFamily="2" charset="2"/>
                          <a:sym typeface="Anastasia" pitchFamily="2" charset="2"/>
                        </a:rPr>
                        <a:t> 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489B6A-9C7E-4DFA-AD71-18EFDD76E8EC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smtClean="0"/>
              <a:t>Functions on Strings</a:t>
            </a:r>
            <a:r>
              <a:rPr lang="en-US" sz="3600" smtClean="0"/>
              <a:t> 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62000" y="1371600"/>
            <a:ext cx="8077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</a:rPr>
              <a:t>Length</a:t>
            </a:r>
            <a:r>
              <a:rPr lang="en-US" sz="2400" b="1" i="1" dirty="0"/>
              <a:t>:  </a:t>
            </a:r>
          </a:p>
          <a:p>
            <a:pPr marL="1085850" lvl="1" indent="-342900">
              <a:buFont typeface="Arial" charset="0"/>
              <a:buChar char="•"/>
            </a:pPr>
            <a:r>
              <a:rPr lang="en-US" sz="2400" dirty="0"/>
              <a:t>|</a:t>
            </a:r>
            <a:r>
              <a:rPr lang="en-US" sz="2400" i="1" dirty="0"/>
              <a:t>s</a:t>
            </a:r>
            <a:r>
              <a:rPr lang="en-US" sz="2400" dirty="0"/>
              <a:t>| is the length of string </a:t>
            </a:r>
            <a:r>
              <a:rPr lang="en-US" sz="2400" i="1" dirty="0"/>
              <a:t>s</a:t>
            </a:r>
            <a:endParaRPr lang="en-US" sz="2400" dirty="0"/>
          </a:p>
          <a:p>
            <a:pPr marL="1085850" lvl="1" indent="-342900">
              <a:buFont typeface="Arial" charset="0"/>
              <a:buChar char="•"/>
            </a:pPr>
            <a:r>
              <a:rPr lang="en-US" sz="2400" dirty="0"/>
              <a:t>|</a:t>
            </a:r>
            <a:r>
              <a:rPr lang="en-US" sz="2400" i="1" dirty="0"/>
              <a:t>s</a:t>
            </a:r>
            <a:r>
              <a:rPr lang="en-US" sz="2400" dirty="0"/>
              <a:t>| is the number of characters in string </a:t>
            </a:r>
            <a:r>
              <a:rPr lang="en-US" sz="2400" i="1" dirty="0"/>
              <a:t>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	|</a:t>
            </a:r>
            <a:r>
              <a:rPr lang="en-US" sz="3200" dirty="0">
                <a:sym typeface="Symbol" pitchFamily="18" charset="2"/>
              </a:rPr>
              <a:t></a:t>
            </a:r>
            <a:r>
              <a:rPr lang="en-US" sz="2400" dirty="0"/>
              <a:t>| = 0</a:t>
            </a:r>
          </a:p>
          <a:p>
            <a:r>
              <a:rPr lang="en-US" sz="2400" dirty="0"/>
              <a:t>	|</a:t>
            </a:r>
            <a:r>
              <a:rPr lang="en-US" sz="2400" dirty="0">
                <a:latin typeface="Courier New" pitchFamily="49" charset="0"/>
              </a:rPr>
              <a:t>1001101</a:t>
            </a:r>
            <a:r>
              <a:rPr lang="en-US" sz="2400" dirty="0"/>
              <a:t>| = 7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solidFill>
                  <a:srgbClr val="7030A0"/>
                </a:solidFill>
              </a:rPr>
              <a:t>#</a:t>
            </a:r>
            <a:r>
              <a:rPr lang="en-US" sz="2400" b="1" i="1" baseline="-25000" dirty="0">
                <a:solidFill>
                  <a:srgbClr val="7030A0"/>
                </a:solidFill>
              </a:rPr>
              <a:t>c</a:t>
            </a:r>
            <a:r>
              <a:rPr lang="en-US" sz="2400" dirty="0">
                <a:solidFill>
                  <a:srgbClr val="7030A0"/>
                </a:solidFill>
              </a:rPr>
              <a:t>(</a:t>
            </a:r>
            <a:r>
              <a:rPr lang="en-US" sz="2400" i="1" dirty="0">
                <a:solidFill>
                  <a:srgbClr val="7030A0"/>
                </a:solidFill>
              </a:rPr>
              <a:t>s</a:t>
            </a:r>
            <a:r>
              <a:rPr lang="en-US" sz="2400" dirty="0">
                <a:solidFill>
                  <a:srgbClr val="7030A0"/>
                </a:solidFill>
              </a:rPr>
              <a:t>) </a:t>
            </a:r>
            <a:r>
              <a:rPr lang="en-US" sz="2400" dirty="0"/>
              <a:t>is defined as the number of times that </a:t>
            </a:r>
            <a:r>
              <a:rPr lang="en-US" sz="2400" i="1" dirty="0"/>
              <a:t>c</a:t>
            </a:r>
            <a:r>
              <a:rPr lang="en-US" sz="2400" dirty="0"/>
              <a:t> occurs in </a:t>
            </a:r>
            <a:r>
              <a:rPr lang="en-US" sz="2400" i="1" dirty="0"/>
              <a:t>s</a:t>
            </a:r>
            <a:r>
              <a:rPr lang="en-US" sz="2400" dirty="0"/>
              <a:t>.</a:t>
            </a:r>
          </a:p>
          <a:p>
            <a:r>
              <a:rPr lang="en-US" sz="2400" dirty="0"/>
              <a:t>  </a:t>
            </a:r>
          </a:p>
          <a:p>
            <a:r>
              <a:rPr lang="en-US" sz="2400" dirty="0"/>
              <a:t>	#</a:t>
            </a:r>
            <a:r>
              <a:rPr lang="en-US" sz="2400" baseline="-25000" dirty="0">
                <a:latin typeface="Courier New" pitchFamily="49" charset="0"/>
              </a:rPr>
              <a:t>a</a:t>
            </a:r>
            <a:r>
              <a:rPr lang="en-US" sz="2400" dirty="0"/>
              <a:t>(</a:t>
            </a:r>
            <a:r>
              <a:rPr lang="en-US" sz="2400" dirty="0" err="1">
                <a:latin typeface="Courier New" pitchFamily="49" charset="0"/>
              </a:rPr>
              <a:t>abbaaa</a:t>
            </a:r>
            <a:r>
              <a:rPr lang="en-US" sz="2400" dirty="0"/>
              <a:t>) = 4.</a:t>
            </a:r>
          </a:p>
          <a:p>
            <a:endParaRPr lang="en-US" sz="2400" i="1" dirty="0"/>
          </a:p>
        </p:txBody>
      </p:sp>
      <p:sp>
        <p:nvSpPr>
          <p:cNvPr id="1946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6CBD92B-38E0-4B7C-A3F5-F64B8D9560FE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smtClean="0"/>
              <a:t>More Functions on Strings</a:t>
            </a:r>
            <a:r>
              <a:rPr lang="en-US" sz="3600" smtClean="0"/>
              <a:t> 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838200" y="1127125"/>
            <a:ext cx="7467600" cy="52943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sz="1000" i="1" dirty="0" smtClean="0"/>
          </a:p>
          <a:p>
            <a:pPr eaLnBrk="1" hangingPunct="1">
              <a:defRPr/>
            </a:pPr>
            <a:r>
              <a:rPr lang="en-US" sz="2400" b="1" i="1" dirty="0" smtClean="0">
                <a:solidFill>
                  <a:srgbClr val="7030A0"/>
                </a:solidFill>
              </a:rPr>
              <a:t>Concatenation</a:t>
            </a:r>
            <a:r>
              <a:rPr lang="en-US" sz="2400" b="1" i="1" dirty="0" smtClean="0"/>
              <a:t>:</a:t>
            </a:r>
            <a:r>
              <a:rPr lang="en-US" sz="2400" i="1" dirty="0" smtClean="0"/>
              <a:t> </a:t>
            </a:r>
            <a:r>
              <a:rPr lang="en-US" sz="2400" dirty="0" smtClean="0"/>
              <a:t>the </a:t>
            </a:r>
            <a:r>
              <a:rPr lang="en-US" sz="2400" b="1" i="1" dirty="0" smtClean="0"/>
              <a:t>concatenation</a:t>
            </a:r>
            <a:r>
              <a:rPr lang="en-US" sz="2400" dirty="0" smtClean="0"/>
              <a:t> of  2 strings </a:t>
            </a:r>
            <a:r>
              <a:rPr lang="en-US" sz="2400" i="1" dirty="0" smtClean="0"/>
              <a:t>s</a:t>
            </a:r>
            <a:r>
              <a:rPr lang="en-US" sz="2400" dirty="0" smtClean="0"/>
              <a:t> and </a:t>
            </a:r>
            <a:r>
              <a:rPr lang="en-US" sz="2400" i="1" dirty="0" smtClean="0"/>
              <a:t>t</a:t>
            </a:r>
            <a:r>
              <a:rPr lang="en-US" sz="2400" dirty="0" smtClean="0"/>
              <a:t> is the string formed by appending t to s; written as s||t or more commonly, </a:t>
            </a:r>
            <a:r>
              <a:rPr lang="en-US" sz="2400" i="1" dirty="0" err="1" smtClean="0"/>
              <a:t>st</a:t>
            </a:r>
            <a:endParaRPr lang="en-US" sz="2400" i="1" dirty="0" smtClean="0"/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000" dirty="0" smtClean="0"/>
              <a:t>Example: </a:t>
            </a:r>
          </a:p>
          <a:p>
            <a:pPr eaLnBrk="1" hangingPunct="1">
              <a:defRPr/>
            </a:pPr>
            <a:r>
              <a:rPr lang="en-US" sz="2000" dirty="0" smtClean="0"/>
              <a:t>	If </a:t>
            </a:r>
            <a:r>
              <a:rPr lang="en-US" sz="2000" i="1" dirty="0" smtClean="0"/>
              <a:t>x</a:t>
            </a:r>
            <a:r>
              <a:rPr lang="en-US" sz="2000" dirty="0" smtClean="0"/>
              <a:t> = </a:t>
            </a:r>
            <a:r>
              <a:rPr lang="en-US" sz="2000" dirty="0" smtClean="0">
                <a:latin typeface="Courier New" pitchFamily="49" charset="0"/>
              </a:rPr>
              <a:t>good</a:t>
            </a:r>
            <a:r>
              <a:rPr lang="en-US" sz="2000" dirty="0" smtClean="0"/>
              <a:t> and </a:t>
            </a:r>
            <a:r>
              <a:rPr lang="en-US" sz="2000" i="1" dirty="0" smtClean="0"/>
              <a:t>y</a:t>
            </a:r>
            <a:r>
              <a:rPr lang="en-US" sz="2000" dirty="0" smtClean="0"/>
              <a:t> = </a:t>
            </a:r>
            <a:r>
              <a:rPr lang="en-US" sz="2000" dirty="0" smtClean="0">
                <a:latin typeface="Courier New" pitchFamily="49" charset="0"/>
              </a:rPr>
              <a:t>bye</a:t>
            </a:r>
            <a:r>
              <a:rPr lang="en-US" sz="2000" dirty="0" smtClean="0"/>
              <a:t>, then </a:t>
            </a:r>
            <a:r>
              <a:rPr lang="en-US" sz="2000" i="1" dirty="0" err="1" smtClean="0"/>
              <a:t>xy</a:t>
            </a:r>
            <a:r>
              <a:rPr lang="en-US" sz="2000" dirty="0" smtClean="0"/>
              <a:t> = </a:t>
            </a:r>
            <a:r>
              <a:rPr lang="en-US" sz="2000" dirty="0" smtClean="0">
                <a:latin typeface="Courier New" pitchFamily="49" charset="0"/>
              </a:rPr>
              <a:t>goodbye</a:t>
            </a:r>
          </a:p>
          <a:p>
            <a:pPr eaLnBrk="1" hangingPunct="1">
              <a:defRPr/>
            </a:pPr>
            <a:r>
              <a:rPr lang="en-US" sz="2000" dirty="0" smtClean="0">
                <a:latin typeface="Courier New" pitchFamily="49" charset="0"/>
              </a:rPr>
              <a:t>	</a:t>
            </a:r>
            <a:r>
              <a:rPr lang="en-US" sz="2000" dirty="0" smtClean="0"/>
              <a:t> and </a:t>
            </a:r>
            <a:r>
              <a:rPr lang="en-US" sz="2000" i="1" dirty="0" err="1" smtClean="0"/>
              <a:t>yx</a:t>
            </a:r>
            <a:r>
              <a:rPr lang="en-US" sz="2000" i="1" dirty="0" smtClean="0"/>
              <a:t> = </a:t>
            </a:r>
            <a:r>
              <a:rPr lang="en-US" sz="2000" dirty="0" err="1" smtClean="0">
                <a:latin typeface="Courier New" pitchFamily="49" charset="0"/>
              </a:rPr>
              <a:t>byegood</a:t>
            </a:r>
            <a:endParaRPr lang="en-US" sz="2000" dirty="0" smtClean="0"/>
          </a:p>
          <a:p>
            <a:pPr eaLnBrk="1" hangingPunct="1">
              <a:defRPr/>
            </a:pPr>
            <a:r>
              <a:rPr lang="en-US" sz="2000" dirty="0" smtClean="0"/>
              <a:t> 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 smtClean="0"/>
              <a:t>Note that |</a:t>
            </a:r>
            <a:r>
              <a:rPr lang="en-US" sz="2400" i="1" dirty="0" err="1" smtClean="0"/>
              <a:t>xy</a:t>
            </a:r>
            <a:r>
              <a:rPr lang="en-US" sz="2400" dirty="0" smtClean="0"/>
              <a:t>| = |</a:t>
            </a:r>
            <a:r>
              <a:rPr lang="en-US" sz="2400" i="1" dirty="0" smtClean="0"/>
              <a:t>x</a:t>
            </a:r>
            <a:r>
              <a:rPr lang="en-US" sz="2400" dirty="0" smtClean="0"/>
              <a:t>| + |</a:t>
            </a:r>
            <a:r>
              <a:rPr lang="en-US" sz="2400" i="1" dirty="0" smtClean="0"/>
              <a:t>y</a:t>
            </a:r>
            <a:r>
              <a:rPr lang="en-US" sz="2400" dirty="0" smtClean="0"/>
              <a:t>| --  Is it always??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3200" dirty="0" smtClean="0">
                <a:solidFill>
                  <a:srgbClr val="7030A0"/>
                </a:solidFill>
                <a:sym typeface="Symbol" pitchFamily="18" charset="2"/>
              </a:rPr>
              <a:t></a:t>
            </a:r>
            <a:r>
              <a:rPr lang="en-US" sz="2400" dirty="0" smtClean="0"/>
              <a:t> is the identity for concatenation of strings.  So,</a:t>
            </a:r>
          </a:p>
          <a:p>
            <a:pPr lvl="1" indent="0" eaLnBrk="1" hangingPunct="1">
              <a:defRPr/>
            </a:pPr>
            <a:r>
              <a:rPr lang="en-US" sz="2400" dirty="0" smtClean="0">
                <a:sym typeface="Symbol" pitchFamily="18" charset="2"/>
              </a:rPr>
              <a:t></a:t>
            </a:r>
            <a:r>
              <a:rPr lang="en-US" sz="2400" i="1" dirty="0" smtClean="0"/>
              <a:t>x</a:t>
            </a:r>
            <a:r>
              <a:rPr lang="en-US" sz="2400" dirty="0" smtClean="0"/>
              <a:t> (</a:t>
            </a:r>
            <a:r>
              <a:rPr lang="en-US" sz="2400" i="1" dirty="0" smtClean="0"/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</a:t>
            </a:r>
            <a:r>
              <a:rPr lang="en-US" sz="2400" dirty="0" smtClean="0"/>
              <a:t> = </a:t>
            </a:r>
            <a:r>
              <a:rPr lang="en-US" sz="2400" dirty="0" smtClean="0">
                <a:sym typeface="Symbol" pitchFamily="18" charset="2"/>
              </a:rPr>
              <a:t></a:t>
            </a:r>
            <a:r>
              <a:rPr lang="en-US" sz="2400" dirty="0" smtClean="0"/>
              <a:t> </a:t>
            </a:r>
            <a:r>
              <a:rPr lang="en-US" sz="2400" i="1" dirty="0" smtClean="0"/>
              <a:t>x</a:t>
            </a:r>
            <a:r>
              <a:rPr lang="en-US" sz="2400" dirty="0" smtClean="0"/>
              <a:t> = </a:t>
            </a:r>
            <a:r>
              <a:rPr lang="en-US" sz="2400" i="1" dirty="0" smtClean="0"/>
              <a:t>x</a:t>
            </a:r>
            <a:r>
              <a:rPr lang="en-US" sz="2400" dirty="0" smtClean="0"/>
              <a:t>)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 smtClean="0"/>
              <a:t>Concatenation is associative.  So, </a:t>
            </a:r>
          </a:p>
          <a:p>
            <a:pPr lvl="1" indent="0" eaLnBrk="1" hangingPunct="1">
              <a:defRPr/>
            </a:pPr>
            <a:r>
              <a:rPr lang="en-US" sz="2400" dirty="0" smtClean="0">
                <a:sym typeface="Symbol" pitchFamily="18" charset="2"/>
              </a:rPr>
              <a:t></a:t>
            </a:r>
            <a:r>
              <a:rPr lang="en-US" sz="2400" i="1" dirty="0" smtClean="0"/>
              <a:t>s, t, w</a:t>
            </a:r>
            <a:r>
              <a:rPr lang="en-US" sz="2400" dirty="0" smtClean="0"/>
              <a:t> ((</a:t>
            </a:r>
            <a:r>
              <a:rPr lang="en-US" sz="2400" i="1" dirty="0" err="1" smtClean="0"/>
              <a:t>st</a:t>
            </a:r>
            <a:r>
              <a:rPr lang="en-US" sz="2400" dirty="0" smtClean="0"/>
              <a:t>)</a:t>
            </a:r>
            <a:r>
              <a:rPr lang="en-US" sz="2400" i="1" dirty="0" smtClean="0"/>
              <a:t>w</a:t>
            </a:r>
            <a:r>
              <a:rPr lang="en-US" sz="2400" dirty="0" smtClean="0"/>
              <a:t> = </a:t>
            </a:r>
            <a:r>
              <a:rPr lang="en-US" sz="2400" i="1" dirty="0" smtClean="0"/>
              <a:t>s</a:t>
            </a:r>
            <a:r>
              <a:rPr lang="en-US" sz="2400" dirty="0" smtClean="0"/>
              <a:t>(</a:t>
            </a:r>
            <a:r>
              <a:rPr lang="en-US" sz="2400" i="1" dirty="0" err="1" smtClean="0"/>
              <a:t>tw</a:t>
            </a:r>
            <a:r>
              <a:rPr lang="en-US" sz="2400" dirty="0" smtClean="0"/>
              <a:t>))</a:t>
            </a:r>
          </a:p>
          <a:p>
            <a:pPr lvl="1" indent="0" eaLnBrk="1" hangingPunct="1">
              <a:defRPr/>
            </a:pPr>
            <a:r>
              <a:rPr lang="en-US" sz="2400" dirty="0" smtClean="0"/>
              <a:t>	</a:t>
            </a:r>
          </a:p>
        </p:txBody>
      </p:sp>
      <p:sp>
        <p:nvSpPr>
          <p:cNvPr id="2048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34E73FB-67CF-4CFC-B375-C95A1652C0A9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smtClean="0"/>
              <a:t>More Functions on Strings</a:t>
            </a:r>
            <a:r>
              <a:rPr lang="en-US" sz="3600" smtClean="0"/>
              <a:t> 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914400" y="1355725"/>
            <a:ext cx="7391400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>
                <a:solidFill>
                  <a:srgbClr val="7030A0"/>
                </a:solidFill>
              </a:rPr>
              <a:t>Replication</a:t>
            </a:r>
            <a:r>
              <a:rPr lang="en-US" sz="2400"/>
              <a:t>:  For each string </a:t>
            </a:r>
            <a:r>
              <a:rPr lang="en-US" sz="2400" i="1"/>
              <a:t>w</a:t>
            </a:r>
            <a:r>
              <a:rPr lang="en-US" sz="2400"/>
              <a:t> and each natural number </a:t>
            </a:r>
            <a:r>
              <a:rPr lang="en-US" sz="2400" i="1"/>
              <a:t>k</a:t>
            </a:r>
            <a:r>
              <a:rPr lang="en-US" sz="2400"/>
              <a:t>, the string </a:t>
            </a:r>
            <a:r>
              <a:rPr lang="en-US" sz="2400" i="1"/>
              <a:t>w </a:t>
            </a:r>
            <a:r>
              <a:rPr lang="en-US" sz="2400" i="1" baseline="30000"/>
              <a:t>k</a:t>
            </a:r>
            <a:r>
              <a:rPr lang="en-US" sz="2400"/>
              <a:t> is:</a:t>
            </a:r>
          </a:p>
          <a:p>
            <a:r>
              <a:rPr lang="en-US" sz="2400"/>
              <a:t> </a:t>
            </a:r>
          </a:p>
          <a:p>
            <a:r>
              <a:rPr lang="en-US" sz="2400"/>
              <a:t>	</a:t>
            </a:r>
            <a:r>
              <a:rPr lang="en-US" sz="2400" i="1"/>
              <a:t>w </a:t>
            </a:r>
            <a:r>
              <a:rPr lang="en-US" sz="2400" baseline="30000"/>
              <a:t>0</a:t>
            </a:r>
            <a:r>
              <a:rPr lang="en-US" sz="2400"/>
              <a:t> = </a:t>
            </a:r>
            <a:r>
              <a:rPr lang="en-US" sz="2400">
                <a:sym typeface="Symbol" pitchFamily="18" charset="2"/>
              </a:rPr>
              <a:t></a:t>
            </a:r>
            <a:endParaRPr lang="en-US" sz="2400"/>
          </a:p>
          <a:p>
            <a:r>
              <a:rPr lang="en-US" sz="2400"/>
              <a:t>	</a:t>
            </a:r>
            <a:r>
              <a:rPr lang="en-US" sz="2400" i="1"/>
              <a:t>w </a:t>
            </a:r>
            <a:r>
              <a:rPr lang="en-US" sz="2400" i="1" baseline="30000"/>
              <a:t>k</a:t>
            </a:r>
            <a:r>
              <a:rPr lang="en-US" sz="2400" baseline="30000"/>
              <a:t>+1</a:t>
            </a:r>
            <a:r>
              <a:rPr lang="en-US" sz="2400"/>
              <a:t> = </a:t>
            </a:r>
            <a:r>
              <a:rPr lang="en-US" sz="2400" i="1"/>
              <a:t>w </a:t>
            </a:r>
            <a:r>
              <a:rPr lang="en-US" sz="2400" i="1" baseline="30000"/>
              <a:t>k</a:t>
            </a:r>
            <a:r>
              <a:rPr lang="en-US" sz="2400" i="1"/>
              <a:t> w</a:t>
            </a:r>
            <a:r>
              <a:rPr lang="en-US" sz="2400"/>
              <a:t> </a:t>
            </a:r>
          </a:p>
          <a:p>
            <a:r>
              <a:rPr lang="en-US" sz="2400"/>
              <a:t>	</a:t>
            </a:r>
          </a:p>
          <a:p>
            <a:r>
              <a:rPr lang="en-US" sz="2400"/>
              <a:t>Examples:</a:t>
            </a:r>
          </a:p>
          <a:p>
            <a:r>
              <a:rPr lang="en-US" sz="2400"/>
              <a:t>	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 baseline="30000"/>
              <a:t>3</a:t>
            </a:r>
            <a:r>
              <a:rPr lang="en-US" sz="2400"/>
              <a:t> = </a:t>
            </a:r>
            <a:r>
              <a:rPr lang="en-US" sz="2400">
                <a:latin typeface="Courier New" pitchFamily="49" charset="0"/>
              </a:rPr>
              <a:t>aaa</a:t>
            </a:r>
          </a:p>
          <a:p>
            <a:r>
              <a:rPr lang="en-US" sz="2400"/>
              <a:t>	(</a:t>
            </a:r>
            <a:r>
              <a:rPr lang="en-US" sz="2400">
                <a:latin typeface="Courier New" pitchFamily="49" charset="0"/>
              </a:rPr>
              <a:t>bye</a:t>
            </a:r>
            <a:r>
              <a:rPr lang="en-US" sz="2400"/>
              <a:t>)</a:t>
            </a:r>
            <a:r>
              <a:rPr lang="en-US" sz="2400" baseline="30000"/>
              <a:t>2</a:t>
            </a:r>
            <a:r>
              <a:rPr lang="en-US" sz="2400"/>
              <a:t> = </a:t>
            </a:r>
            <a:r>
              <a:rPr lang="en-US" sz="2400">
                <a:latin typeface="Courier New" pitchFamily="49" charset="0"/>
              </a:rPr>
              <a:t>byebye</a:t>
            </a:r>
          </a:p>
          <a:p>
            <a:r>
              <a:rPr lang="en-US" sz="2400"/>
              <a:t>	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 baseline="30000"/>
              <a:t>0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 baseline="30000"/>
              <a:t>3</a:t>
            </a:r>
            <a:r>
              <a:rPr lang="en-US" sz="2400"/>
              <a:t> = </a:t>
            </a:r>
            <a:r>
              <a:rPr lang="en-US" sz="2400">
                <a:latin typeface="Courier New" pitchFamily="49" charset="0"/>
              </a:rPr>
              <a:t>bbb</a:t>
            </a:r>
          </a:p>
          <a:p>
            <a:r>
              <a:rPr lang="en-US" sz="2400">
                <a:latin typeface="Courier New" pitchFamily="49" charset="0"/>
              </a:rPr>
              <a:t>	 b</a:t>
            </a:r>
            <a:r>
              <a:rPr lang="en-US" sz="2400" baseline="30000">
                <a:latin typeface="Courier New" pitchFamily="49" charset="0"/>
              </a:rPr>
              <a:t>2</a:t>
            </a:r>
            <a:r>
              <a:rPr lang="en-US" sz="2400">
                <a:latin typeface="Courier New" pitchFamily="49" charset="0"/>
              </a:rPr>
              <a:t>y</a:t>
            </a:r>
            <a:r>
              <a:rPr lang="en-US" sz="2400" baseline="30000">
                <a:latin typeface="Courier New" pitchFamily="49" charset="0"/>
              </a:rPr>
              <a:t>2</a:t>
            </a:r>
            <a:r>
              <a:rPr lang="en-US" sz="2400">
                <a:latin typeface="Courier New" pitchFamily="49" charset="0"/>
              </a:rPr>
              <a:t>e</a:t>
            </a:r>
            <a:r>
              <a:rPr lang="en-US" sz="2400" baseline="30000">
                <a:latin typeface="Courier New" pitchFamily="49" charset="0"/>
              </a:rPr>
              <a:t>2</a:t>
            </a:r>
            <a:r>
              <a:rPr lang="en-US" sz="2400" baseline="30000"/>
              <a:t> </a:t>
            </a:r>
            <a:r>
              <a:rPr lang="en-US" sz="2400"/>
              <a:t> = ??</a:t>
            </a:r>
            <a:endParaRPr lang="en-US" sz="2400">
              <a:latin typeface="Courier New" pitchFamily="49" charset="0"/>
            </a:endParaRPr>
          </a:p>
          <a:p>
            <a:endParaRPr lang="en-US" sz="2400">
              <a:latin typeface="Courier New" pitchFamily="49" charset="0"/>
            </a:endParaRPr>
          </a:p>
          <a:p>
            <a:r>
              <a:rPr lang="en-US" sz="2400" b="1" i="1">
                <a:latin typeface="Courier New" pitchFamily="49" charset="0"/>
              </a:rPr>
              <a:t>Natural Numbers {0,1,2,…}</a:t>
            </a:r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E6579B-24BF-4D73-90F7-972EB61F3F4C}" type="slidenum">
              <a:rPr lang="en-US" smtClean="0"/>
              <a:pPr/>
              <a:t>14</a:t>
            </a:fld>
            <a:endParaRPr lang="en-US" smtClean="0"/>
          </a:p>
        </p:txBody>
      </p:sp>
      <p:pic>
        <p:nvPicPr>
          <p:cNvPr id="21509" name="Picture 5" descr="C:\Users\Halverson\AppData\Local\Microsoft\Windows\Temporary Internet Files\Content.IE5\43H9RXTT\MC900351910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2590800"/>
            <a:ext cx="201295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smtClean="0"/>
              <a:t>More Functions on Strings</a:t>
            </a:r>
            <a:r>
              <a:rPr lang="en-US" sz="3600" smtClean="0"/>
              <a:t> 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055688" y="1143000"/>
            <a:ext cx="7239000" cy="550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>
                <a:solidFill>
                  <a:srgbClr val="7030A0"/>
                </a:solidFill>
              </a:rPr>
              <a:t>Reverse</a:t>
            </a:r>
            <a:r>
              <a:rPr lang="en-US" sz="2400"/>
              <a:t>: For each string </a:t>
            </a:r>
            <a:r>
              <a:rPr lang="en-US" sz="2400" i="1"/>
              <a:t>w</a:t>
            </a:r>
            <a:r>
              <a:rPr lang="en-US" sz="2400"/>
              <a:t>, </a:t>
            </a:r>
            <a:r>
              <a:rPr lang="en-US" sz="2400" i="1"/>
              <a:t>w </a:t>
            </a:r>
            <a:r>
              <a:rPr lang="en-US" sz="2400" baseline="30000"/>
              <a:t>R</a:t>
            </a:r>
            <a:r>
              <a:rPr lang="en-US" sz="2400"/>
              <a:t> is defined as:</a:t>
            </a:r>
          </a:p>
          <a:p>
            <a:endParaRPr lang="en-US" sz="2400"/>
          </a:p>
          <a:p>
            <a:r>
              <a:rPr lang="en-US" sz="2400"/>
              <a:t>	if |</a:t>
            </a:r>
            <a:r>
              <a:rPr lang="en-US" sz="2400" i="1"/>
              <a:t>w</a:t>
            </a:r>
            <a:r>
              <a:rPr lang="en-US" sz="2400"/>
              <a:t>| = 0 then </a:t>
            </a:r>
            <a:r>
              <a:rPr lang="en-US" sz="2400" i="1"/>
              <a:t>w </a:t>
            </a:r>
            <a:r>
              <a:rPr lang="en-US" sz="2400" baseline="30000"/>
              <a:t>R</a:t>
            </a:r>
            <a:r>
              <a:rPr lang="en-US" sz="2400"/>
              <a:t> = </a:t>
            </a:r>
            <a:r>
              <a:rPr lang="en-US" sz="2400" i="1"/>
              <a:t>w</a:t>
            </a:r>
            <a:r>
              <a:rPr lang="en-US" sz="2400"/>
              <a:t> = </a:t>
            </a:r>
            <a:r>
              <a:rPr lang="en-US" sz="2400">
                <a:sym typeface="Symbol" pitchFamily="18" charset="2"/>
              </a:rPr>
              <a:t></a:t>
            </a:r>
          </a:p>
          <a:p>
            <a:endParaRPr lang="en-US" sz="2400">
              <a:sym typeface="Symbol" pitchFamily="18" charset="2"/>
            </a:endParaRPr>
          </a:p>
          <a:p>
            <a:r>
              <a:rPr lang="en-US" sz="2400">
                <a:sym typeface="Symbol" pitchFamily="18" charset="2"/>
              </a:rPr>
              <a:t>	</a:t>
            </a:r>
            <a:r>
              <a:rPr lang="en-US" sz="2400"/>
              <a:t>if |</a:t>
            </a:r>
            <a:r>
              <a:rPr lang="en-US" sz="2400" i="1"/>
              <a:t>w</a:t>
            </a:r>
            <a:r>
              <a:rPr lang="en-US" sz="2400"/>
              <a:t>| = 1 then </a:t>
            </a:r>
            <a:r>
              <a:rPr lang="en-US" sz="2400" i="1"/>
              <a:t>w </a:t>
            </a:r>
            <a:r>
              <a:rPr lang="en-US" sz="2400" baseline="30000"/>
              <a:t>R</a:t>
            </a:r>
            <a:r>
              <a:rPr lang="en-US" sz="2400"/>
              <a:t> = </a:t>
            </a:r>
            <a:r>
              <a:rPr lang="en-US" sz="2400" i="1"/>
              <a:t>w</a:t>
            </a:r>
            <a:r>
              <a:rPr lang="en-US" sz="2400"/>
              <a:t> </a:t>
            </a:r>
            <a:endParaRPr lang="en-US" sz="2400">
              <a:sym typeface="Symbol" pitchFamily="18" charset="2"/>
            </a:endParaRPr>
          </a:p>
          <a:p>
            <a:r>
              <a:rPr lang="en-US" sz="2400"/>
              <a:t>	</a:t>
            </a:r>
          </a:p>
          <a:p>
            <a:r>
              <a:rPr lang="en-US" sz="2400"/>
              <a:t>	if |</a:t>
            </a:r>
            <a:r>
              <a:rPr lang="en-US" sz="2400" i="1"/>
              <a:t>w</a:t>
            </a:r>
            <a:r>
              <a:rPr lang="en-US" sz="2400"/>
              <a:t>| </a:t>
            </a:r>
            <a:r>
              <a:rPr lang="en-US" sz="2400">
                <a:sym typeface="Symbol" pitchFamily="18" charset="2"/>
              </a:rPr>
              <a:t>&gt;</a:t>
            </a:r>
            <a:r>
              <a:rPr lang="en-US" sz="2400"/>
              <a:t> 1 then:</a:t>
            </a:r>
            <a:endParaRPr lang="en-US" sz="2400">
              <a:sym typeface="Symbol" pitchFamily="18" charset="2"/>
            </a:endParaRPr>
          </a:p>
          <a:p>
            <a:r>
              <a:rPr lang="en-US" sz="2400">
                <a:sym typeface="Symbol" pitchFamily="18" charset="2"/>
              </a:rPr>
              <a:t>		</a:t>
            </a:r>
            <a:r>
              <a:rPr lang="en-US" sz="2400" i="1"/>
              <a:t>a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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 (</a:t>
            </a:r>
            <a:r>
              <a:rPr lang="en-US" sz="2400">
                <a:sym typeface="Symbol" pitchFamily="18" charset="2"/>
              </a:rPr>
              <a:t></a:t>
            </a:r>
            <a:r>
              <a:rPr lang="en-US" sz="2400" i="1"/>
              <a:t>u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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* (</a:t>
            </a:r>
            <a:r>
              <a:rPr lang="en-US" sz="2400" i="1"/>
              <a:t>w</a:t>
            </a:r>
            <a:r>
              <a:rPr lang="en-US" sz="2400"/>
              <a:t> = </a:t>
            </a:r>
            <a:r>
              <a:rPr lang="en-US" sz="2400" i="1"/>
              <a:t>ua</a:t>
            </a:r>
            <a:r>
              <a:rPr lang="en-US" sz="2400"/>
              <a:t>)) </a:t>
            </a:r>
          </a:p>
          <a:p>
            <a:r>
              <a:rPr lang="en-US" sz="2400"/>
              <a:t>		So define </a:t>
            </a:r>
            <a:r>
              <a:rPr lang="en-US" sz="2400" i="1"/>
              <a:t>w </a:t>
            </a:r>
            <a:r>
              <a:rPr lang="en-US" sz="2400" baseline="30000"/>
              <a:t>R</a:t>
            </a:r>
            <a:r>
              <a:rPr lang="en-US" sz="2400"/>
              <a:t> = </a:t>
            </a:r>
            <a:r>
              <a:rPr lang="en-US" sz="2400" i="1"/>
              <a:t>a u</a:t>
            </a:r>
            <a:r>
              <a:rPr lang="en-US" sz="2400"/>
              <a:t> </a:t>
            </a:r>
            <a:r>
              <a:rPr lang="en-US" sz="2400" baseline="30000"/>
              <a:t>R</a:t>
            </a:r>
          </a:p>
          <a:p>
            <a:r>
              <a:rPr lang="en-US" sz="2400" baseline="30000"/>
              <a:t>OR</a:t>
            </a:r>
          </a:p>
          <a:p>
            <a:r>
              <a:rPr lang="en-US" sz="2400"/>
              <a:t>	if |</a:t>
            </a:r>
            <a:r>
              <a:rPr lang="en-US" sz="2400" i="1"/>
              <a:t>w</a:t>
            </a:r>
            <a:r>
              <a:rPr lang="en-US" sz="2400"/>
              <a:t>| </a:t>
            </a:r>
            <a:r>
              <a:rPr lang="en-US" sz="2400">
                <a:sym typeface="Symbol" pitchFamily="18" charset="2"/>
              </a:rPr>
              <a:t>&gt;</a:t>
            </a:r>
            <a:r>
              <a:rPr lang="en-US" sz="2400"/>
              <a:t> 1 then:</a:t>
            </a:r>
            <a:endParaRPr lang="en-US" sz="2400">
              <a:sym typeface="Symbol" pitchFamily="18" charset="2"/>
            </a:endParaRPr>
          </a:p>
          <a:p>
            <a:r>
              <a:rPr lang="en-US" sz="2400">
                <a:sym typeface="Symbol" pitchFamily="18" charset="2"/>
              </a:rPr>
              <a:t>		</a:t>
            </a:r>
            <a:r>
              <a:rPr lang="en-US" sz="2400" i="1"/>
              <a:t>a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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 &amp; </a:t>
            </a:r>
            <a:r>
              <a:rPr lang="en-US" sz="2400">
                <a:sym typeface="Symbol" pitchFamily="18" charset="2"/>
              </a:rPr>
              <a:t></a:t>
            </a:r>
            <a:r>
              <a:rPr lang="en-US" sz="2400" i="1"/>
              <a:t>u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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*  </a:t>
            </a:r>
            <a:r>
              <a:rPr lang="el-GR" sz="2400"/>
              <a:t>϶</a:t>
            </a:r>
            <a:r>
              <a:rPr lang="en-US" sz="2400"/>
              <a:t> </a:t>
            </a:r>
            <a:r>
              <a:rPr lang="en-US" sz="2400" i="1"/>
              <a:t>w</a:t>
            </a:r>
            <a:r>
              <a:rPr lang="en-US" sz="2400"/>
              <a:t> = </a:t>
            </a:r>
            <a:r>
              <a:rPr lang="en-US" sz="2400" i="1"/>
              <a:t>ua</a:t>
            </a:r>
            <a:r>
              <a:rPr lang="en-US" sz="2400"/>
              <a:t> </a:t>
            </a:r>
          </a:p>
          <a:p>
            <a:r>
              <a:rPr lang="en-US" sz="2400"/>
              <a:t>		So define </a:t>
            </a:r>
            <a:r>
              <a:rPr lang="en-US" sz="2400" i="1"/>
              <a:t>w </a:t>
            </a:r>
            <a:r>
              <a:rPr lang="en-US" sz="2400" baseline="30000"/>
              <a:t>R</a:t>
            </a:r>
            <a:r>
              <a:rPr lang="en-US" sz="2400"/>
              <a:t> = </a:t>
            </a:r>
            <a:r>
              <a:rPr lang="en-US" sz="2400" i="1"/>
              <a:t>a u</a:t>
            </a:r>
            <a:r>
              <a:rPr lang="en-US" sz="2400"/>
              <a:t> </a:t>
            </a:r>
            <a:r>
              <a:rPr lang="en-US" sz="2400" baseline="30000"/>
              <a:t>R</a:t>
            </a:r>
          </a:p>
          <a:p>
            <a:endParaRPr lang="en-US" sz="2400">
              <a:solidFill>
                <a:srgbClr val="235357"/>
              </a:solidFill>
            </a:endParaRPr>
          </a:p>
          <a:p>
            <a:r>
              <a:rPr lang="en-US" sz="2400">
                <a:solidFill>
                  <a:srgbClr val="235357"/>
                </a:solidFill>
              </a:rPr>
              <a:t>Proof is by simple induction</a:t>
            </a:r>
          </a:p>
        </p:txBody>
      </p:sp>
      <p:sp>
        <p:nvSpPr>
          <p:cNvPr id="2253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7FF157E-94C3-425B-81EA-F4B26EAFC65E}" type="slidenum">
              <a:rPr lang="en-US" smtClean="0"/>
              <a:pPr/>
              <a:t>15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Concatenation </a:t>
            </a:r>
            <a:r>
              <a:rPr lang="en-US" sz="3600" b="1" dirty="0"/>
              <a:t>&amp;</a:t>
            </a:r>
            <a:r>
              <a:rPr lang="en-US" sz="3600" b="1" dirty="0" smtClean="0"/>
              <a:t> Reverse of Strings 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7848600" cy="3416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400" b="1" i="1" dirty="0" smtClean="0">
                <a:solidFill>
                  <a:srgbClr val="235357"/>
                </a:solidFill>
              </a:rPr>
              <a:t>Theorem:</a:t>
            </a:r>
            <a:r>
              <a:rPr lang="en-US" sz="2400" dirty="0" smtClean="0">
                <a:solidFill>
                  <a:srgbClr val="235357"/>
                </a:solidFill>
              </a:rPr>
              <a:t> </a:t>
            </a:r>
            <a:r>
              <a:rPr lang="en-US" sz="2400" dirty="0" smtClean="0"/>
              <a:t>If </a:t>
            </a:r>
            <a:r>
              <a:rPr lang="en-US" sz="2400" i="1" dirty="0" smtClean="0"/>
              <a:t>w</a:t>
            </a:r>
            <a:r>
              <a:rPr lang="en-US" sz="2400" dirty="0" smtClean="0"/>
              <a:t> and </a:t>
            </a:r>
            <a:r>
              <a:rPr lang="en-US" sz="2400" i="1" dirty="0" smtClean="0"/>
              <a:t>x</a:t>
            </a:r>
            <a:r>
              <a:rPr lang="en-US" sz="2400" dirty="0" smtClean="0"/>
              <a:t> are strings, then (</a:t>
            </a:r>
            <a:r>
              <a:rPr lang="en-US" sz="2400" i="1" dirty="0" smtClean="0"/>
              <a:t>w x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R</a:t>
            </a:r>
            <a:r>
              <a:rPr lang="en-US" sz="2400" dirty="0" smtClean="0"/>
              <a:t> = </a:t>
            </a:r>
            <a:r>
              <a:rPr lang="en-US" sz="2400" i="1" dirty="0" smtClean="0"/>
              <a:t> x </a:t>
            </a:r>
            <a:r>
              <a:rPr lang="en-US" sz="2400" baseline="30000" dirty="0" smtClean="0"/>
              <a:t>R</a:t>
            </a:r>
            <a:r>
              <a:rPr lang="en-US" sz="2400" dirty="0" smtClean="0"/>
              <a:t> </a:t>
            </a:r>
            <a:r>
              <a:rPr lang="en-US" sz="2400" i="1" dirty="0" smtClean="0"/>
              <a:t>w </a:t>
            </a:r>
            <a:r>
              <a:rPr lang="en-US" sz="2400" baseline="30000" dirty="0" smtClean="0"/>
              <a:t>R</a:t>
            </a:r>
            <a:r>
              <a:rPr lang="en-US" sz="2400" dirty="0" smtClean="0"/>
              <a:t>.  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Example: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 (</a:t>
            </a:r>
            <a:r>
              <a:rPr lang="en-US" sz="2400" dirty="0" smtClean="0">
                <a:latin typeface="Courier New" pitchFamily="49" charset="0"/>
              </a:rPr>
              <a:t>nametag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R</a:t>
            </a:r>
            <a:r>
              <a:rPr lang="en-US" sz="2400" dirty="0" smtClean="0"/>
              <a:t> = (</a:t>
            </a:r>
            <a:r>
              <a:rPr lang="en-US" sz="2400" dirty="0" smtClean="0">
                <a:latin typeface="Courier New" pitchFamily="49" charset="0"/>
              </a:rPr>
              <a:t>tag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R</a:t>
            </a:r>
            <a:r>
              <a:rPr lang="en-US" sz="2400" dirty="0" smtClean="0"/>
              <a:t> (</a:t>
            </a:r>
            <a:r>
              <a:rPr lang="en-US" sz="2400" dirty="0" smtClean="0">
                <a:latin typeface="Courier New" pitchFamily="49" charset="0"/>
              </a:rPr>
              <a:t>name</a:t>
            </a:r>
            <a:r>
              <a:rPr lang="en-US" sz="2400" dirty="0" smtClean="0"/>
              <a:t>)</a:t>
            </a:r>
            <a:r>
              <a:rPr lang="en-US" sz="2400" baseline="30000" dirty="0" smtClean="0"/>
              <a:t>R</a:t>
            </a:r>
            <a:r>
              <a:rPr lang="en-US" sz="2400" dirty="0" smtClean="0"/>
              <a:t> = </a:t>
            </a:r>
            <a:r>
              <a:rPr lang="en-US" sz="2400" dirty="0" smtClean="0">
                <a:latin typeface="Courier New" pitchFamily="49" charset="0"/>
              </a:rPr>
              <a:t>gateman</a:t>
            </a:r>
          </a:p>
          <a:p>
            <a:pPr eaLnBrk="1" hangingPunct="1">
              <a:defRPr/>
            </a:pPr>
            <a:endParaRPr lang="en-US" sz="2400" b="1" i="1" dirty="0" smtClean="0">
              <a:latin typeface="Courier New" pitchFamily="49" charset="0"/>
            </a:endParaRPr>
          </a:p>
          <a:p>
            <a:pPr eaLnBrk="1" hangingPunct="1">
              <a:defRPr/>
            </a:pPr>
            <a:endParaRPr lang="en-US" sz="2400" dirty="0" smtClean="0">
              <a:latin typeface="Courier New" pitchFamily="49" charset="0"/>
            </a:endParaRPr>
          </a:p>
          <a:p>
            <a:pPr eaLnBrk="1" hangingPunct="1">
              <a:defRPr/>
            </a:pPr>
            <a:r>
              <a:rPr lang="en-US" sz="2400" dirty="0" smtClean="0">
                <a:latin typeface="+mj-lt"/>
              </a:rPr>
              <a:t>In this course, will not use this too much!</a:t>
            </a:r>
          </a:p>
          <a:p>
            <a:pPr eaLnBrk="1" hangingPunct="1">
              <a:defRPr/>
            </a:pPr>
            <a:r>
              <a:rPr lang="en-US" sz="2400" dirty="0" smtClean="0">
                <a:latin typeface="+mj-lt"/>
              </a:rPr>
              <a:t>Not responsible for inductive proof on next slide.</a:t>
            </a:r>
          </a:p>
        </p:txBody>
      </p:sp>
      <p:sp>
        <p:nvSpPr>
          <p:cNvPr id="2355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EE9C06F-97F9-469A-AC38-80CDD798C75E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Concatenation </a:t>
            </a:r>
            <a:r>
              <a:rPr lang="en-US" sz="3600" b="1" dirty="0"/>
              <a:t>&amp;</a:t>
            </a:r>
            <a:r>
              <a:rPr lang="en-US" sz="3600" b="1" dirty="0" smtClean="0"/>
              <a:t> Reverse of Strings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38200" y="990600"/>
            <a:ext cx="8077200" cy="527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i="1" dirty="0"/>
              <a:t>Proof:</a:t>
            </a:r>
            <a:r>
              <a:rPr lang="en-US" sz="2000" dirty="0"/>
              <a:t>  By induction on |</a:t>
            </a:r>
            <a:r>
              <a:rPr lang="en-US" sz="2000" i="1" dirty="0"/>
              <a:t>x</a:t>
            </a:r>
            <a:r>
              <a:rPr lang="en-US" sz="2000" dirty="0"/>
              <a:t>|:</a:t>
            </a:r>
          </a:p>
          <a:p>
            <a:endParaRPr lang="en-US" sz="2000" dirty="0"/>
          </a:p>
          <a:p>
            <a:r>
              <a:rPr lang="en-US" sz="2000" dirty="0"/>
              <a:t>|</a:t>
            </a:r>
            <a:r>
              <a:rPr lang="en-US" sz="2000" i="1" dirty="0"/>
              <a:t>x</a:t>
            </a:r>
            <a:r>
              <a:rPr lang="en-US" sz="2000" dirty="0"/>
              <a:t>| = 0:  Then </a:t>
            </a:r>
            <a:r>
              <a:rPr lang="en-US" sz="2000" i="1" dirty="0"/>
              <a:t>x</a:t>
            </a:r>
            <a:r>
              <a:rPr lang="en-US" sz="2000" dirty="0"/>
              <a:t> = </a:t>
            </a:r>
            <a:r>
              <a:rPr lang="en-US" sz="2000" dirty="0">
                <a:sym typeface="Symbol" pitchFamily="18" charset="2"/>
              </a:rPr>
              <a:t></a:t>
            </a:r>
            <a:r>
              <a:rPr lang="en-US" sz="2000" dirty="0"/>
              <a:t>, and (</a:t>
            </a:r>
            <a:r>
              <a:rPr lang="en-US" sz="2000" i="1" dirty="0" err="1"/>
              <a:t>wx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 = (</a:t>
            </a:r>
            <a:r>
              <a:rPr lang="en-US" sz="2000" i="1" dirty="0"/>
              <a:t>w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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 = (</a:t>
            </a:r>
            <a:r>
              <a:rPr lang="en-US" sz="2000" i="1" dirty="0"/>
              <a:t>w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 = </a:t>
            </a:r>
            <a:r>
              <a:rPr lang="en-US" sz="2000" dirty="0">
                <a:sym typeface="Symbol" pitchFamily="18" charset="2"/>
              </a:rPr>
              <a:t>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 = </a:t>
            </a:r>
            <a:r>
              <a:rPr lang="en-US" sz="2000" dirty="0">
                <a:sym typeface="Symbol" pitchFamily="18" charset="2"/>
              </a:rPr>
              <a:t></a:t>
            </a:r>
            <a:r>
              <a:rPr lang="en-US" sz="2000" baseline="30000" dirty="0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 =</a:t>
            </a:r>
            <a:r>
              <a:rPr lang="en-US" sz="2000" i="1" dirty="0"/>
              <a:t> </a:t>
            </a:r>
            <a:r>
              <a:rPr lang="en-US" sz="2000" i="1" dirty="0" err="1"/>
              <a:t>x</a:t>
            </a:r>
            <a:r>
              <a:rPr lang="en-US" sz="2000" baseline="30000" dirty="0" err="1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>
                <a:sym typeface="Symbol" pitchFamily="18" charset="2"/>
              </a:rPr>
              <a:t></a:t>
            </a:r>
            <a:r>
              <a:rPr lang="en-US" sz="2000" i="1" dirty="0"/>
              <a:t>n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</a:t>
            </a:r>
            <a:r>
              <a:rPr lang="en-US" sz="2000" dirty="0"/>
              <a:t> 0 (((|</a:t>
            </a:r>
            <a:r>
              <a:rPr lang="en-US" sz="2000" i="1" dirty="0"/>
              <a:t>x</a:t>
            </a:r>
            <a:r>
              <a:rPr lang="en-US" sz="2000" dirty="0"/>
              <a:t>| = </a:t>
            </a:r>
            <a:r>
              <a:rPr lang="en-US" sz="2000" i="1" dirty="0"/>
              <a:t>n</a:t>
            </a:r>
            <a:r>
              <a:rPr lang="en-US" sz="2000" dirty="0"/>
              <a:t>) </a:t>
            </a:r>
            <a:r>
              <a:rPr lang="en-US" sz="2000" dirty="0">
                <a:sym typeface="Symbol" pitchFamily="18" charset="2"/>
              </a:rPr>
              <a:t></a:t>
            </a:r>
            <a:r>
              <a:rPr lang="en-US" sz="2000" dirty="0"/>
              <a:t> ((</a:t>
            </a:r>
            <a:r>
              <a:rPr lang="en-US" sz="2000" i="1" dirty="0"/>
              <a:t>w x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 = </a:t>
            </a:r>
            <a:r>
              <a:rPr lang="en-US" sz="2000" i="1" dirty="0" err="1"/>
              <a:t>x</a:t>
            </a:r>
            <a:r>
              <a:rPr lang="en-US" sz="2000" baseline="30000" dirty="0" err="1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))  </a:t>
            </a:r>
            <a:r>
              <a:rPr lang="en-US" sz="2000" dirty="0">
                <a:sym typeface="Symbol" pitchFamily="18" charset="2"/>
              </a:rPr>
              <a:t></a:t>
            </a:r>
            <a:r>
              <a:rPr lang="en-US" sz="2000" dirty="0"/>
              <a:t>  </a:t>
            </a:r>
          </a:p>
          <a:p>
            <a:r>
              <a:rPr lang="en-US" sz="2000" dirty="0"/>
              <a:t>	((|</a:t>
            </a:r>
            <a:r>
              <a:rPr lang="en-US" sz="2000" i="1" dirty="0"/>
              <a:t>x</a:t>
            </a:r>
            <a:r>
              <a:rPr lang="en-US" sz="2000" dirty="0"/>
              <a:t>| = </a:t>
            </a:r>
            <a:r>
              <a:rPr lang="en-US" sz="2000" i="1" dirty="0"/>
              <a:t>n</a:t>
            </a:r>
            <a:r>
              <a:rPr lang="en-US" sz="2000" dirty="0"/>
              <a:t> + 1) </a:t>
            </a:r>
            <a:r>
              <a:rPr lang="en-US" sz="2000" dirty="0">
                <a:sym typeface="Symbol" pitchFamily="18" charset="2"/>
              </a:rPr>
              <a:t></a:t>
            </a:r>
            <a:r>
              <a:rPr lang="en-US" sz="2000" dirty="0"/>
              <a:t> ((</a:t>
            </a:r>
            <a:r>
              <a:rPr lang="en-US" sz="2000" i="1" dirty="0"/>
              <a:t>w x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 = </a:t>
            </a:r>
            <a:r>
              <a:rPr lang="en-US" sz="2000" i="1" dirty="0" err="1"/>
              <a:t>x</a:t>
            </a:r>
            <a:r>
              <a:rPr lang="en-US" sz="2000" baseline="30000" dirty="0" err="1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))):</a:t>
            </a:r>
          </a:p>
          <a:p>
            <a:endParaRPr lang="en-US" sz="2000" dirty="0"/>
          </a:p>
          <a:p>
            <a:r>
              <a:rPr lang="en-US" sz="2000" dirty="0"/>
              <a:t>Consider any string </a:t>
            </a:r>
            <a:r>
              <a:rPr lang="en-US" sz="2000" i="1" dirty="0"/>
              <a:t>x</a:t>
            </a:r>
            <a:r>
              <a:rPr lang="en-US" sz="2000" dirty="0"/>
              <a:t>, where |</a:t>
            </a:r>
            <a:r>
              <a:rPr lang="en-US" sz="2000" i="1" dirty="0"/>
              <a:t>x</a:t>
            </a:r>
            <a:r>
              <a:rPr lang="en-US" sz="2000" dirty="0"/>
              <a:t>| = </a:t>
            </a:r>
            <a:r>
              <a:rPr lang="en-US" sz="2000" i="1" dirty="0"/>
              <a:t>n</a:t>
            </a:r>
            <a:r>
              <a:rPr lang="en-US" sz="2000" dirty="0"/>
              <a:t> + 1. Then </a:t>
            </a:r>
            <a:r>
              <a:rPr lang="en-US" sz="2000" i="1" dirty="0"/>
              <a:t>x</a:t>
            </a:r>
            <a:r>
              <a:rPr lang="en-US" sz="2000" dirty="0"/>
              <a:t> = </a:t>
            </a:r>
            <a:r>
              <a:rPr lang="en-US" sz="2000" i="1" dirty="0"/>
              <a:t>u a</a:t>
            </a:r>
            <a:r>
              <a:rPr lang="en-US" sz="2000" dirty="0"/>
              <a:t> for some character </a:t>
            </a:r>
            <a:r>
              <a:rPr lang="en-US" sz="2000" i="1" dirty="0"/>
              <a:t>a</a:t>
            </a:r>
            <a:r>
              <a:rPr lang="en-US" sz="2000" dirty="0"/>
              <a:t> and |</a:t>
            </a:r>
            <a:r>
              <a:rPr lang="en-US" sz="2000" i="1" dirty="0"/>
              <a:t>u</a:t>
            </a:r>
            <a:r>
              <a:rPr lang="en-US" sz="2000" dirty="0"/>
              <a:t>| = </a:t>
            </a:r>
            <a:r>
              <a:rPr lang="en-US" sz="2000" i="1" dirty="0"/>
              <a:t>n</a:t>
            </a:r>
            <a:r>
              <a:rPr lang="en-US" sz="2000" dirty="0"/>
              <a:t>.  So:</a:t>
            </a:r>
          </a:p>
          <a:p>
            <a:endParaRPr lang="en-US" sz="2000" dirty="0"/>
          </a:p>
          <a:p>
            <a:r>
              <a:rPr lang="en-US" sz="2000" dirty="0"/>
              <a:t>	 (</a:t>
            </a:r>
            <a:r>
              <a:rPr lang="en-US" sz="2000" i="1" dirty="0"/>
              <a:t>w x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	= (</a:t>
            </a:r>
            <a:r>
              <a:rPr lang="en-US" sz="2000" i="1" dirty="0"/>
              <a:t>w</a:t>
            </a:r>
            <a:r>
              <a:rPr lang="en-US" sz="2000" dirty="0"/>
              <a:t> (</a:t>
            </a:r>
            <a:r>
              <a:rPr lang="en-US" sz="2000" i="1" dirty="0"/>
              <a:t>u a</a:t>
            </a:r>
            <a:r>
              <a:rPr lang="en-US" sz="2000" dirty="0"/>
              <a:t>))</a:t>
            </a:r>
            <a:r>
              <a:rPr lang="en-US" sz="2000" baseline="30000" dirty="0"/>
              <a:t>R</a:t>
            </a:r>
            <a:r>
              <a:rPr lang="en-US" sz="2000" dirty="0"/>
              <a:t>		rewrite </a:t>
            </a:r>
            <a:r>
              <a:rPr lang="en-US" sz="2000" i="1" dirty="0"/>
              <a:t>x</a:t>
            </a:r>
            <a:r>
              <a:rPr lang="en-US" sz="2000" dirty="0"/>
              <a:t> as </a:t>
            </a:r>
            <a:r>
              <a:rPr lang="en-US" sz="2000" i="1" dirty="0" err="1"/>
              <a:t>ua</a:t>
            </a:r>
            <a:endParaRPr lang="en-US" sz="2000" dirty="0"/>
          </a:p>
          <a:p>
            <a:r>
              <a:rPr lang="en-US" sz="2000" dirty="0"/>
              <a:t>		= ((</a:t>
            </a:r>
            <a:r>
              <a:rPr lang="en-US" sz="2000" i="1" dirty="0"/>
              <a:t>w u</a:t>
            </a:r>
            <a:r>
              <a:rPr lang="en-US" sz="2000" dirty="0"/>
              <a:t>) </a:t>
            </a:r>
            <a:r>
              <a:rPr lang="en-US" sz="2000" i="1" dirty="0"/>
              <a:t>a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		associativity of concatenation</a:t>
            </a:r>
          </a:p>
          <a:p>
            <a:r>
              <a:rPr lang="en-US" sz="2000" dirty="0"/>
              <a:t>		= </a:t>
            </a:r>
            <a:r>
              <a:rPr lang="en-US" sz="2000" i="1" dirty="0"/>
              <a:t>a</a:t>
            </a:r>
            <a:r>
              <a:rPr lang="en-US" sz="2000" dirty="0"/>
              <a:t> (</a:t>
            </a:r>
            <a:r>
              <a:rPr lang="en-US" sz="2000" i="1" dirty="0"/>
              <a:t>w u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		definition of reversal</a:t>
            </a:r>
          </a:p>
          <a:p>
            <a:r>
              <a:rPr lang="en-US" sz="2000" dirty="0"/>
              <a:t>		=</a:t>
            </a:r>
            <a:r>
              <a:rPr lang="en-US" sz="2000" i="1" dirty="0"/>
              <a:t> a </a:t>
            </a:r>
            <a:r>
              <a:rPr lang="en-US" sz="2000" dirty="0"/>
              <a:t>(</a:t>
            </a:r>
            <a:r>
              <a:rPr lang="en-US" sz="2000" i="1" dirty="0" err="1"/>
              <a:t>u</a:t>
            </a:r>
            <a:r>
              <a:rPr lang="en-US" sz="2000" baseline="30000" dirty="0" err="1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)		induction hypothesis</a:t>
            </a:r>
          </a:p>
          <a:p>
            <a:r>
              <a:rPr lang="en-US" sz="2000" dirty="0"/>
              <a:t>		=</a:t>
            </a:r>
            <a:r>
              <a:rPr lang="en-US" sz="2000" i="1" dirty="0"/>
              <a:t> </a:t>
            </a:r>
            <a:r>
              <a:rPr lang="en-US" sz="2000" dirty="0"/>
              <a:t>(</a:t>
            </a:r>
            <a:r>
              <a:rPr lang="en-US" sz="2000" i="1" dirty="0"/>
              <a:t>a </a:t>
            </a:r>
            <a:r>
              <a:rPr lang="en-US" sz="2000" i="1" dirty="0" err="1"/>
              <a:t>u</a:t>
            </a:r>
            <a:r>
              <a:rPr lang="en-US" sz="2000" baseline="30000" dirty="0" err="1"/>
              <a:t>R</a:t>
            </a:r>
            <a:r>
              <a:rPr lang="en-US" sz="2000" dirty="0"/>
              <a:t>)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		associativity of concatenation</a:t>
            </a:r>
          </a:p>
          <a:p>
            <a:r>
              <a:rPr lang="en-US" sz="2000" dirty="0"/>
              <a:t>		= (</a:t>
            </a:r>
            <a:r>
              <a:rPr lang="en-US" sz="2000" i="1" dirty="0" err="1"/>
              <a:t>ua</a:t>
            </a:r>
            <a:r>
              <a:rPr lang="en-US" sz="2000" dirty="0"/>
              <a:t>)</a:t>
            </a:r>
            <a:r>
              <a:rPr lang="en-US" sz="2000" baseline="30000" dirty="0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		definition of reversal</a:t>
            </a:r>
          </a:p>
          <a:p>
            <a:r>
              <a:rPr lang="en-US" sz="2000" dirty="0"/>
              <a:t>		= </a:t>
            </a:r>
            <a:r>
              <a:rPr lang="en-US" sz="2000" i="1" dirty="0" err="1"/>
              <a:t>x</a:t>
            </a:r>
            <a:r>
              <a:rPr lang="en-US" sz="2000" baseline="30000" dirty="0" err="1"/>
              <a:t>R</a:t>
            </a:r>
            <a:r>
              <a:rPr lang="en-US" sz="2000" dirty="0"/>
              <a:t> </a:t>
            </a:r>
            <a:r>
              <a:rPr lang="en-US" sz="2000" i="1" dirty="0" err="1"/>
              <a:t>w</a:t>
            </a:r>
            <a:r>
              <a:rPr lang="en-US" sz="2000" baseline="30000" dirty="0" err="1"/>
              <a:t>R</a:t>
            </a:r>
            <a:r>
              <a:rPr lang="en-US" sz="2000" dirty="0"/>
              <a:t>			rewrite </a:t>
            </a:r>
            <a:r>
              <a:rPr lang="en-US" sz="2000" i="1" dirty="0" err="1"/>
              <a:t>ua</a:t>
            </a:r>
            <a:r>
              <a:rPr lang="en-US" sz="2000" dirty="0"/>
              <a:t> as</a:t>
            </a:r>
            <a:r>
              <a:rPr lang="en-US" sz="2000" i="1" dirty="0"/>
              <a:t> x</a:t>
            </a:r>
          </a:p>
        </p:txBody>
      </p:sp>
      <p:sp>
        <p:nvSpPr>
          <p:cNvPr id="2458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D13B712-5A2A-4206-B152-C4974DDFF700}" type="slidenum">
              <a:rPr lang="en-US" smtClean="0"/>
              <a:pPr/>
              <a:t>17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/>
              <a:t>Relations </a:t>
            </a:r>
            <a:r>
              <a:rPr lang="en-US" sz="4000" b="1" dirty="0"/>
              <a:t>on </a:t>
            </a:r>
            <a:r>
              <a:rPr lang="en-US" sz="4000" b="1" dirty="0" smtClean="0"/>
              <a:t>Strings - </a:t>
            </a:r>
            <a:r>
              <a:rPr lang="en-US" sz="4000" b="1" dirty="0" smtClean="0">
                <a:solidFill>
                  <a:srgbClr val="7030A0"/>
                </a:solidFill>
              </a:rPr>
              <a:t>Substrings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>
              <a:buFont typeface="Courier New" pitchFamily="49" charset="0"/>
              <a:buChar char="o"/>
              <a:defRPr/>
            </a:pPr>
            <a:r>
              <a:rPr lang="en-US" sz="3000" dirty="0" smtClean="0">
                <a:solidFill>
                  <a:srgbClr val="7030A0"/>
                </a:solidFill>
              </a:rPr>
              <a:t>Substring</a:t>
            </a:r>
            <a:r>
              <a:rPr lang="en-US" sz="3000" dirty="0" smtClean="0"/>
              <a:t>: string s is a </a:t>
            </a:r>
            <a:r>
              <a:rPr lang="en-US" sz="3000" i="1" dirty="0" smtClean="0">
                <a:solidFill>
                  <a:srgbClr val="7030A0"/>
                </a:solidFill>
              </a:rPr>
              <a:t>substring</a:t>
            </a:r>
            <a:r>
              <a:rPr lang="en-US" sz="3000" dirty="0" smtClean="0"/>
              <a:t> of string t if s occurs contiguously in t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dirty="0" smtClean="0"/>
              <a:t>Every string is a substring of itself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3200" dirty="0" smtClean="0">
                <a:sym typeface="Symbol" pitchFamily="18" charset="2"/>
              </a:rPr>
              <a:t></a:t>
            </a:r>
            <a:r>
              <a:rPr lang="en-US" dirty="0" smtClean="0"/>
              <a:t> is a substring of every string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US" sz="3000" dirty="0" smtClean="0"/>
              <a:t>Proper Substring: s is a proper substring of t </a:t>
            </a:r>
            <a:r>
              <a:rPr lang="en-US" sz="3000" dirty="0" err="1" smtClean="0"/>
              <a:t>iff</a:t>
            </a:r>
            <a:r>
              <a:rPr lang="en-US" sz="3000" dirty="0" smtClean="0"/>
              <a:t> s ≠ t</a:t>
            </a:r>
          </a:p>
          <a:p>
            <a:pPr>
              <a:buFont typeface="Courier New" pitchFamily="49" charset="0"/>
              <a:buChar char="o"/>
              <a:defRPr/>
            </a:pPr>
            <a:r>
              <a:rPr lang="en-US" dirty="0" smtClean="0"/>
              <a:t>Suppose t = </a:t>
            </a:r>
            <a:r>
              <a:rPr lang="en-US" dirty="0" err="1" smtClean="0"/>
              <a:t>aabbcc</a:t>
            </a:r>
            <a:r>
              <a:rPr lang="en-US" dirty="0" smtClean="0"/>
              <a:t>.  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dirty="0" smtClean="0"/>
              <a:t>Substrings: </a:t>
            </a:r>
            <a:r>
              <a:rPr lang="en-US" dirty="0" smtClean="0">
                <a:sym typeface="Symbol" pitchFamily="18" charset="2"/>
              </a:rPr>
              <a:t>, </a:t>
            </a:r>
            <a:r>
              <a:rPr lang="en-US" dirty="0" smtClean="0"/>
              <a:t>a, </a:t>
            </a:r>
            <a:r>
              <a:rPr lang="en-US" dirty="0" err="1" smtClean="0"/>
              <a:t>aa</a:t>
            </a:r>
            <a:r>
              <a:rPr lang="en-US" dirty="0" smtClean="0"/>
              <a:t>, </a:t>
            </a:r>
            <a:r>
              <a:rPr lang="en-US" dirty="0" err="1" smtClean="0"/>
              <a:t>ab</a:t>
            </a:r>
            <a:r>
              <a:rPr lang="en-US" dirty="0" smtClean="0"/>
              <a:t>, </a:t>
            </a:r>
            <a:r>
              <a:rPr lang="en-US" dirty="0" err="1" smtClean="0"/>
              <a:t>bbcc</a:t>
            </a:r>
            <a:r>
              <a:rPr lang="en-US" dirty="0" smtClean="0"/>
              <a:t>, b, c, </a:t>
            </a:r>
            <a:r>
              <a:rPr lang="en-US" dirty="0" err="1" smtClean="0"/>
              <a:t>aabbcc</a:t>
            </a:r>
            <a:r>
              <a:rPr lang="en-US" dirty="0" smtClean="0"/>
              <a:t> 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dirty="0" smtClean="0"/>
              <a:t>Proper substrings?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dirty="0" smtClean="0">
                <a:sym typeface="Symbol" pitchFamily="18" charset="2"/>
              </a:rPr>
              <a:t>Others? </a:t>
            </a:r>
            <a:endParaRPr lang="en-US" dirty="0" smtClean="0"/>
          </a:p>
          <a:p>
            <a:pPr marL="457200" lvl="1" indent="0">
              <a:buFontTx/>
              <a:buNone/>
              <a:defRPr/>
            </a:pPr>
            <a:endParaRPr 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F63E451-86FF-452B-9575-4CE618D42FCA}" type="slidenum">
              <a:rPr lang="en-US" smtClean="0"/>
              <a:pPr/>
              <a:t>18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001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The </a:t>
            </a:r>
            <a:r>
              <a:rPr lang="en-US" sz="3600" b="1" dirty="0" smtClean="0">
                <a:solidFill>
                  <a:srgbClr val="7030A0"/>
                </a:solidFill>
              </a:rPr>
              <a:t>Prefix</a:t>
            </a:r>
            <a:r>
              <a:rPr lang="en-US" sz="3600" b="1" dirty="0" smtClean="0"/>
              <a:t> Relations</a:t>
            </a:r>
            <a:r>
              <a:rPr lang="en-US" sz="3600" dirty="0" smtClean="0"/>
              <a:t> 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685800" y="1066800"/>
            <a:ext cx="8229600" cy="4940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Symbol" pitchFamily="18" charset="2"/>
              <a:buNone/>
              <a:defRPr/>
            </a:pPr>
            <a:endParaRPr lang="en-US" sz="1000" dirty="0" smtClean="0"/>
          </a:p>
          <a:p>
            <a:pPr eaLnBrk="1" hangingPunct="1">
              <a:defRPr/>
            </a:pPr>
            <a:r>
              <a:rPr lang="en-US" sz="2700" i="1" dirty="0" smtClean="0"/>
              <a:t>s</a:t>
            </a:r>
            <a:r>
              <a:rPr lang="en-US" sz="2700" dirty="0" smtClean="0"/>
              <a:t> is a </a:t>
            </a:r>
            <a:r>
              <a:rPr lang="en-US" sz="2700" b="1" i="1" dirty="0" smtClean="0">
                <a:solidFill>
                  <a:srgbClr val="7030A0"/>
                </a:solidFill>
              </a:rPr>
              <a:t>prefix</a:t>
            </a:r>
            <a:r>
              <a:rPr lang="en-US" sz="2700" dirty="0" smtClean="0"/>
              <a:t> of </a:t>
            </a:r>
            <a:r>
              <a:rPr lang="en-US" sz="2700" i="1" dirty="0" smtClean="0"/>
              <a:t>t</a:t>
            </a:r>
            <a:r>
              <a:rPr lang="en-US" sz="2700" dirty="0" smtClean="0"/>
              <a:t> </a:t>
            </a:r>
            <a:r>
              <a:rPr lang="en-US" sz="2700" dirty="0" err="1" smtClean="0"/>
              <a:t>iff</a:t>
            </a:r>
            <a:r>
              <a:rPr lang="en-US" sz="2700" dirty="0" smtClean="0"/>
              <a:t>  </a:t>
            </a:r>
            <a:r>
              <a:rPr lang="en-US" sz="2700" dirty="0" smtClean="0">
                <a:sym typeface="Symbol" pitchFamily="18" charset="2"/>
              </a:rPr>
              <a:t></a:t>
            </a:r>
            <a:r>
              <a:rPr lang="en-US" sz="2700" i="1" dirty="0" smtClean="0"/>
              <a:t>x</a:t>
            </a:r>
            <a:r>
              <a:rPr lang="en-US" sz="2700" dirty="0" smtClean="0"/>
              <a:t> </a:t>
            </a:r>
            <a:r>
              <a:rPr lang="en-US" sz="2700" dirty="0" smtClean="0">
                <a:sym typeface="Symbol" pitchFamily="18" charset="2"/>
              </a:rPr>
              <a:t> *</a:t>
            </a:r>
            <a:r>
              <a:rPr lang="en-US" sz="2700" dirty="0" smtClean="0"/>
              <a:t> (</a:t>
            </a:r>
            <a:r>
              <a:rPr lang="en-US" sz="2700" i="1" dirty="0" smtClean="0"/>
              <a:t>t</a:t>
            </a:r>
            <a:r>
              <a:rPr lang="en-US" sz="2700" dirty="0" smtClean="0"/>
              <a:t> = </a:t>
            </a:r>
            <a:r>
              <a:rPr lang="en-US" sz="2700" i="1" dirty="0" err="1" smtClean="0"/>
              <a:t>sx</a:t>
            </a:r>
            <a:r>
              <a:rPr lang="en-US" sz="2700" dirty="0" smtClean="0"/>
              <a:t>).</a:t>
            </a:r>
          </a:p>
          <a:p>
            <a:pPr eaLnBrk="1" hangingPunct="1">
              <a:defRPr/>
            </a:pPr>
            <a:endParaRPr lang="en-US" sz="2700" dirty="0" smtClean="0"/>
          </a:p>
          <a:p>
            <a:pPr eaLnBrk="1" hangingPunct="1">
              <a:defRPr/>
            </a:pPr>
            <a:r>
              <a:rPr lang="en-US" sz="2700" i="1" dirty="0" smtClean="0"/>
              <a:t>s</a:t>
            </a:r>
            <a:r>
              <a:rPr lang="en-US" sz="2700" dirty="0" smtClean="0"/>
              <a:t> is a </a:t>
            </a:r>
            <a:r>
              <a:rPr lang="en-US" sz="2700" b="1" i="1" dirty="0" smtClean="0">
                <a:solidFill>
                  <a:srgbClr val="7030A0"/>
                </a:solidFill>
              </a:rPr>
              <a:t>proper prefix</a:t>
            </a:r>
            <a:r>
              <a:rPr lang="en-US" sz="2700" dirty="0" smtClean="0">
                <a:solidFill>
                  <a:srgbClr val="7030A0"/>
                </a:solidFill>
              </a:rPr>
              <a:t> </a:t>
            </a:r>
            <a:r>
              <a:rPr lang="en-US" sz="2700" dirty="0" smtClean="0"/>
              <a:t>of </a:t>
            </a:r>
            <a:r>
              <a:rPr lang="en-US" sz="2700" i="1" dirty="0" smtClean="0"/>
              <a:t>t</a:t>
            </a:r>
            <a:r>
              <a:rPr lang="en-US" sz="2700" dirty="0" smtClean="0"/>
              <a:t> </a:t>
            </a:r>
            <a:r>
              <a:rPr lang="en-US" sz="2700" dirty="0" err="1" smtClean="0"/>
              <a:t>iff</a:t>
            </a:r>
            <a:r>
              <a:rPr lang="en-US" sz="2700" dirty="0" smtClean="0"/>
              <a:t> </a:t>
            </a:r>
            <a:r>
              <a:rPr lang="en-US" sz="2700" i="1" dirty="0" smtClean="0"/>
              <a:t>s</a:t>
            </a:r>
            <a:r>
              <a:rPr lang="en-US" sz="2700" dirty="0" smtClean="0"/>
              <a:t> is a prefix of </a:t>
            </a:r>
            <a:r>
              <a:rPr lang="en-US" sz="2700" i="1" dirty="0" smtClean="0"/>
              <a:t>t</a:t>
            </a:r>
            <a:r>
              <a:rPr lang="en-US" sz="2700" dirty="0" smtClean="0"/>
              <a:t> and </a:t>
            </a:r>
            <a:r>
              <a:rPr lang="en-US" sz="2700" i="1" dirty="0" smtClean="0"/>
              <a:t>s</a:t>
            </a:r>
            <a:r>
              <a:rPr lang="en-US" sz="2700" dirty="0" smtClean="0"/>
              <a:t> </a:t>
            </a:r>
            <a:r>
              <a:rPr lang="en-US" sz="2700" dirty="0" smtClean="0">
                <a:sym typeface="Symbol" pitchFamily="18" charset="2"/>
              </a:rPr>
              <a:t> </a:t>
            </a:r>
            <a:r>
              <a:rPr lang="en-US" sz="2700" i="1" dirty="0" smtClean="0">
                <a:sym typeface="Symbol" pitchFamily="18" charset="2"/>
              </a:rPr>
              <a:t>t</a:t>
            </a:r>
            <a:r>
              <a:rPr lang="en-US" sz="2700" dirty="0" smtClean="0">
                <a:sym typeface="Symbol" pitchFamily="18" charset="2"/>
              </a:rPr>
              <a:t>.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Examples: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The </a:t>
            </a:r>
            <a:r>
              <a:rPr lang="en-US" sz="2400" b="1" i="1" dirty="0" smtClean="0">
                <a:solidFill>
                  <a:srgbClr val="7030A0"/>
                </a:solidFill>
              </a:rPr>
              <a:t>prefixes</a:t>
            </a:r>
            <a:r>
              <a:rPr lang="en-US" sz="2400" dirty="0" smtClean="0"/>
              <a:t> of </a:t>
            </a:r>
            <a:r>
              <a:rPr lang="en-US" sz="2400" dirty="0" err="1" smtClean="0">
                <a:latin typeface="Courier New" pitchFamily="49" charset="0"/>
              </a:rPr>
              <a:t>abba</a:t>
            </a:r>
            <a:r>
              <a:rPr lang="en-US" sz="2400" dirty="0" smtClean="0"/>
              <a:t> are: 		</a:t>
            </a:r>
            <a:r>
              <a:rPr lang="en-US" sz="2400" dirty="0" smtClean="0">
                <a:sym typeface="Symbol" pitchFamily="18" charset="2"/>
              </a:rPr>
              <a:t>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ab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abb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abba</a:t>
            </a:r>
            <a:r>
              <a:rPr lang="en-US" sz="2400" dirty="0" smtClean="0"/>
              <a:t>.</a:t>
            </a:r>
          </a:p>
          <a:p>
            <a:pPr eaLnBrk="1" hangingPunct="1">
              <a:defRPr/>
            </a:pPr>
            <a:r>
              <a:rPr lang="en-US" sz="2400" dirty="0" smtClean="0"/>
              <a:t>The </a:t>
            </a:r>
            <a:r>
              <a:rPr lang="en-US" sz="2400" b="1" i="1" dirty="0" smtClean="0">
                <a:solidFill>
                  <a:srgbClr val="7030A0"/>
                </a:solidFill>
              </a:rPr>
              <a:t>proper prefixes</a:t>
            </a:r>
            <a:r>
              <a:rPr lang="en-US" sz="2400" dirty="0" smtClean="0"/>
              <a:t> of </a:t>
            </a:r>
            <a:r>
              <a:rPr lang="en-US" sz="2400" dirty="0" err="1" smtClean="0">
                <a:latin typeface="Courier New" pitchFamily="49" charset="0"/>
              </a:rPr>
              <a:t>abba</a:t>
            </a:r>
            <a:r>
              <a:rPr lang="en-US" sz="2400" dirty="0" smtClean="0"/>
              <a:t> are: 	</a:t>
            </a:r>
            <a:r>
              <a:rPr lang="en-US" sz="2400" dirty="0" smtClean="0">
                <a:sym typeface="Symbol" pitchFamily="18" charset="2"/>
              </a:rPr>
              <a:t>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ab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abb</a:t>
            </a:r>
            <a:r>
              <a:rPr lang="en-US" sz="2400" dirty="0" smtClean="0"/>
              <a:t>.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 smtClean="0"/>
              <a:t>Every string is a prefix of itself.</a:t>
            </a: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3200" dirty="0" smtClean="0">
                <a:sym typeface="Symbol" pitchFamily="18" charset="2"/>
              </a:rPr>
              <a:t></a:t>
            </a:r>
            <a:r>
              <a:rPr lang="en-US" sz="2400" dirty="0" smtClean="0"/>
              <a:t> is a prefix of every string. </a:t>
            </a:r>
          </a:p>
          <a:p>
            <a:pPr eaLnBrk="1" hangingPunct="1">
              <a:defRPr/>
            </a:pPr>
            <a:endParaRPr lang="en-US" sz="2400" dirty="0" smtClean="0"/>
          </a:p>
        </p:txBody>
      </p:sp>
      <p:sp>
        <p:nvSpPr>
          <p:cNvPr id="2662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E929C52-F3E6-4082-9A2B-954101949126}" type="slidenum">
              <a:rPr lang="en-US" smtClean="0"/>
              <a:pPr/>
              <a:t>19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001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The </a:t>
            </a:r>
            <a:r>
              <a:rPr lang="en-US" sz="3600" b="1" dirty="0" smtClean="0">
                <a:solidFill>
                  <a:srgbClr val="7030A0"/>
                </a:solidFill>
              </a:rPr>
              <a:t>Suffix</a:t>
            </a:r>
            <a:r>
              <a:rPr lang="en-US" sz="3600" b="1" dirty="0" smtClean="0"/>
              <a:t> Relations</a:t>
            </a:r>
            <a:r>
              <a:rPr lang="en-US" sz="3600" dirty="0" smtClean="0"/>
              <a:t> 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609600" y="1295400"/>
            <a:ext cx="8305800" cy="45085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Symbol" pitchFamily="18" charset="2"/>
              <a:buNone/>
              <a:defRPr/>
            </a:pPr>
            <a:endParaRPr lang="en-US" sz="1000" dirty="0" smtClean="0"/>
          </a:p>
          <a:p>
            <a:pPr eaLnBrk="1" hangingPunct="1">
              <a:defRPr/>
            </a:pPr>
            <a:r>
              <a:rPr lang="en-US" sz="2700" i="1" dirty="0" smtClean="0"/>
              <a:t>s</a:t>
            </a:r>
            <a:r>
              <a:rPr lang="en-US" sz="2700" dirty="0" smtClean="0"/>
              <a:t> is a</a:t>
            </a:r>
            <a:r>
              <a:rPr lang="en-US" sz="2700" dirty="0" smtClean="0">
                <a:solidFill>
                  <a:srgbClr val="7030A0"/>
                </a:solidFill>
              </a:rPr>
              <a:t> </a:t>
            </a:r>
            <a:r>
              <a:rPr lang="en-US" sz="2700" b="1" i="1" dirty="0" smtClean="0">
                <a:solidFill>
                  <a:srgbClr val="7030A0"/>
                </a:solidFill>
              </a:rPr>
              <a:t>suffix</a:t>
            </a:r>
            <a:r>
              <a:rPr lang="en-US" sz="2700" dirty="0" smtClean="0">
                <a:solidFill>
                  <a:srgbClr val="7030A0"/>
                </a:solidFill>
              </a:rPr>
              <a:t> </a:t>
            </a:r>
            <a:r>
              <a:rPr lang="en-US" sz="2700" dirty="0" smtClean="0"/>
              <a:t>of </a:t>
            </a:r>
            <a:r>
              <a:rPr lang="en-US" sz="2700" i="1" dirty="0" smtClean="0"/>
              <a:t>t</a:t>
            </a:r>
            <a:r>
              <a:rPr lang="en-US" sz="2700" dirty="0" smtClean="0"/>
              <a:t> </a:t>
            </a:r>
            <a:r>
              <a:rPr lang="en-US" sz="2700" dirty="0" err="1" smtClean="0"/>
              <a:t>iff</a:t>
            </a:r>
            <a:r>
              <a:rPr lang="en-US" sz="2700" dirty="0" smtClean="0"/>
              <a:t> </a:t>
            </a:r>
            <a:r>
              <a:rPr lang="en-US" sz="2700" dirty="0" smtClean="0">
                <a:sym typeface="Symbol" pitchFamily="18" charset="2"/>
              </a:rPr>
              <a:t></a:t>
            </a:r>
            <a:r>
              <a:rPr lang="en-US" sz="2700" i="1" dirty="0" smtClean="0"/>
              <a:t>x</a:t>
            </a:r>
            <a:r>
              <a:rPr lang="en-US" sz="2700" dirty="0" smtClean="0"/>
              <a:t> </a:t>
            </a:r>
            <a:r>
              <a:rPr lang="en-US" sz="2700" dirty="0" smtClean="0">
                <a:sym typeface="Symbol" pitchFamily="18" charset="2"/>
              </a:rPr>
              <a:t> *</a:t>
            </a:r>
            <a:r>
              <a:rPr lang="en-US" sz="2700" dirty="0" smtClean="0"/>
              <a:t> (</a:t>
            </a:r>
            <a:r>
              <a:rPr lang="en-US" sz="2700" i="1" dirty="0" smtClean="0"/>
              <a:t>t</a:t>
            </a:r>
            <a:r>
              <a:rPr lang="en-US" sz="2700" dirty="0" smtClean="0"/>
              <a:t> = </a:t>
            </a:r>
            <a:r>
              <a:rPr lang="en-US" sz="2700" i="1" dirty="0" err="1" smtClean="0"/>
              <a:t>xs</a:t>
            </a:r>
            <a:r>
              <a:rPr lang="en-US" sz="2700" dirty="0" smtClean="0"/>
              <a:t>).</a:t>
            </a:r>
          </a:p>
          <a:p>
            <a:pPr eaLnBrk="1" hangingPunct="1">
              <a:defRPr/>
            </a:pPr>
            <a:endParaRPr lang="en-US" sz="2700" dirty="0" smtClean="0"/>
          </a:p>
          <a:p>
            <a:pPr eaLnBrk="1" hangingPunct="1">
              <a:defRPr/>
            </a:pPr>
            <a:r>
              <a:rPr lang="en-US" sz="2700" i="1" dirty="0" smtClean="0"/>
              <a:t>s</a:t>
            </a:r>
            <a:r>
              <a:rPr lang="en-US" sz="2700" dirty="0" smtClean="0"/>
              <a:t> is a </a:t>
            </a:r>
            <a:r>
              <a:rPr lang="en-US" sz="2700" b="1" i="1" dirty="0" smtClean="0">
                <a:solidFill>
                  <a:srgbClr val="7030A0"/>
                </a:solidFill>
              </a:rPr>
              <a:t>proper suffix</a:t>
            </a:r>
            <a:r>
              <a:rPr lang="en-US" sz="2700" dirty="0" smtClean="0">
                <a:solidFill>
                  <a:srgbClr val="7030A0"/>
                </a:solidFill>
              </a:rPr>
              <a:t> </a:t>
            </a:r>
            <a:r>
              <a:rPr lang="en-US" sz="2700" dirty="0" smtClean="0"/>
              <a:t>of </a:t>
            </a:r>
            <a:r>
              <a:rPr lang="en-US" sz="2700" i="1" dirty="0" smtClean="0"/>
              <a:t>t</a:t>
            </a:r>
            <a:r>
              <a:rPr lang="en-US" sz="2700" dirty="0" smtClean="0"/>
              <a:t> </a:t>
            </a:r>
            <a:r>
              <a:rPr lang="en-US" sz="2700" dirty="0" err="1" smtClean="0"/>
              <a:t>iff</a:t>
            </a:r>
            <a:r>
              <a:rPr lang="en-US" sz="2700" dirty="0" smtClean="0"/>
              <a:t> </a:t>
            </a:r>
            <a:r>
              <a:rPr lang="en-US" sz="2700" i="1" dirty="0" smtClean="0"/>
              <a:t>s</a:t>
            </a:r>
            <a:r>
              <a:rPr lang="en-US" sz="2700" dirty="0" smtClean="0"/>
              <a:t> is a suffix of </a:t>
            </a:r>
            <a:r>
              <a:rPr lang="en-US" sz="2700" i="1" dirty="0" smtClean="0"/>
              <a:t>t</a:t>
            </a:r>
            <a:r>
              <a:rPr lang="en-US" sz="2700" dirty="0" smtClean="0"/>
              <a:t> and </a:t>
            </a:r>
            <a:r>
              <a:rPr lang="en-US" sz="2700" i="1" dirty="0" smtClean="0"/>
              <a:t>s</a:t>
            </a:r>
            <a:r>
              <a:rPr lang="en-US" sz="2700" dirty="0" smtClean="0"/>
              <a:t> </a:t>
            </a:r>
            <a:r>
              <a:rPr lang="en-US" sz="2700" dirty="0" smtClean="0">
                <a:sym typeface="Symbol" pitchFamily="18" charset="2"/>
              </a:rPr>
              <a:t> </a:t>
            </a:r>
            <a:r>
              <a:rPr lang="en-US" sz="2700" i="1" dirty="0" smtClean="0">
                <a:sym typeface="Symbol" pitchFamily="18" charset="2"/>
              </a:rPr>
              <a:t>t</a:t>
            </a:r>
            <a:r>
              <a:rPr lang="en-US" sz="2700" dirty="0" smtClean="0">
                <a:sym typeface="Symbol" pitchFamily="18" charset="2"/>
              </a:rPr>
              <a:t>.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Examples: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The </a:t>
            </a:r>
            <a:r>
              <a:rPr lang="en-US" sz="2400" b="1" i="1" dirty="0" smtClean="0"/>
              <a:t>suffixes</a:t>
            </a:r>
            <a:r>
              <a:rPr lang="en-US" sz="2400" dirty="0" smtClean="0"/>
              <a:t> of </a:t>
            </a:r>
            <a:r>
              <a:rPr lang="en-US" sz="2400" dirty="0" err="1" smtClean="0">
                <a:latin typeface="Courier New" pitchFamily="49" charset="0"/>
              </a:rPr>
              <a:t>abba</a:t>
            </a:r>
            <a:r>
              <a:rPr lang="en-US" sz="2400" dirty="0" smtClean="0"/>
              <a:t> are: 		</a:t>
            </a:r>
            <a:r>
              <a:rPr lang="en-US" sz="2400" dirty="0" smtClean="0">
                <a:sym typeface="Symbol" pitchFamily="18" charset="2"/>
              </a:rPr>
              <a:t>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ba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bba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abba</a:t>
            </a:r>
            <a:r>
              <a:rPr lang="en-US" sz="2400" dirty="0" smtClean="0"/>
              <a:t>.</a:t>
            </a:r>
          </a:p>
          <a:p>
            <a:pPr eaLnBrk="1" hangingPunct="1">
              <a:defRPr/>
            </a:pPr>
            <a:r>
              <a:rPr lang="en-US" sz="2400" dirty="0" smtClean="0"/>
              <a:t>The </a:t>
            </a:r>
            <a:r>
              <a:rPr lang="en-US" sz="2400" b="1" i="1" dirty="0" smtClean="0"/>
              <a:t>proper suffixes</a:t>
            </a:r>
            <a:r>
              <a:rPr lang="en-US" sz="2400" dirty="0" smtClean="0"/>
              <a:t> of </a:t>
            </a:r>
            <a:r>
              <a:rPr lang="en-US" sz="2400" dirty="0" err="1" smtClean="0">
                <a:latin typeface="Courier New" pitchFamily="49" charset="0"/>
              </a:rPr>
              <a:t>abba</a:t>
            </a:r>
            <a:r>
              <a:rPr lang="en-US" sz="2400" dirty="0" smtClean="0"/>
              <a:t> are: 	</a:t>
            </a:r>
            <a:r>
              <a:rPr lang="en-US" sz="2400" dirty="0" smtClean="0">
                <a:sym typeface="Symbol" pitchFamily="18" charset="2"/>
              </a:rPr>
              <a:t>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ba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bba</a:t>
            </a:r>
            <a:r>
              <a:rPr lang="en-US" sz="2400" dirty="0" smtClean="0"/>
              <a:t>.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400" dirty="0" smtClean="0"/>
              <a:t>Every string is a suffix of itself.  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>
                <a:sym typeface="Symbol" pitchFamily="18" charset="2"/>
              </a:rPr>
              <a:t></a:t>
            </a:r>
            <a:r>
              <a:rPr lang="en-US" sz="2400" dirty="0" smtClean="0"/>
              <a:t> is a suffix of every string.</a:t>
            </a:r>
          </a:p>
        </p:txBody>
      </p:sp>
      <p:sp>
        <p:nvSpPr>
          <p:cNvPr id="2765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44B6993-616D-4D7F-9087-E2DA205A069B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8001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Defining a </a:t>
            </a:r>
            <a:r>
              <a:rPr lang="en-US" sz="3600" b="1" dirty="0" smtClean="0">
                <a:solidFill>
                  <a:srgbClr val="7030A0"/>
                </a:solidFill>
              </a:rPr>
              <a:t>Language</a:t>
            </a:r>
            <a:r>
              <a:rPr lang="en-US" sz="3600" dirty="0" smtClean="0"/>
              <a:t> 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09600" y="1279525"/>
            <a:ext cx="8458200" cy="41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A </a:t>
            </a:r>
            <a:r>
              <a:rPr lang="en-US" sz="2400" b="1" i="1">
                <a:solidFill>
                  <a:srgbClr val="7030A0"/>
                </a:solidFill>
              </a:rPr>
              <a:t>language</a:t>
            </a:r>
            <a:r>
              <a:rPr lang="en-US" sz="2400"/>
              <a:t> is a (finite or infinite) set of strings over a (finite) alphabet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.</a:t>
            </a:r>
          </a:p>
          <a:p>
            <a:endParaRPr lang="en-US" sz="2400"/>
          </a:p>
          <a:p>
            <a:r>
              <a:rPr lang="en-US" sz="2400"/>
              <a:t>Examples: Let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 = {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/>
              <a:t>}</a:t>
            </a:r>
          </a:p>
          <a:p>
            <a:endParaRPr lang="en-US" sz="2400"/>
          </a:p>
          <a:p>
            <a:r>
              <a:rPr lang="en-US" sz="2400"/>
              <a:t>    Some languages over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: </a:t>
            </a:r>
            <a:endParaRPr lang="en-US" sz="2400">
              <a:sym typeface="Symbol" pitchFamily="18" charset="2"/>
            </a:endParaRPr>
          </a:p>
          <a:p>
            <a:r>
              <a:rPr lang="en-US" sz="2400">
                <a:sym typeface="Symbol" pitchFamily="18" charset="2"/>
              </a:rPr>
              <a:t>	</a:t>
            </a:r>
            <a:r>
              <a:rPr lang="en-US" sz="2400"/>
              <a:t> = {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/>
              <a:t>} 	</a:t>
            </a:r>
            <a:r>
              <a:rPr lang="en-US" sz="2200"/>
              <a:t>// the empty language, no strings</a:t>
            </a:r>
          </a:p>
          <a:p>
            <a:r>
              <a:rPr lang="en-US" sz="2400"/>
              <a:t>	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} 		</a:t>
            </a:r>
            <a:r>
              <a:rPr lang="en-US" sz="2200"/>
              <a:t>// language contains only the empty string</a:t>
            </a:r>
          </a:p>
          <a:p>
            <a:r>
              <a:rPr lang="en-US" sz="2400"/>
              <a:t>	{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/>
              <a:t>} </a:t>
            </a:r>
          </a:p>
          <a:p>
            <a:r>
              <a:rPr lang="en-US" sz="2400"/>
              <a:t>	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aa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aaa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aaaa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aaaaa</a:t>
            </a:r>
            <a:r>
              <a:rPr lang="en-US" sz="2400"/>
              <a:t>}</a:t>
            </a:r>
          </a:p>
          <a:p>
            <a:endParaRPr lang="en-US" sz="2400"/>
          </a:p>
        </p:txBody>
      </p:sp>
      <p:sp>
        <p:nvSpPr>
          <p:cNvPr id="2867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B12D65-A6C6-4FA5-A2D6-7187E3BA3809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Defining a </a:t>
            </a:r>
            <a:r>
              <a:rPr lang="en-US" b="1" dirty="0">
                <a:solidFill>
                  <a:srgbClr val="7030A0"/>
                </a:solidFill>
              </a:rPr>
              <a:t>Language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0772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 smtClean="0"/>
              <a:t>Two ways to define a language via a Machine = Automaton </a:t>
            </a:r>
          </a:p>
          <a:p>
            <a:pPr marL="0" indent="0">
              <a:buFontTx/>
              <a:buNone/>
              <a:defRPr/>
            </a:pPr>
            <a:r>
              <a:rPr lang="en-US" dirty="0" smtClean="0"/>
              <a:t>AKA – Computer Program</a:t>
            </a:r>
          </a:p>
          <a:p>
            <a:pPr>
              <a:defRPr/>
            </a:pPr>
            <a:r>
              <a:rPr lang="en-US" dirty="0" smtClean="0">
                <a:solidFill>
                  <a:srgbClr val="7030A0"/>
                </a:solidFill>
              </a:rPr>
              <a:t>Recognizer</a:t>
            </a:r>
          </a:p>
          <a:p>
            <a:pPr>
              <a:defRPr/>
            </a:pPr>
            <a:r>
              <a:rPr lang="en-US" dirty="0" smtClean="0">
                <a:solidFill>
                  <a:srgbClr val="7030A0"/>
                </a:solidFill>
              </a:rPr>
              <a:t>Generator</a:t>
            </a:r>
          </a:p>
          <a:p>
            <a:pPr marL="0" indent="0">
              <a:buFontTx/>
              <a:buNone/>
              <a:defRPr/>
            </a:pPr>
            <a:r>
              <a:rPr lang="en-US" dirty="0" smtClean="0"/>
              <a:t>Which do we want?  Why?</a:t>
            </a:r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F12A36F-E22D-4980-B5B1-4D2023CA0A2F}" type="slidenum">
              <a:rPr lang="en-US" smtClean="0"/>
              <a:pPr/>
              <a:t>22</a:t>
            </a:fld>
            <a:endParaRPr lang="en-US" smtClean="0"/>
          </a:p>
        </p:txBody>
      </p:sp>
      <p:pic>
        <p:nvPicPr>
          <p:cNvPr id="99330" name="Picture 2" descr="C:\Users\Halverson\AppData\Local\Microsoft\Windows\Temporary Internet Files\Content.IE5\JWG1XBSQ\MC900389556[1].wmf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/>
          </a:blip>
          <a:srcRect/>
          <a:stretch>
            <a:fillRect/>
          </a:stretch>
        </p:blipFill>
        <p:spPr bwMode="auto">
          <a:xfrm>
            <a:off x="5715000" y="3581400"/>
            <a:ext cx="2362200" cy="2441420"/>
          </a:xfrm>
          <a:prstGeom prst="rect">
            <a:avLst/>
          </a:prstGeom>
          <a:noFill/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Symbol" pitchFamily="18" charset="2"/>
              </a:rPr>
              <a:t></a:t>
            </a:r>
            <a:r>
              <a:rPr lang="en-US" dirty="0" smtClean="0"/>
              <a:t>*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077200" cy="4525963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7030A0"/>
                </a:solidFill>
                <a:sym typeface="Symbol" pitchFamily="18" charset="2"/>
              </a:rPr>
              <a:t></a:t>
            </a:r>
            <a:r>
              <a:rPr lang="en-US" dirty="0" smtClean="0">
                <a:solidFill>
                  <a:srgbClr val="7030A0"/>
                </a:solidFill>
              </a:rPr>
              <a:t>*</a:t>
            </a:r>
            <a:r>
              <a:rPr lang="en-US" dirty="0" smtClean="0"/>
              <a:t> is defined as the set of all possible strings that can be formed from the alphabet </a:t>
            </a:r>
            <a:r>
              <a:rPr lang="en-US" dirty="0" smtClean="0">
                <a:sym typeface="Symbol" pitchFamily="18" charset="2"/>
              </a:rPr>
              <a:t></a:t>
            </a:r>
            <a:r>
              <a:rPr lang="en-US" dirty="0" smtClean="0"/>
              <a:t>*</a:t>
            </a:r>
          </a:p>
          <a:p>
            <a:pPr lvl="1">
              <a:defRPr/>
            </a:pPr>
            <a:r>
              <a:rPr lang="en-US" sz="3200" dirty="0" smtClean="0">
                <a:sym typeface="Symbol" pitchFamily="18" charset="2"/>
              </a:rPr>
              <a:t></a:t>
            </a:r>
            <a:r>
              <a:rPr lang="en-US" sz="3200" dirty="0" smtClean="0"/>
              <a:t>* is a language</a:t>
            </a:r>
          </a:p>
          <a:p>
            <a:pPr marL="457200" lvl="1" indent="0">
              <a:buFontTx/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sym typeface="Symbol" pitchFamily="18" charset="2"/>
              </a:rPr>
              <a:t></a:t>
            </a:r>
            <a:r>
              <a:rPr lang="en-US" dirty="0" smtClean="0"/>
              <a:t>* contains an </a:t>
            </a:r>
            <a:r>
              <a:rPr lang="en-US" i="1" dirty="0" smtClean="0"/>
              <a:t>infinite</a:t>
            </a:r>
            <a:r>
              <a:rPr lang="en-US" dirty="0" smtClean="0"/>
              <a:t> number of strings</a:t>
            </a:r>
          </a:p>
          <a:p>
            <a:pPr lvl="1">
              <a:defRPr/>
            </a:pPr>
            <a:r>
              <a:rPr lang="en-US" sz="3200" dirty="0" smtClean="0">
                <a:sym typeface="Symbol" pitchFamily="18" charset="2"/>
              </a:rPr>
              <a:t></a:t>
            </a:r>
            <a:r>
              <a:rPr lang="en-US" sz="3200" dirty="0" smtClean="0"/>
              <a:t>* is </a:t>
            </a:r>
            <a:r>
              <a:rPr lang="en-US" sz="3200" i="1" dirty="0" err="1" smtClean="0"/>
              <a:t>countably</a:t>
            </a:r>
            <a:r>
              <a:rPr lang="en-US" sz="3200" i="1" dirty="0" smtClean="0"/>
              <a:t> infinite</a:t>
            </a:r>
          </a:p>
          <a:p>
            <a:pPr lvl="1"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4381E45-8F29-4A34-B2D9-F150D9381086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Symbol" pitchFamily="18" charset="2"/>
              </a:rPr>
              <a:t></a:t>
            </a:r>
            <a:r>
              <a:rPr lang="en-US" dirty="0" smtClean="0"/>
              <a:t>*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80772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 smtClean="0"/>
              <a:t>Let </a:t>
            </a:r>
            <a:r>
              <a:rPr lang="en-US" dirty="0" smtClean="0">
                <a:sym typeface="Symbol" pitchFamily="18" charset="2"/>
              </a:rPr>
              <a:t></a:t>
            </a:r>
            <a:r>
              <a:rPr lang="en-US" dirty="0" smtClean="0"/>
              <a:t> = {</a:t>
            </a:r>
            <a:r>
              <a:rPr lang="en-US" dirty="0" smtClean="0">
                <a:latin typeface="Courier New" pitchFamily="49" charset="0"/>
              </a:rPr>
              <a:t>a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49" charset="0"/>
              </a:rPr>
              <a:t>b</a:t>
            </a:r>
            <a:r>
              <a:rPr lang="en-US" dirty="0" smtClean="0"/>
              <a:t>}</a:t>
            </a:r>
          </a:p>
          <a:p>
            <a:pPr marL="0" indent="0">
              <a:buFontTx/>
              <a:buNone/>
              <a:defRPr/>
            </a:pPr>
            <a:r>
              <a:rPr lang="en-US" dirty="0" smtClean="0">
                <a:sym typeface="Symbol" pitchFamily="18" charset="2"/>
              </a:rPr>
              <a:t>*</a:t>
            </a:r>
            <a:r>
              <a:rPr lang="en-US" dirty="0" smtClean="0"/>
              <a:t> = {</a:t>
            </a:r>
            <a:r>
              <a:rPr lang="en-US" dirty="0" smtClean="0">
                <a:sym typeface="Symbol" pitchFamily="18" charset="2"/>
              </a:rPr>
              <a:t>, </a:t>
            </a:r>
            <a:r>
              <a:rPr lang="en-US" dirty="0" smtClean="0">
                <a:latin typeface="Courier New" pitchFamily="49" charset="0"/>
              </a:rPr>
              <a:t>a</a:t>
            </a:r>
            <a:r>
              <a:rPr lang="en-US" dirty="0" smtClean="0"/>
              <a:t>, </a:t>
            </a:r>
            <a:r>
              <a:rPr lang="en-US" dirty="0" err="1" smtClean="0">
                <a:latin typeface="Courier New" pitchFamily="49" charset="0"/>
              </a:rPr>
              <a:t>b,aa,ab,ba,bb,aaa,aab</a:t>
            </a:r>
            <a:r>
              <a:rPr lang="en-US" dirty="0" smtClean="0">
                <a:latin typeface="Courier New" pitchFamily="49" charset="0"/>
              </a:rPr>
              <a:t>,… </a:t>
            </a:r>
            <a:r>
              <a:rPr lang="en-US" dirty="0" smtClean="0"/>
              <a:t>}</a:t>
            </a:r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 smtClean="0"/>
              <a:t>Later, we will spend some more time studying </a:t>
            </a:r>
            <a:r>
              <a:rPr lang="en-US" dirty="0" smtClean="0">
                <a:sym typeface="Symbol" pitchFamily="18" charset="2"/>
              </a:rPr>
              <a:t>*.</a:t>
            </a:r>
            <a:endParaRPr lang="en-US" dirty="0" smtClean="0"/>
          </a:p>
          <a:p>
            <a:pPr marL="0" indent="0">
              <a:buFontTx/>
              <a:buNone/>
              <a:defRPr/>
            </a:pPr>
            <a:r>
              <a:rPr lang="en-US" dirty="0" smtClean="0"/>
              <a:t> 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4762A46-541E-44AE-81BB-822A0BE3BA52}" type="slidenum">
              <a:rPr lang="en-US" smtClean="0"/>
              <a:pPr/>
              <a:t>24</a:t>
            </a:fld>
            <a:endParaRPr lang="en-US" smtClean="0"/>
          </a:p>
        </p:txBody>
      </p:sp>
      <p:pic>
        <p:nvPicPr>
          <p:cNvPr id="98306" name="Picture 2" descr="C:\Users\Halverson\AppData\Local\Microsoft\Windows\Temporary Internet Files\Content.IE5\SPK9DF8L\MC900438203[1].wmf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/>
          </a:blip>
          <a:srcRect/>
          <a:stretch>
            <a:fillRect/>
          </a:stretch>
        </p:blipFill>
        <p:spPr bwMode="auto">
          <a:xfrm>
            <a:off x="5791200" y="4572000"/>
            <a:ext cx="1828800" cy="1479550"/>
          </a:xfrm>
          <a:prstGeom prst="rect">
            <a:avLst/>
          </a:prstGeom>
          <a:noFill/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Defining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772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 smtClean="0"/>
              <a:t>Remember we are defining a set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S</a:t>
            </a:r>
            <a:r>
              <a:rPr lang="en-US" dirty="0" smtClean="0"/>
              <a:t>et Notation:</a:t>
            </a:r>
          </a:p>
          <a:p>
            <a:pPr marL="0" indent="0">
              <a:buFontTx/>
              <a:buNone/>
              <a:defRPr/>
            </a:pPr>
            <a:r>
              <a:rPr lang="en-US" dirty="0" smtClean="0"/>
              <a:t>	L = { w </a:t>
            </a:r>
            <a:r>
              <a:rPr lang="en-US" dirty="0" smtClean="0">
                <a:sym typeface="Symbol" pitchFamily="18" charset="2"/>
              </a:rPr>
              <a:t>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dirty="0" smtClean="0"/>
              <a:t>* | description of w}</a:t>
            </a:r>
          </a:p>
          <a:p>
            <a:pPr marL="0" indent="0">
              <a:buFontTx/>
              <a:buNone/>
              <a:defRPr/>
            </a:pPr>
            <a:r>
              <a:rPr lang="en-US" dirty="0" smtClean="0"/>
              <a:t>	L = { w </a:t>
            </a:r>
            <a:r>
              <a:rPr lang="en-US" dirty="0" smtClean="0">
                <a:sym typeface="Symbol" pitchFamily="18" charset="2"/>
              </a:rPr>
              <a:t> {</a:t>
            </a:r>
            <a:r>
              <a:rPr lang="en-US" dirty="0" err="1" smtClean="0">
                <a:sym typeface="Symbol" pitchFamily="18" charset="2"/>
              </a:rPr>
              <a:t>a,b,c</a:t>
            </a:r>
            <a:r>
              <a:rPr lang="en-US" dirty="0" smtClean="0">
                <a:sym typeface="Symbol" pitchFamily="18" charset="2"/>
              </a:rPr>
              <a:t>}</a:t>
            </a:r>
            <a:r>
              <a:rPr lang="en-US" dirty="0" smtClean="0"/>
              <a:t>* | description of w}</a:t>
            </a:r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sz="2800" dirty="0" smtClean="0"/>
              <a:t>“description of w” can take many forms but must be precise</a:t>
            </a:r>
          </a:p>
          <a:p>
            <a:pPr>
              <a:defRPr/>
            </a:pPr>
            <a:r>
              <a:rPr lang="en-US" sz="2800" dirty="0" smtClean="0"/>
              <a:t>Notation can vary, but must precisely define</a:t>
            </a:r>
          </a:p>
          <a:p>
            <a:pPr>
              <a:defRPr/>
            </a:pPr>
            <a:endParaRPr lang="en-US" dirty="0" smtClean="0"/>
          </a:p>
          <a:p>
            <a:pPr marL="457200" lvl="1" indent="0">
              <a:buFontTx/>
              <a:buNone/>
              <a:defRPr/>
            </a:pPr>
            <a:endParaRPr 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FCA1953-A77F-49F0-802C-EC64E9710A74}" type="slidenum">
              <a:rPr lang="en-US" smtClean="0"/>
              <a:pPr/>
              <a:t>25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9144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Example Language Definitions</a:t>
            </a:r>
            <a:r>
              <a:rPr lang="en-US" sz="360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7924800" cy="4586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3400" i="1" dirty="0" smtClean="0">
                <a:solidFill>
                  <a:srgbClr val="235357"/>
                </a:solidFill>
              </a:rPr>
              <a:t>L</a:t>
            </a:r>
            <a:r>
              <a:rPr lang="en-US" sz="3400" dirty="0" smtClean="0">
                <a:solidFill>
                  <a:srgbClr val="235357"/>
                </a:solidFill>
              </a:rPr>
              <a:t> = {</a:t>
            </a:r>
            <a:r>
              <a:rPr lang="en-US" sz="3400" i="1" dirty="0" smtClean="0">
                <a:solidFill>
                  <a:srgbClr val="235357"/>
                </a:solidFill>
              </a:rPr>
              <a:t>x</a:t>
            </a:r>
            <a:r>
              <a:rPr lang="en-US" sz="3400" dirty="0" smtClean="0">
                <a:solidFill>
                  <a:srgbClr val="235357"/>
                </a:solidFill>
              </a:rPr>
              <a:t> </a:t>
            </a:r>
            <a:r>
              <a:rPr lang="en-US" sz="3400" dirty="0" smtClean="0">
                <a:solidFill>
                  <a:srgbClr val="235357"/>
                </a:solidFill>
                <a:sym typeface="Symbol" pitchFamily="18" charset="2"/>
              </a:rPr>
              <a:t></a:t>
            </a:r>
            <a:r>
              <a:rPr lang="en-US" sz="3400" dirty="0" smtClean="0">
                <a:solidFill>
                  <a:srgbClr val="235357"/>
                </a:solidFill>
              </a:rPr>
              <a:t> {</a:t>
            </a:r>
            <a:r>
              <a:rPr lang="en-US" sz="3400" dirty="0" smtClean="0">
                <a:solidFill>
                  <a:srgbClr val="235357"/>
                </a:solidFill>
                <a:latin typeface="Courier New" pitchFamily="49" charset="0"/>
              </a:rPr>
              <a:t>a</a:t>
            </a:r>
            <a:r>
              <a:rPr lang="en-US" sz="3400" dirty="0" smtClean="0">
                <a:solidFill>
                  <a:srgbClr val="235357"/>
                </a:solidFill>
              </a:rPr>
              <a:t>, </a:t>
            </a:r>
            <a:r>
              <a:rPr lang="en-US" sz="3400" dirty="0" smtClean="0">
                <a:solidFill>
                  <a:srgbClr val="235357"/>
                </a:solidFill>
                <a:latin typeface="Courier New" pitchFamily="49" charset="0"/>
              </a:rPr>
              <a:t>b</a:t>
            </a:r>
            <a:r>
              <a:rPr lang="en-US" sz="3400" dirty="0" smtClean="0">
                <a:solidFill>
                  <a:srgbClr val="235357"/>
                </a:solidFill>
              </a:rPr>
              <a:t>}* | all </a:t>
            </a:r>
            <a:r>
              <a:rPr lang="en-US" sz="3400" dirty="0" smtClean="0">
                <a:solidFill>
                  <a:srgbClr val="235357"/>
                </a:solidFill>
                <a:latin typeface="Courier New" pitchFamily="49" charset="0"/>
              </a:rPr>
              <a:t>a</a:t>
            </a:r>
            <a:r>
              <a:rPr lang="en-US" sz="3400" dirty="0" smtClean="0">
                <a:solidFill>
                  <a:srgbClr val="235357"/>
                </a:solidFill>
              </a:rPr>
              <a:t>’s precede all </a:t>
            </a:r>
            <a:r>
              <a:rPr lang="en-US" sz="3400" dirty="0" smtClean="0">
                <a:solidFill>
                  <a:srgbClr val="235357"/>
                </a:solidFill>
                <a:latin typeface="Courier New" pitchFamily="49" charset="0"/>
              </a:rPr>
              <a:t>b</a:t>
            </a:r>
            <a:r>
              <a:rPr lang="en-US" sz="3400" dirty="0" smtClean="0">
                <a:solidFill>
                  <a:srgbClr val="235357"/>
                </a:solidFill>
              </a:rPr>
              <a:t>’s}</a:t>
            </a:r>
          </a:p>
          <a:p>
            <a:pPr eaLnBrk="1" hangingPunct="1">
              <a:defRPr/>
            </a:pPr>
            <a:endParaRPr lang="en-US" sz="3400" dirty="0" smtClean="0"/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3200" dirty="0" err="1" smtClean="0">
                <a:latin typeface="Courier New" pitchFamily="49" charset="0"/>
              </a:rPr>
              <a:t>aab,aaabb</a:t>
            </a:r>
            <a:r>
              <a:rPr lang="en-US" sz="3200" dirty="0" smtClean="0"/>
              <a:t>, and </a:t>
            </a:r>
            <a:r>
              <a:rPr lang="en-US" sz="3200" dirty="0" err="1" smtClean="0">
                <a:latin typeface="Courier New" pitchFamily="49" charset="0"/>
              </a:rPr>
              <a:t>aabbb</a:t>
            </a:r>
            <a:r>
              <a:rPr lang="en-US" sz="3200" dirty="0" smtClean="0"/>
              <a:t> are in </a:t>
            </a:r>
            <a:r>
              <a:rPr lang="en-US" sz="3200" i="1" dirty="0" smtClean="0"/>
              <a:t>L</a:t>
            </a:r>
            <a:r>
              <a:rPr lang="en-US" sz="3200" dirty="0" smtClean="0"/>
              <a:t>.  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3200" dirty="0" smtClean="0">
                <a:latin typeface="Courier New" pitchFamily="49" charset="0"/>
              </a:rPr>
              <a:t>aba</a:t>
            </a:r>
            <a:r>
              <a:rPr lang="en-US" sz="3200" dirty="0" smtClean="0"/>
              <a:t>, </a:t>
            </a:r>
            <a:r>
              <a:rPr lang="en-US" sz="3200" dirty="0" err="1" smtClean="0">
                <a:latin typeface="Courier New" pitchFamily="49" charset="0"/>
              </a:rPr>
              <a:t>ba</a:t>
            </a:r>
            <a:r>
              <a:rPr lang="en-US" sz="3200" dirty="0" smtClean="0"/>
              <a:t>, and </a:t>
            </a:r>
            <a:r>
              <a:rPr lang="en-US" sz="3200" dirty="0" err="1" smtClean="0">
                <a:latin typeface="Courier New" pitchFamily="49" charset="0"/>
              </a:rPr>
              <a:t>abc</a:t>
            </a:r>
            <a:r>
              <a:rPr lang="en-US" sz="3200" dirty="0" smtClean="0"/>
              <a:t> are not in </a:t>
            </a:r>
            <a:r>
              <a:rPr lang="en-US" sz="3200" i="1" dirty="0" smtClean="0"/>
              <a:t>L</a:t>
            </a:r>
            <a:r>
              <a:rPr lang="en-US" sz="3200" dirty="0" smtClean="0"/>
              <a:t>. 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3200" dirty="0" smtClean="0"/>
              <a:t>What about </a:t>
            </a:r>
            <a:r>
              <a:rPr lang="en-US" sz="3200" dirty="0" smtClean="0">
                <a:sym typeface="Symbol" pitchFamily="18" charset="2"/>
              </a:rPr>
              <a:t></a:t>
            </a:r>
            <a:r>
              <a:rPr lang="en-US" sz="3200" dirty="0" smtClean="0"/>
              <a:t>, </a:t>
            </a:r>
            <a:r>
              <a:rPr lang="en-US" sz="3200" dirty="0" smtClean="0">
                <a:latin typeface="Courier New" pitchFamily="49" charset="0"/>
              </a:rPr>
              <a:t>a</a:t>
            </a:r>
            <a:r>
              <a:rPr lang="en-US" sz="3200" dirty="0" smtClean="0"/>
              <a:t>, </a:t>
            </a:r>
            <a:r>
              <a:rPr lang="en-US" sz="3200" dirty="0" err="1" smtClean="0">
                <a:latin typeface="Courier New" pitchFamily="49" charset="0"/>
              </a:rPr>
              <a:t>aa</a:t>
            </a:r>
            <a:r>
              <a:rPr lang="en-US" sz="3200" dirty="0" smtClean="0"/>
              <a:t>, and </a:t>
            </a:r>
            <a:r>
              <a:rPr lang="en-US" sz="3200" dirty="0" smtClean="0">
                <a:latin typeface="Courier New" pitchFamily="49" charset="0"/>
              </a:rPr>
              <a:t>bb</a:t>
            </a:r>
            <a:r>
              <a:rPr lang="en-US" sz="3200" dirty="0" smtClean="0"/>
              <a:t>?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endParaRPr lang="en-US" sz="3200" dirty="0" smtClean="0"/>
          </a:p>
          <a:p>
            <a:pPr eaLnBrk="1" hangingPunct="1">
              <a:defRPr/>
            </a:pPr>
            <a:r>
              <a:rPr lang="en-US" sz="3400" i="1" dirty="0" smtClean="0">
                <a:solidFill>
                  <a:srgbClr val="235357"/>
                </a:solidFill>
              </a:rPr>
              <a:t>L</a:t>
            </a:r>
            <a:r>
              <a:rPr lang="en-US" sz="3400" dirty="0" smtClean="0">
                <a:solidFill>
                  <a:srgbClr val="235357"/>
                </a:solidFill>
              </a:rPr>
              <a:t> = {</a:t>
            </a:r>
            <a:r>
              <a:rPr lang="en-US" sz="3400" i="1" dirty="0" smtClean="0">
                <a:solidFill>
                  <a:srgbClr val="235357"/>
                </a:solidFill>
              </a:rPr>
              <a:t>x</a:t>
            </a:r>
            <a:r>
              <a:rPr lang="en-US" sz="3400" dirty="0" smtClean="0">
                <a:solidFill>
                  <a:srgbClr val="235357"/>
                </a:solidFill>
              </a:rPr>
              <a:t> : </a:t>
            </a:r>
            <a:r>
              <a:rPr lang="en-US" sz="3400" dirty="0" smtClean="0">
                <a:solidFill>
                  <a:srgbClr val="235357"/>
                </a:solidFill>
                <a:sym typeface="Symbol" pitchFamily="18" charset="2"/>
              </a:rPr>
              <a:t></a:t>
            </a:r>
            <a:r>
              <a:rPr lang="en-US" sz="3400" i="1" dirty="0" smtClean="0">
                <a:solidFill>
                  <a:srgbClr val="235357"/>
                </a:solidFill>
              </a:rPr>
              <a:t>y</a:t>
            </a:r>
            <a:r>
              <a:rPr lang="en-US" sz="3400" dirty="0" smtClean="0">
                <a:solidFill>
                  <a:srgbClr val="235357"/>
                </a:solidFill>
              </a:rPr>
              <a:t> </a:t>
            </a:r>
            <a:r>
              <a:rPr lang="en-US" sz="3400" dirty="0" smtClean="0">
                <a:solidFill>
                  <a:srgbClr val="235357"/>
                </a:solidFill>
                <a:sym typeface="Symbol" pitchFamily="18" charset="2"/>
              </a:rPr>
              <a:t></a:t>
            </a:r>
            <a:r>
              <a:rPr lang="en-US" sz="3400" dirty="0" smtClean="0">
                <a:solidFill>
                  <a:srgbClr val="235357"/>
                </a:solidFill>
              </a:rPr>
              <a:t> {</a:t>
            </a:r>
            <a:r>
              <a:rPr lang="en-US" sz="3400" dirty="0" smtClean="0">
                <a:solidFill>
                  <a:srgbClr val="235357"/>
                </a:solidFill>
                <a:latin typeface="Courier New" pitchFamily="49" charset="0"/>
              </a:rPr>
              <a:t>a</a:t>
            </a:r>
            <a:r>
              <a:rPr lang="en-US" sz="3400" dirty="0" smtClean="0">
                <a:solidFill>
                  <a:srgbClr val="235357"/>
                </a:solidFill>
              </a:rPr>
              <a:t>, </a:t>
            </a:r>
            <a:r>
              <a:rPr lang="en-US" sz="3400" dirty="0" smtClean="0">
                <a:solidFill>
                  <a:srgbClr val="235357"/>
                </a:solidFill>
                <a:latin typeface="Courier New" pitchFamily="49" charset="0"/>
              </a:rPr>
              <a:t>b</a:t>
            </a:r>
            <a:r>
              <a:rPr lang="en-US" sz="3400" dirty="0" smtClean="0">
                <a:solidFill>
                  <a:srgbClr val="235357"/>
                </a:solidFill>
              </a:rPr>
              <a:t>}* | </a:t>
            </a:r>
            <a:r>
              <a:rPr lang="en-US" sz="3400" i="1" dirty="0" smtClean="0">
                <a:solidFill>
                  <a:srgbClr val="235357"/>
                </a:solidFill>
              </a:rPr>
              <a:t>x</a:t>
            </a:r>
            <a:r>
              <a:rPr lang="en-US" sz="3400" dirty="0" smtClean="0">
                <a:solidFill>
                  <a:srgbClr val="235357"/>
                </a:solidFill>
              </a:rPr>
              <a:t> = </a:t>
            </a:r>
            <a:r>
              <a:rPr lang="en-US" sz="3400" i="1" dirty="0" err="1" smtClean="0">
                <a:solidFill>
                  <a:srgbClr val="235357"/>
                </a:solidFill>
              </a:rPr>
              <a:t>y</a:t>
            </a:r>
            <a:r>
              <a:rPr lang="en-US" sz="3400" dirty="0" err="1" smtClean="0">
                <a:solidFill>
                  <a:srgbClr val="235357"/>
                </a:solidFill>
                <a:latin typeface="Courier New" pitchFamily="49" charset="0"/>
              </a:rPr>
              <a:t>a</a:t>
            </a:r>
            <a:r>
              <a:rPr lang="en-US" sz="3400" dirty="0" smtClean="0">
                <a:solidFill>
                  <a:srgbClr val="235357"/>
                </a:solidFill>
              </a:rPr>
              <a:t>}</a:t>
            </a: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3200" dirty="0" smtClean="0"/>
              <a:t>Give an English description.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endParaRPr lang="en-US" sz="3200" dirty="0" smtClean="0"/>
          </a:p>
        </p:txBody>
      </p:sp>
      <p:sp>
        <p:nvSpPr>
          <p:cNvPr id="3379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9D194DC-CB1F-42BB-BE40-3E595634FBB8}" type="slidenum">
              <a:rPr lang="en-US" smtClean="0"/>
              <a:pPr/>
              <a:t>26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US" sz="4000" b="1" dirty="0" smtClean="0">
                <a:solidFill>
                  <a:srgbClr val="002060"/>
                </a:solidFill>
              </a:rPr>
              <a:t>Example </a:t>
            </a:r>
            <a:r>
              <a:rPr lang="en-US" sz="4000" b="1" dirty="0">
                <a:solidFill>
                  <a:srgbClr val="002060"/>
                </a:solidFill>
              </a:rPr>
              <a:t>Language Definitions</a:t>
            </a:r>
            <a:r>
              <a:rPr lang="en-US" sz="4000" dirty="0">
                <a:solidFill>
                  <a:srgbClr val="002060"/>
                </a:solidFill>
              </a:rPr>
              <a:t> </a:t>
            </a:r>
            <a:br>
              <a:rPr lang="en-US" sz="4000" dirty="0">
                <a:solidFill>
                  <a:srgbClr val="002060"/>
                </a:solidFill>
              </a:rPr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3400" dirty="0" smtClean="0"/>
              <a:t>Let </a:t>
            </a:r>
            <a:r>
              <a:rPr lang="en-US" sz="3400" dirty="0" smtClean="0">
                <a:sym typeface="Symbol" pitchFamily="18" charset="2"/>
              </a:rPr>
              <a:t></a:t>
            </a:r>
            <a:r>
              <a:rPr lang="en-US" sz="3400" dirty="0" smtClean="0"/>
              <a:t> = {</a:t>
            </a:r>
            <a:r>
              <a:rPr lang="en-US" sz="3400" dirty="0" smtClean="0">
                <a:latin typeface="Courier New" pitchFamily="49" charset="0"/>
              </a:rPr>
              <a:t>a</a:t>
            </a:r>
            <a:r>
              <a:rPr lang="en-US" sz="3400" dirty="0" smtClean="0"/>
              <a:t>, </a:t>
            </a:r>
            <a:r>
              <a:rPr lang="en-US" sz="3400" dirty="0" smtClean="0">
                <a:latin typeface="Courier New" pitchFamily="49" charset="0"/>
              </a:rPr>
              <a:t>b</a:t>
            </a:r>
            <a:r>
              <a:rPr lang="en-US" sz="3400" dirty="0" smtClean="0"/>
              <a:t>}</a:t>
            </a:r>
          </a:p>
          <a:p>
            <a:pPr>
              <a:defRPr/>
            </a:pPr>
            <a:r>
              <a:rPr lang="en-US" dirty="0" smtClean="0"/>
              <a:t>L = { w </a:t>
            </a:r>
            <a:r>
              <a:rPr lang="en-US" dirty="0" smtClean="0">
                <a:sym typeface="Symbol" pitchFamily="18" charset="2"/>
              </a:rPr>
              <a:t> </a:t>
            </a:r>
            <a:r>
              <a:rPr lang="en-US" dirty="0" smtClean="0"/>
              <a:t>* :  |w| &lt; 5}</a:t>
            </a:r>
          </a:p>
          <a:p>
            <a:pPr>
              <a:defRPr/>
            </a:pPr>
            <a:r>
              <a:rPr lang="en-US" dirty="0" smtClean="0"/>
              <a:t>L = { w </a:t>
            </a:r>
            <a:r>
              <a:rPr lang="en-US" dirty="0" smtClean="0">
                <a:sym typeface="Symbol" pitchFamily="18" charset="2"/>
              </a:rPr>
              <a:t> </a:t>
            </a:r>
            <a:r>
              <a:rPr lang="en-US" dirty="0" smtClean="0"/>
              <a:t>* | w begins with b}</a:t>
            </a:r>
          </a:p>
          <a:p>
            <a:pPr>
              <a:defRPr/>
            </a:pPr>
            <a:r>
              <a:rPr lang="en-US" dirty="0" smtClean="0"/>
              <a:t>L = { w </a:t>
            </a:r>
            <a:r>
              <a:rPr lang="en-US" dirty="0" smtClean="0">
                <a:sym typeface="Symbol" pitchFamily="18" charset="2"/>
              </a:rPr>
              <a:t> </a:t>
            </a:r>
            <a:r>
              <a:rPr lang="en-US" dirty="0" smtClean="0"/>
              <a:t>* | #</a:t>
            </a:r>
            <a:r>
              <a:rPr lang="en-US" baseline="-25000" dirty="0" smtClean="0"/>
              <a:t>b</a:t>
            </a:r>
            <a:r>
              <a:rPr lang="en-US" dirty="0" smtClean="0"/>
              <a:t>(w) = 2}</a:t>
            </a:r>
          </a:p>
          <a:p>
            <a:pPr>
              <a:defRPr/>
            </a:pPr>
            <a:r>
              <a:rPr lang="en-US" dirty="0" smtClean="0"/>
              <a:t>L = { w </a:t>
            </a:r>
            <a:r>
              <a:rPr lang="en-US" dirty="0" smtClean="0">
                <a:sym typeface="Symbol" pitchFamily="18" charset="2"/>
              </a:rPr>
              <a:t> </a:t>
            </a:r>
            <a:r>
              <a:rPr lang="en-US" dirty="0" smtClean="0"/>
              <a:t>* | each a is followed by exactly 2 b’s}</a:t>
            </a:r>
          </a:p>
          <a:p>
            <a:pPr>
              <a:defRPr/>
            </a:pPr>
            <a:r>
              <a:rPr lang="en-US" dirty="0" smtClean="0"/>
              <a:t>L = { w </a:t>
            </a:r>
            <a:r>
              <a:rPr lang="en-US" dirty="0" smtClean="0">
                <a:sym typeface="Symbol" pitchFamily="18" charset="2"/>
              </a:rPr>
              <a:t> </a:t>
            </a:r>
            <a:r>
              <a:rPr lang="en-US" dirty="0" smtClean="0"/>
              <a:t>* | w does not begin with a}</a:t>
            </a:r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3482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E3C433B-CCA9-4059-A4F4-C49BC5B13DFF}" type="slidenum">
              <a:rPr lang="en-US" smtClean="0"/>
              <a:pPr/>
              <a:t>27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914400" y="76200"/>
            <a:ext cx="8001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The Perils of Using English</a:t>
            </a:r>
            <a:r>
              <a:rPr lang="en-US" sz="360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830263" y="1295400"/>
            <a:ext cx="7543800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1"/>
              <a:t>L</a:t>
            </a:r>
            <a:r>
              <a:rPr lang="en-US" sz="3200"/>
              <a:t> = {</a:t>
            </a:r>
            <a:r>
              <a:rPr lang="en-US" sz="3200" i="1"/>
              <a:t>x</a:t>
            </a:r>
            <a:r>
              <a:rPr lang="en-US" sz="3200"/>
              <a:t>#</a:t>
            </a:r>
            <a:r>
              <a:rPr lang="en-US" sz="3200" i="1"/>
              <a:t>y</a:t>
            </a:r>
            <a:r>
              <a:rPr lang="en-US" sz="3200"/>
              <a:t>: </a:t>
            </a:r>
            <a:r>
              <a:rPr lang="en-US" sz="3200" i="1"/>
              <a:t>x</a:t>
            </a:r>
            <a:r>
              <a:rPr lang="en-US" sz="3200"/>
              <a:t>, </a:t>
            </a:r>
            <a:r>
              <a:rPr lang="en-US" sz="3200" i="1"/>
              <a:t>y</a:t>
            </a:r>
            <a:r>
              <a:rPr lang="en-US" sz="3200"/>
              <a:t> </a:t>
            </a:r>
            <a:r>
              <a:rPr lang="en-US" sz="3200">
                <a:sym typeface="Symbol" pitchFamily="18" charset="2"/>
              </a:rPr>
              <a:t></a:t>
            </a:r>
            <a:r>
              <a:rPr lang="en-US" sz="3200"/>
              <a:t> {</a:t>
            </a:r>
            <a:r>
              <a:rPr lang="en-US" sz="3200">
                <a:latin typeface="Courier New" pitchFamily="49" charset="0"/>
              </a:rPr>
              <a:t>0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1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2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3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4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5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6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7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8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9</a:t>
            </a:r>
            <a:r>
              <a:rPr lang="en-US" sz="3200"/>
              <a:t>}* and, when x &amp; y are viewed as decimal representations of natural numbers, </a:t>
            </a:r>
            <a:r>
              <a:rPr lang="en-US" sz="3200" i="1"/>
              <a:t>square</a:t>
            </a:r>
            <a:r>
              <a:rPr lang="en-US" sz="3200"/>
              <a:t>(</a:t>
            </a:r>
            <a:r>
              <a:rPr lang="en-US" sz="3200" i="1"/>
              <a:t>x</a:t>
            </a:r>
            <a:r>
              <a:rPr lang="en-US" sz="3200"/>
              <a:t>) = </a:t>
            </a:r>
            <a:r>
              <a:rPr lang="en-US" sz="3200" i="1"/>
              <a:t>y</a:t>
            </a:r>
            <a:r>
              <a:rPr lang="en-US" sz="3200"/>
              <a:t>}.</a:t>
            </a:r>
          </a:p>
          <a:p>
            <a:endParaRPr lang="en-US" sz="3200"/>
          </a:p>
          <a:p>
            <a:r>
              <a:rPr lang="en-US" sz="3200"/>
              <a:t>Examples:</a:t>
            </a:r>
          </a:p>
          <a:p>
            <a:r>
              <a:rPr lang="en-US" sz="3200">
                <a:latin typeface="Courier New" pitchFamily="49" charset="0"/>
              </a:rPr>
              <a:t>	3#9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12#144</a:t>
            </a:r>
          </a:p>
          <a:p>
            <a:r>
              <a:rPr lang="en-US" sz="3200">
                <a:latin typeface="Courier New" pitchFamily="49" charset="0"/>
              </a:rPr>
              <a:t>	3#8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12</a:t>
            </a:r>
            <a:r>
              <a:rPr lang="en-US" sz="3200"/>
              <a:t>, </a:t>
            </a:r>
            <a:r>
              <a:rPr lang="en-US" sz="3200">
                <a:latin typeface="Courier New" pitchFamily="49" charset="0"/>
              </a:rPr>
              <a:t>12#12#12</a:t>
            </a:r>
          </a:p>
          <a:p>
            <a:r>
              <a:rPr lang="en-US" sz="3200">
                <a:latin typeface="Courier New" pitchFamily="49" charset="0"/>
              </a:rPr>
              <a:t>	#</a:t>
            </a:r>
          </a:p>
          <a:p>
            <a:endParaRPr lang="en-US" sz="2400" i="1"/>
          </a:p>
        </p:txBody>
      </p:sp>
      <p:sp>
        <p:nvSpPr>
          <p:cNvPr id="3584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9FDF6C3-921A-4802-A578-845F849A864F}" type="slidenum">
              <a:rPr lang="en-US" smtClean="0"/>
              <a:pPr/>
              <a:t>28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 smtClean="0"/>
              <a:t>A Halting Problem Language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838200" y="1676400"/>
            <a:ext cx="79248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i="1">
                <a:solidFill>
                  <a:srgbClr val="002060"/>
                </a:solidFill>
              </a:rPr>
              <a:t>L</a:t>
            </a:r>
            <a:r>
              <a:rPr lang="en-US" sz="3200">
                <a:solidFill>
                  <a:srgbClr val="002060"/>
                </a:solidFill>
              </a:rPr>
              <a:t> = {</a:t>
            </a:r>
            <a:r>
              <a:rPr lang="en-US" sz="3200" i="1">
                <a:solidFill>
                  <a:srgbClr val="002060"/>
                </a:solidFill>
              </a:rPr>
              <a:t>w</a:t>
            </a:r>
            <a:r>
              <a:rPr lang="en-US" sz="3200">
                <a:solidFill>
                  <a:srgbClr val="002060"/>
                </a:solidFill>
              </a:rPr>
              <a:t> | </a:t>
            </a:r>
            <a:r>
              <a:rPr lang="en-US" sz="3200" i="1">
                <a:solidFill>
                  <a:srgbClr val="002060"/>
                </a:solidFill>
              </a:rPr>
              <a:t>w</a:t>
            </a:r>
            <a:r>
              <a:rPr lang="en-US" sz="3200">
                <a:solidFill>
                  <a:srgbClr val="002060"/>
                </a:solidFill>
              </a:rPr>
              <a:t> is a C++ program that halts on all inputs}</a:t>
            </a:r>
            <a:r>
              <a:rPr lang="en-US" sz="3200"/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/>
              <a:t> Well specified.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/>
              <a:t> Can we decide what strings it contains?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3200"/>
              <a:t>Do we want a generator or recognizer?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3200"/>
          </a:p>
        </p:txBody>
      </p:sp>
      <p:sp>
        <p:nvSpPr>
          <p:cNvPr id="3686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125ABD-B678-456B-9175-4FF10B53A2C4}" type="slidenum">
              <a:rPr lang="en-US" smtClean="0"/>
              <a:pPr/>
              <a:t>29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More Examples</a:t>
            </a:r>
            <a:r>
              <a:rPr lang="en-US" sz="360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219200" y="1143000"/>
            <a:ext cx="7162800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400" dirty="0"/>
          </a:p>
          <a:p>
            <a:r>
              <a:rPr lang="en-US" sz="2400" dirty="0">
                <a:solidFill>
                  <a:srgbClr val="002060"/>
                </a:solidFill>
              </a:rPr>
              <a:t>What strings are in the following languages?</a:t>
            </a:r>
          </a:p>
          <a:p>
            <a:endParaRPr lang="en-US" sz="2400" i="1" dirty="0"/>
          </a:p>
          <a:p>
            <a:r>
              <a:rPr lang="en-US" sz="2400" i="1" dirty="0"/>
              <a:t>L</a:t>
            </a:r>
            <a:r>
              <a:rPr lang="en-US" sz="2400" dirty="0"/>
              <a:t> = {</a:t>
            </a:r>
            <a:r>
              <a:rPr lang="en-US" sz="2400" i="1" dirty="0"/>
              <a:t>w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</a:t>
            </a:r>
            <a:r>
              <a:rPr lang="en-US" sz="2400" dirty="0"/>
              <a:t> {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dirty="0"/>
              <a:t>, </a:t>
            </a:r>
            <a:r>
              <a:rPr lang="en-US" sz="2400" dirty="0">
                <a:latin typeface="Courier New" pitchFamily="49" charset="0"/>
              </a:rPr>
              <a:t>b</a:t>
            </a:r>
            <a:r>
              <a:rPr lang="en-US" sz="2400" dirty="0"/>
              <a:t>}*: no prefix of </a:t>
            </a:r>
            <a:r>
              <a:rPr lang="en-US" sz="2400" i="1" dirty="0"/>
              <a:t>w</a:t>
            </a:r>
            <a:r>
              <a:rPr lang="en-US" sz="2400" dirty="0"/>
              <a:t> contains </a:t>
            </a:r>
            <a:r>
              <a:rPr lang="en-US" sz="2400" dirty="0">
                <a:latin typeface="Courier New" pitchFamily="49" charset="0"/>
              </a:rPr>
              <a:t>b</a:t>
            </a:r>
            <a:r>
              <a:rPr lang="en-US" sz="2400" dirty="0"/>
              <a:t>}</a:t>
            </a:r>
          </a:p>
          <a:p>
            <a:endParaRPr lang="en-US" sz="2400" i="1" dirty="0"/>
          </a:p>
          <a:p>
            <a:r>
              <a:rPr lang="en-US" sz="2400" i="1" dirty="0"/>
              <a:t>L</a:t>
            </a:r>
            <a:r>
              <a:rPr lang="en-US" sz="2400" dirty="0"/>
              <a:t> = {</a:t>
            </a:r>
            <a:r>
              <a:rPr lang="en-US" sz="2400" i="1" dirty="0"/>
              <a:t>w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</a:t>
            </a:r>
            <a:r>
              <a:rPr lang="en-US" sz="2400" dirty="0"/>
              <a:t> {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dirty="0"/>
              <a:t>, </a:t>
            </a:r>
            <a:r>
              <a:rPr lang="en-US" sz="2400" dirty="0">
                <a:latin typeface="Courier New" pitchFamily="49" charset="0"/>
              </a:rPr>
              <a:t>b</a:t>
            </a:r>
            <a:r>
              <a:rPr lang="en-US" sz="2400" dirty="0"/>
              <a:t>}*: no prefix of </a:t>
            </a:r>
            <a:r>
              <a:rPr lang="en-US" sz="2400" i="1" dirty="0"/>
              <a:t>w</a:t>
            </a:r>
            <a:r>
              <a:rPr lang="en-US" sz="2400" dirty="0"/>
              <a:t> starts with 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dirty="0"/>
              <a:t>}</a:t>
            </a:r>
          </a:p>
          <a:p>
            <a:endParaRPr lang="en-US" sz="2400" i="1" dirty="0"/>
          </a:p>
          <a:p>
            <a:r>
              <a:rPr lang="en-US" sz="2400" i="1" dirty="0"/>
              <a:t>L</a:t>
            </a:r>
            <a:r>
              <a:rPr lang="en-US" sz="2400" dirty="0"/>
              <a:t> = {</a:t>
            </a:r>
            <a:r>
              <a:rPr lang="en-US" sz="2400" i="1" dirty="0"/>
              <a:t>w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</a:t>
            </a:r>
            <a:r>
              <a:rPr lang="en-US" sz="2400" dirty="0"/>
              <a:t> {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dirty="0"/>
              <a:t>, </a:t>
            </a:r>
            <a:r>
              <a:rPr lang="en-US" sz="2400" dirty="0">
                <a:latin typeface="Courier New" pitchFamily="49" charset="0"/>
              </a:rPr>
              <a:t>b</a:t>
            </a:r>
            <a:r>
              <a:rPr lang="en-US" sz="2400" dirty="0"/>
              <a:t>}*: every prefix of </a:t>
            </a:r>
            <a:r>
              <a:rPr lang="en-US" sz="2400" i="1" dirty="0"/>
              <a:t>w</a:t>
            </a:r>
            <a:r>
              <a:rPr lang="en-US" sz="2400" dirty="0"/>
              <a:t> starts with 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i="1" dirty="0"/>
              <a:t>L</a:t>
            </a:r>
            <a:r>
              <a:rPr lang="en-US" sz="2400" dirty="0"/>
              <a:t> = {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i="1" baseline="30000" dirty="0"/>
              <a:t>n</a:t>
            </a:r>
            <a:r>
              <a:rPr lang="en-US" sz="2400" dirty="0"/>
              <a:t> :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</a:t>
            </a:r>
            <a:r>
              <a:rPr lang="en-US" sz="2400" dirty="0"/>
              <a:t> 0}</a:t>
            </a:r>
          </a:p>
          <a:p>
            <a:endParaRPr lang="en-US" sz="2400" dirty="0"/>
          </a:p>
          <a:p>
            <a:r>
              <a:rPr lang="en-US" sz="2400" i="1" dirty="0"/>
              <a:t>L</a:t>
            </a:r>
            <a:r>
              <a:rPr lang="en-US" sz="2400" dirty="0"/>
              <a:t> = {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400" dirty="0">
                <a:latin typeface="Courier New" pitchFamily="49" charset="0"/>
              </a:rPr>
              <a:t>a</a:t>
            </a:r>
            <a:r>
              <a:rPr lang="en-US" sz="2400" baseline="30000" dirty="0">
                <a:latin typeface="Courier New" pitchFamily="49" charset="0"/>
              </a:rPr>
              <a:t>2</a:t>
            </a:r>
            <a:r>
              <a:rPr lang="en-US" sz="2400" i="1" baseline="30000" dirty="0"/>
              <a:t>n</a:t>
            </a:r>
            <a:r>
              <a:rPr lang="en-US" sz="2400" dirty="0"/>
              <a:t> :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</a:t>
            </a:r>
            <a:r>
              <a:rPr lang="en-US" sz="2400" dirty="0"/>
              <a:t> 0}</a:t>
            </a:r>
          </a:p>
          <a:p>
            <a:endParaRPr lang="en-US" sz="2400" dirty="0"/>
          </a:p>
          <a:p>
            <a:r>
              <a:rPr lang="en-US" sz="2400" i="1" dirty="0"/>
              <a:t>L</a:t>
            </a:r>
            <a:r>
              <a:rPr lang="en-US" sz="2400" dirty="0"/>
              <a:t> = {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400" baseline="30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400" dirty="0" err="1">
                <a:latin typeface="Courier New" pitchFamily="49" charset="0"/>
              </a:rPr>
              <a:t>a</a:t>
            </a:r>
            <a:r>
              <a:rPr lang="en-US" sz="2400" i="1" baseline="30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400" dirty="0"/>
              <a:t> :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</a:t>
            </a:r>
            <a:r>
              <a:rPr lang="en-US" sz="2400" dirty="0"/>
              <a:t> 0}</a:t>
            </a:r>
          </a:p>
          <a:p>
            <a:endParaRPr lang="en-US" sz="2400" dirty="0"/>
          </a:p>
        </p:txBody>
      </p:sp>
      <p:sp>
        <p:nvSpPr>
          <p:cNvPr id="3789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97768D-038F-4B1E-96A4-F92C1EDAFC57}" type="slidenum">
              <a:rPr lang="en-US" smtClean="0"/>
              <a:pPr/>
              <a:t>30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914400" y="76200"/>
            <a:ext cx="8001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Enumeration</a:t>
            </a:r>
            <a:r>
              <a:rPr lang="en-US" sz="360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785813" y="1447800"/>
            <a:ext cx="7977187" cy="42783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>
                <a:solidFill>
                  <a:srgbClr val="7030A0"/>
                </a:solidFill>
              </a:rPr>
              <a:t>Enumeration</a:t>
            </a:r>
            <a:r>
              <a:rPr lang="en-US" sz="2800" dirty="0" smtClean="0"/>
              <a:t>: to list all strings in a language (set)</a:t>
            </a:r>
          </a:p>
          <a:p>
            <a:pPr eaLnBrk="1" hangingPunct="1">
              <a:defRPr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800" dirty="0" smtClean="0"/>
              <a:t>Arbitrary order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800" dirty="0" smtClean="0"/>
              <a:t>More useful: </a:t>
            </a:r>
            <a:r>
              <a:rPr lang="en-US" sz="2800" b="1" i="1" dirty="0" smtClean="0">
                <a:solidFill>
                  <a:srgbClr val="7030A0"/>
                </a:solidFill>
              </a:rPr>
              <a:t>lexicographic order</a:t>
            </a:r>
          </a:p>
          <a:p>
            <a:pPr marL="1257300" lvl="2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Shortest first</a:t>
            </a:r>
          </a:p>
          <a:p>
            <a:pPr marL="1257300" lvl="2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Within a length, dictionary order</a:t>
            </a:r>
          </a:p>
          <a:p>
            <a:pPr marL="1257300" lvl="2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Define linear order of arbitrary symbols</a:t>
            </a:r>
          </a:p>
          <a:p>
            <a:pPr lvl="2" eaLnBrk="1" hangingPunct="1">
              <a:defRPr/>
            </a:pPr>
            <a:endParaRPr lang="en-US" sz="2400" dirty="0" smtClean="0"/>
          </a:p>
          <a:p>
            <a:pPr lvl="2" eaLnBrk="1" hangingPunct="1">
              <a:defRPr/>
            </a:pPr>
            <a:endParaRPr lang="en-US" sz="2400" dirty="0" smtClean="0"/>
          </a:p>
        </p:txBody>
      </p:sp>
      <p:sp>
        <p:nvSpPr>
          <p:cNvPr id="3891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53571AB-E698-417D-9972-11CAE8B145A7}" type="slidenum">
              <a:rPr lang="en-US" smtClean="0"/>
              <a:pPr/>
              <a:t>31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Lexicographic Enumeration</a:t>
            </a:r>
            <a:endParaRPr lang="en-US" dirty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762000" y="1676400"/>
            <a:ext cx="79248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solidFill>
                  <a:srgbClr val="002060"/>
                </a:solidFill>
              </a:rPr>
              <a:t>{</a:t>
            </a:r>
            <a:r>
              <a:rPr lang="en-US" i="1" dirty="0" smtClean="0">
                <a:solidFill>
                  <a:srgbClr val="002060"/>
                </a:solidFill>
              </a:rPr>
              <a:t>w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  <a:sym typeface="Symbol" pitchFamily="18" charset="2"/>
              </a:rPr>
              <a:t></a:t>
            </a:r>
            <a:r>
              <a:rPr lang="en-US" dirty="0" smtClean="0">
                <a:solidFill>
                  <a:srgbClr val="002060"/>
                </a:solidFill>
              </a:rPr>
              <a:t> {</a:t>
            </a:r>
            <a:r>
              <a:rPr lang="en-US" dirty="0" smtClean="0">
                <a:solidFill>
                  <a:srgbClr val="002060"/>
                </a:solidFill>
                <a:latin typeface="Courier New" pitchFamily="49" charset="0"/>
              </a:rPr>
              <a:t>a</a:t>
            </a:r>
            <a:r>
              <a:rPr lang="en-US" dirty="0" smtClean="0">
                <a:solidFill>
                  <a:srgbClr val="002060"/>
                </a:solidFill>
              </a:rPr>
              <a:t>, </a:t>
            </a:r>
            <a:r>
              <a:rPr lang="en-US" dirty="0" smtClean="0">
                <a:solidFill>
                  <a:srgbClr val="002060"/>
                </a:solidFill>
                <a:latin typeface="Courier New" pitchFamily="49" charset="0"/>
              </a:rPr>
              <a:t>b</a:t>
            </a:r>
            <a:r>
              <a:rPr lang="en-US" dirty="0" smtClean="0">
                <a:solidFill>
                  <a:srgbClr val="002060"/>
                </a:solidFill>
              </a:rPr>
              <a:t>}* : |</a:t>
            </a:r>
            <a:r>
              <a:rPr lang="en-US" i="1" dirty="0" smtClean="0">
                <a:solidFill>
                  <a:srgbClr val="002060"/>
                </a:solidFill>
              </a:rPr>
              <a:t>w</a:t>
            </a:r>
            <a:r>
              <a:rPr lang="en-US" dirty="0" smtClean="0">
                <a:solidFill>
                  <a:srgbClr val="002060"/>
                </a:solidFill>
              </a:rPr>
              <a:t>| is even}</a:t>
            </a:r>
          </a:p>
          <a:p>
            <a:pPr marL="0" indent="0">
              <a:buFontTx/>
              <a:buNone/>
            </a:pP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002060"/>
                </a:solidFill>
                <a:sym typeface="Symbol" pitchFamily="18" charset="2"/>
              </a:rPr>
              <a:t>{, </a:t>
            </a:r>
            <a:r>
              <a:rPr lang="en-US" sz="2800" dirty="0" err="1" smtClean="0">
                <a:solidFill>
                  <a:srgbClr val="002060"/>
                </a:solidFill>
                <a:sym typeface="Symbol" pitchFamily="18" charset="2"/>
              </a:rPr>
              <a:t>aa</a:t>
            </a:r>
            <a:r>
              <a:rPr lang="en-US" sz="2800" dirty="0" smtClean="0">
                <a:solidFill>
                  <a:srgbClr val="002060"/>
                </a:solidFill>
                <a:sym typeface="Symbol" pitchFamily="18" charset="2"/>
              </a:rPr>
              <a:t>, </a:t>
            </a:r>
            <a:r>
              <a:rPr lang="en-US" sz="2800" dirty="0" err="1" smtClean="0">
                <a:solidFill>
                  <a:srgbClr val="002060"/>
                </a:solidFill>
                <a:sym typeface="Symbol" pitchFamily="18" charset="2"/>
              </a:rPr>
              <a:t>ab</a:t>
            </a:r>
            <a:r>
              <a:rPr lang="en-US" sz="2800" dirty="0" smtClean="0">
                <a:solidFill>
                  <a:srgbClr val="002060"/>
                </a:solidFill>
                <a:sym typeface="Symbol" pitchFamily="18" charset="2"/>
              </a:rPr>
              <a:t>, bb, </a:t>
            </a:r>
            <a:r>
              <a:rPr lang="en-US" sz="2800" dirty="0" err="1" smtClean="0">
                <a:solidFill>
                  <a:srgbClr val="002060"/>
                </a:solidFill>
                <a:sym typeface="Symbol" pitchFamily="18" charset="2"/>
              </a:rPr>
              <a:t>aaaa</a:t>
            </a:r>
            <a:r>
              <a:rPr lang="en-US" sz="2800" dirty="0" smtClean="0">
                <a:solidFill>
                  <a:srgbClr val="002060"/>
                </a:solidFill>
                <a:sym typeface="Symbol" pitchFamily="18" charset="2"/>
              </a:rPr>
              <a:t>, </a:t>
            </a:r>
            <a:r>
              <a:rPr lang="en-US" sz="2800" dirty="0" err="1" smtClean="0">
                <a:solidFill>
                  <a:srgbClr val="002060"/>
                </a:solidFill>
                <a:sym typeface="Symbol" pitchFamily="18" charset="2"/>
              </a:rPr>
              <a:t>aaab</a:t>
            </a:r>
            <a:r>
              <a:rPr lang="en-US" sz="2800" dirty="0" smtClean="0">
                <a:solidFill>
                  <a:srgbClr val="002060"/>
                </a:solidFill>
                <a:sym typeface="Symbol" pitchFamily="18" charset="2"/>
              </a:rPr>
              <a:t>, …}</a:t>
            </a:r>
          </a:p>
          <a:p>
            <a:pPr marL="0" indent="0">
              <a:buFontTx/>
              <a:buNone/>
            </a:pPr>
            <a:endParaRPr lang="en-US" sz="2800" dirty="0" smtClean="0">
              <a:sym typeface="Symbol" pitchFamily="18" charset="2"/>
            </a:endParaRPr>
          </a:p>
          <a:p>
            <a:pPr marL="0" indent="0">
              <a:buFontTx/>
              <a:buNone/>
            </a:pPr>
            <a:r>
              <a:rPr lang="en-US" sz="2800" dirty="0" smtClean="0">
                <a:sym typeface="Symbol" pitchFamily="18" charset="2"/>
              </a:rPr>
              <a:t>	What string is next?	</a:t>
            </a:r>
          </a:p>
          <a:p>
            <a:pPr marL="0" indent="0">
              <a:buFontTx/>
              <a:buNone/>
            </a:pPr>
            <a:r>
              <a:rPr lang="en-US" sz="2800" dirty="0" smtClean="0">
                <a:sym typeface="Symbol" pitchFamily="18" charset="2"/>
              </a:rPr>
              <a:t>	How many strings of length 4?</a:t>
            </a:r>
            <a:endParaRPr lang="en-US" sz="2800" dirty="0" smtClean="0"/>
          </a:p>
          <a:p>
            <a:pPr marL="0" indent="0">
              <a:buFontTx/>
              <a:buNone/>
            </a:pPr>
            <a:r>
              <a:rPr lang="en-US" sz="2800" dirty="0" smtClean="0"/>
              <a:t>	How many strings of length 6?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A001493-B78C-4308-A477-7B90F556934D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914400" y="379413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Cardinality of a Language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762000" y="1828800"/>
            <a:ext cx="8153400" cy="4124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n-US" sz="1000" dirty="0" smtClean="0"/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rgbClr val="7030A0"/>
                </a:solidFill>
              </a:rPr>
              <a:t>Cardinality of a Language</a:t>
            </a:r>
            <a:r>
              <a:rPr lang="en-US" sz="2800" dirty="0" smtClean="0"/>
              <a:t>: the number of strings in the language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| L | 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Smallest language over any </a:t>
            </a:r>
            <a:r>
              <a:rPr lang="en-US" sz="2800" dirty="0" smtClean="0">
                <a:sym typeface="Symbol" pitchFamily="18" charset="2"/>
              </a:rPr>
              <a:t></a:t>
            </a:r>
            <a:r>
              <a:rPr lang="en-US" sz="2800" dirty="0" smtClean="0"/>
              <a:t> is </a:t>
            </a:r>
            <a:r>
              <a:rPr lang="en-US" sz="2800" dirty="0" smtClean="0">
                <a:sym typeface="Symbol" pitchFamily="18" charset="2"/>
              </a:rPr>
              <a:t>, with cardinality 0</a:t>
            </a:r>
            <a:r>
              <a:rPr lang="en-US" sz="2800" dirty="0" smtClean="0"/>
              <a:t>.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The largest is </a:t>
            </a:r>
            <a:r>
              <a:rPr lang="en-US" sz="2800" dirty="0" smtClean="0">
                <a:sym typeface="Symbol" pitchFamily="18" charset="2"/>
              </a:rPr>
              <a:t>*.  </a:t>
            </a:r>
          </a:p>
          <a:p>
            <a:pPr marL="1085850" lvl="1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>
                <a:sym typeface="Symbol" pitchFamily="18" charset="2"/>
              </a:rPr>
              <a:t>Is this true?</a:t>
            </a:r>
          </a:p>
          <a:p>
            <a:pPr marL="1085850" lvl="1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>
                <a:sym typeface="Symbol" pitchFamily="18" charset="2"/>
              </a:rPr>
              <a:t>How big is it?</a:t>
            </a:r>
            <a:r>
              <a:rPr lang="en-US" sz="2800" dirty="0" smtClean="0"/>
              <a:t> </a:t>
            </a:r>
          </a:p>
          <a:p>
            <a:pPr marL="342900" indent="-3429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Can a language be </a:t>
            </a:r>
            <a:r>
              <a:rPr lang="en-US" sz="2800" dirty="0" smtClean="0">
                <a:solidFill>
                  <a:srgbClr val="7030A0"/>
                </a:solidFill>
              </a:rPr>
              <a:t>uncountable</a:t>
            </a:r>
            <a:r>
              <a:rPr lang="en-US" sz="2800" dirty="0" smtClean="0"/>
              <a:t>?</a:t>
            </a:r>
          </a:p>
        </p:txBody>
      </p:sp>
      <p:sp>
        <p:nvSpPr>
          <p:cNvPr id="4096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1B32D1-783A-42B4-A3B8-E194F4B84B09}" type="slidenum">
              <a:rPr lang="en-US" smtClean="0"/>
              <a:pPr/>
              <a:t>33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914400" y="1524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Countably Infinite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066800" y="1295400"/>
            <a:ext cx="7848600" cy="535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dirty="0"/>
              <a:t>Theorem:</a:t>
            </a:r>
            <a:r>
              <a:rPr lang="en-US" sz="2400" dirty="0"/>
              <a:t>  If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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</a:t>
            </a:r>
            <a:r>
              <a:rPr lang="en-US" sz="2400" dirty="0"/>
              <a:t> then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dirty="0"/>
              <a:t>* is </a:t>
            </a:r>
            <a:r>
              <a:rPr lang="en-US" sz="2400" dirty="0" err="1"/>
              <a:t>countably</a:t>
            </a:r>
            <a:r>
              <a:rPr lang="en-US" sz="2400" dirty="0"/>
              <a:t> infinite.</a:t>
            </a:r>
          </a:p>
          <a:p>
            <a:endParaRPr lang="en-US" sz="1000" b="1" i="1" dirty="0"/>
          </a:p>
          <a:p>
            <a:r>
              <a:rPr lang="en-US" sz="2400" b="1" i="1" dirty="0"/>
              <a:t>Proof:</a:t>
            </a:r>
            <a:r>
              <a:rPr lang="en-US" sz="2400" dirty="0"/>
              <a:t> The elements of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dirty="0"/>
              <a:t>* can be lexicographically enumerated by the following procedure:</a:t>
            </a:r>
          </a:p>
          <a:p>
            <a:r>
              <a:rPr lang="en-US" sz="2400" dirty="0"/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 </a:t>
            </a:r>
            <a:r>
              <a:rPr lang="en-US" sz="2400" dirty="0"/>
              <a:t>Enumerate all strings of length 0, then length 1, 	   then length 2, and so forth.</a:t>
            </a:r>
          </a:p>
          <a:p>
            <a:r>
              <a:rPr lang="en-US" sz="2400" dirty="0"/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 </a:t>
            </a:r>
            <a:r>
              <a:rPr lang="en-US" sz="2400" dirty="0"/>
              <a:t>Within the strings of a given length, enumerate 	   them in dictionary order.</a:t>
            </a:r>
          </a:p>
          <a:p>
            <a:endParaRPr lang="en-US" sz="1000" dirty="0"/>
          </a:p>
          <a:p>
            <a:r>
              <a:rPr lang="en-US" sz="2400" dirty="0"/>
              <a:t>This enumeration is infinite since there is no longest string in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dirty="0"/>
              <a:t>*.  Since there exists an infinite enumeration of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dirty="0"/>
              <a:t>*, it is </a:t>
            </a:r>
            <a:r>
              <a:rPr lang="en-US" sz="2400" dirty="0" err="1"/>
              <a:t>countably</a:t>
            </a:r>
            <a:r>
              <a:rPr lang="en-US" sz="2400" dirty="0"/>
              <a:t> infinite. </a:t>
            </a:r>
          </a:p>
          <a:p>
            <a:endParaRPr lang="en-US" sz="2400" dirty="0"/>
          </a:p>
          <a:p>
            <a:pPr algn="r"/>
            <a:endParaRPr lang="en-US" sz="2400" dirty="0">
              <a:sym typeface="Wingdings" pitchFamily="2" charset="2"/>
            </a:endParaRPr>
          </a:p>
          <a:p>
            <a:pPr algn="r"/>
            <a:endParaRPr lang="en-US" sz="2400" dirty="0">
              <a:sym typeface="Wingdings" pitchFamily="2" charset="2"/>
            </a:endParaRPr>
          </a:p>
          <a:p>
            <a:pPr algn="r"/>
            <a:endParaRPr lang="en-US" sz="1000" dirty="0"/>
          </a:p>
        </p:txBody>
      </p:sp>
      <p:sp>
        <p:nvSpPr>
          <p:cNvPr id="4198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BB41698-238B-4949-AD98-0ADC4CC5A3A3}" type="slidenum">
              <a:rPr lang="en-US" smtClean="0"/>
              <a:pPr/>
              <a:t>34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762000" y="1524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How Many Languages Are There?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066800" y="1679575"/>
            <a:ext cx="784860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i="1"/>
              <a:t>Theorem:</a:t>
            </a:r>
            <a:r>
              <a:rPr lang="en-US" sz="2800"/>
              <a:t> If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/>
              <a:t> </a:t>
            </a:r>
            <a:r>
              <a:rPr lang="en-US" sz="2800">
                <a:sym typeface="Symbol" pitchFamily="18" charset="2"/>
              </a:rPr>
              <a:t></a:t>
            </a:r>
            <a:r>
              <a:rPr lang="en-US" sz="2800"/>
              <a:t> </a:t>
            </a:r>
            <a:r>
              <a:rPr lang="en-US" sz="2800">
                <a:sym typeface="Symbol" pitchFamily="18" charset="2"/>
              </a:rPr>
              <a:t></a:t>
            </a:r>
            <a:r>
              <a:rPr lang="en-US" sz="2800"/>
              <a:t> then the set of languages over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/>
              <a:t> is uncountably infinite (uncountable).</a:t>
            </a:r>
          </a:p>
          <a:p>
            <a:endParaRPr lang="en-US" sz="2800" b="1" i="1"/>
          </a:p>
          <a:p>
            <a:r>
              <a:rPr lang="en-US" sz="2800" b="1" i="1"/>
              <a:t>Proof:</a:t>
            </a:r>
            <a:r>
              <a:rPr lang="en-US" sz="2800"/>
              <a:t>  The set of languages defined on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/>
              <a:t> is </a:t>
            </a:r>
            <a:r>
              <a:rPr lang="en-US" sz="2800">
                <a:latin typeface="French Script MT" pitchFamily="66" charset="0"/>
              </a:rPr>
              <a:t>P</a:t>
            </a:r>
            <a:r>
              <a:rPr lang="en-US" sz="2800"/>
              <a:t>(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/>
              <a:t>*).  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/>
              <a:t>* is countably infinite.  By Theorem A.4, if </a:t>
            </a:r>
            <a:r>
              <a:rPr lang="en-US" sz="2800" i="1"/>
              <a:t>S</a:t>
            </a:r>
            <a:r>
              <a:rPr lang="en-US" sz="2800"/>
              <a:t> is a countably infinite set, </a:t>
            </a:r>
            <a:r>
              <a:rPr lang="en-US" sz="2800">
                <a:latin typeface="French Script MT" pitchFamily="66" charset="0"/>
              </a:rPr>
              <a:t>P</a:t>
            </a:r>
            <a:r>
              <a:rPr lang="en-US" sz="2800"/>
              <a:t>(</a:t>
            </a:r>
            <a:r>
              <a:rPr lang="en-US" sz="2800" i="1"/>
              <a:t>S</a:t>
            </a:r>
            <a:r>
              <a:rPr lang="en-US" sz="2800"/>
              <a:t>) is uncountably infinite.  So </a:t>
            </a:r>
            <a:r>
              <a:rPr lang="en-US" sz="2800">
                <a:latin typeface="French Script MT" pitchFamily="66" charset="0"/>
              </a:rPr>
              <a:t>P</a:t>
            </a:r>
            <a:r>
              <a:rPr lang="en-US" sz="2800"/>
              <a:t>(</a:t>
            </a:r>
            <a:r>
              <a:rPr lang="en-US" sz="2800">
                <a:sym typeface="Symbol" pitchFamily="18" charset="2"/>
              </a:rPr>
              <a:t></a:t>
            </a:r>
            <a:r>
              <a:rPr lang="en-US" sz="2800"/>
              <a:t>*) is uncountably infinite.</a:t>
            </a:r>
          </a:p>
          <a:p>
            <a:endParaRPr lang="en-US" sz="2800"/>
          </a:p>
          <a:p>
            <a:r>
              <a:rPr lang="en-US" sz="2800">
                <a:solidFill>
                  <a:srgbClr val="7030A0"/>
                </a:solidFill>
              </a:rPr>
              <a:t>What does this mean?!?!?!</a:t>
            </a:r>
            <a:r>
              <a:rPr lang="en-US" sz="2800"/>
              <a:t>  </a:t>
            </a:r>
            <a:endParaRPr lang="en-US" sz="2800">
              <a:sym typeface="Wingdings" pitchFamily="2" charset="2"/>
            </a:endParaRPr>
          </a:p>
          <a:p>
            <a:pPr algn="r"/>
            <a:endParaRPr lang="en-US" sz="2000">
              <a:sym typeface="Wingdings" pitchFamily="2" charset="2"/>
            </a:endParaRPr>
          </a:p>
        </p:txBody>
      </p:sp>
      <p:sp>
        <p:nvSpPr>
          <p:cNvPr id="4301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F5D685-1DC6-4B77-BF28-8B6550294FDB}" type="slidenum">
              <a:rPr lang="en-US" smtClean="0"/>
              <a:pPr/>
              <a:t>35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762000" y="1524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Functions on Languages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371600" y="1679575"/>
            <a:ext cx="5791200" cy="44005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Set (Language) functions</a:t>
            </a:r>
          </a:p>
          <a:p>
            <a:pPr eaLnBrk="1" hangingPunct="1">
              <a:defRPr/>
            </a:pPr>
            <a:r>
              <a:rPr lang="en-US" sz="2800" dirty="0" smtClean="0"/>
              <a:t>Have the traditional meaning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Union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Intersection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Complement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US" sz="2800" dirty="0" smtClean="0"/>
              <a:t>Difference</a:t>
            </a:r>
          </a:p>
          <a:p>
            <a:pPr lvl="2"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2800" dirty="0" smtClean="0"/>
              <a:t>Language functions</a:t>
            </a:r>
          </a:p>
          <a:p>
            <a:pPr lvl="2" eaLnBrk="1" hangingPunct="1"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800" dirty="0" smtClean="0"/>
              <a:t>Concatenation</a:t>
            </a:r>
          </a:p>
          <a:p>
            <a:pPr lvl="2" eaLnBrk="1" hangingPunct="1"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800" dirty="0" err="1" smtClean="0"/>
              <a:t>Kleene</a:t>
            </a:r>
            <a:r>
              <a:rPr lang="en-US" sz="2800" dirty="0" smtClean="0"/>
              <a:t> star</a:t>
            </a:r>
          </a:p>
        </p:txBody>
      </p:sp>
      <p:sp>
        <p:nvSpPr>
          <p:cNvPr id="4403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7B8BB0F-468E-4399-8D0B-7D837900F6B6}" type="slidenum">
              <a:rPr lang="en-US" smtClean="0"/>
              <a:pPr/>
              <a:t>36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762000" y="762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Concatenation of Languages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838200" y="1143000"/>
            <a:ext cx="8077200" cy="4154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400" dirty="0" smtClean="0"/>
              <a:t>If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are languages over </a:t>
            </a:r>
            <a:r>
              <a:rPr lang="en-US" sz="2400" dirty="0" smtClean="0">
                <a:sym typeface="Symbol" pitchFamily="18" charset="2"/>
              </a:rPr>
              <a:t></a:t>
            </a:r>
            <a:r>
              <a:rPr lang="en-US" sz="2400" dirty="0" smtClean="0"/>
              <a:t>:</a:t>
            </a:r>
          </a:p>
          <a:p>
            <a:pPr eaLnBrk="1" hangingPunct="1">
              <a:defRPr/>
            </a:pPr>
            <a:endParaRPr lang="en-US" sz="2400" i="1" dirty="0" smtClean="0"/>
          </a:p>
          <a:p>
            <a:pPr eaLnBrk="1" hangingPunct="1">
              <a:defRPr/>
            </a:pPr>
            <a:r>
              <a:rPr lang="en-US" sz="2400" i="1" dirty="0" smtClean="0"/>
              <a:t>	L</a:t>
            </a:r>
            <a:r>
              <a:rPr lang="en-US" sz="2400" baseline="-25000" dirty="0" smtClean="0"/>
              <a:t>1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{</a:t>
            </a:r>
            <a:r>
              <a:rPr lang="en-US" sz="2400" i="1" dirty="0" smtClean="0"/>
              <a:t>w</a:t>
            </a:r>
            <a:r>
              <a:rPr lang="en-US" sz="2400" dirty="0" smtClean="0"/>
              <a:t> : </a:t>
            </a:r>
            <a:r>
              <a:rPr lang="en-US" sz="2400" dirty="0" smtClean="0">
                <a:sym typeface="Symbol" pitchFamily="18" charset="2"/>
              </a:rPr>
              <a:t></a:t>
            </a:r>
            <a:r>
              <a:rPr lang="en-US" sz="2400" i="1" dirty="0" smtClean="0"/>
              <a:t>s </a:t>
            </a:r>
            <a:r>
              <a:rPr lang="en-US" sz="2400" dirty="0" smtClean="0">
                <a:sym typeface="Symbol" pitchFamily="18" charset="2"/>
              </a:rPr>
              <a:t></a:t>
            </a:r>
            <a:r>
              <a:rPr lang="en-US" sz="2400" dirty="0" smtClean="0"/>
              <a:t>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&amp; </a:t>
            </a:r>
            <a:r>
              <a:rPr lang="en-US" sz="2400" dirty="0" smtClean="0">
                <a:sym typeface="Symbol" pitchFamily="18" charset="2"/>
              </a:rPr>
              <a:t></a:t>
            </a:r>
            <a:r>
              <a:rPr lang="en-US" sz="2400" i="1" dirty="0" smtClean="0"/>
              <a:t>t </a:t>
            </a:r>
            <a:r>
              <a:rPr lang="en-US" sz="2400" dirty="0" smtClean="0">
                <a:sym typeface="Symbol" pitchFamily="18" charset="2"/>
              </a:rPr>
              <a:t></a:t>
            </a:r>
            <a:r>
              <a:rPr lang="en-US" sz="2400" dirty="0" smtClean="0"/>
              <a:t>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</a:t>
            </a:r>
            <a:r>
              <a:rPr lang="el-GR" sz="2400" dirty="0" smtClean="0"/>
              <a:t>϶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 = </a:t>
            </a:r>
            <a:r>
              <a:rPr lang="en-US" sz="2400" i="1" dirty="0" err="1" smtClean="0"/>
              <a:t>st</a:t>
            </a:r>
            <a:r>
              <a:rPr lang="en-US" sz="2400" dirty="0" smtClean="0"/>
              <a:t> }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400" dirty="0" smtClean="0"/>
              <a:t>Examples:</a:t>
            </a:r>
          </a:p>
          <a:p>
            <a:pPr eaLnBrk="1" hangingPunct="1">
              <a:defRPr/>
            </a:pP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= {</a:t>
            </a:r>
            <a:r>
              <a:rPr lang="en-US" sz="2400" dirty="0" smtClean="0">
                <a:latin typeface="Courier New" pitchFamily="49" charset="0"/>
              </a:rPr>
              <a:t>cat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dog</a:t>
            </a:r>
            <a:r>
              <a:rPr lang="en-US" sz="2400" dirty="0" smtClean="0"/>
              <a:t>}           	</a:t>
            </a:r>
            <a:endParaRPr lang="en-US" sz="2400" i="1" dirty="0" smtClean="0"/>
          </a:p>
          <a:p>
            <a:pPr eaLnBrk="1" hangingPunct="1">
              <a:defRPr/>
            </a:pP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 {</a:t>
            </a:r>
            <a:r>
              <a:rPr lang="en-US" sz="2400" dirty="0" smtClean="0">
                <a:latin typeface="Courier New" pitchFamily="49" charset="0"/>
              </a:rPr>
              <a:t>apple</a:t>
            </a:r>
            <a:r>
              <a:rPr lang="en-US" sz="2400" dirty="0" smtClean="0"/>
              <a:t>, </a:t>
            </a:r>
            <a:r>
              <a:rPr lang="en-US" sz="2400" dirty="0" smtClean="0">
                <a:latin typeface="Courier New" pitchFamily="49" charset="0"/>
              </a:rPr>
              <a:t>pear</a:t>
            </a:r>
            <a:r>
              <a:rPr lang="en-US" sz="2400" dirty="0" smtClean="0"/>
              <a:t>}</a:t>
            </a:r>
            <a:endParaRPr lang="en-US" sz="2400" i="1" dirty="0" smtClean="0"/>
          </a:p>
          <a:p>
            <a:pPr eaLnBrk="1" hangingPunct="1">
              <a:defRPr/>
            </a:pP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=	{</a:t>
            </a:r>
            <a:r>
              <a:rPr lang="en-US" sz="2400" dirty="0" err="1" smtClean="0">
                <a:latin typeface="Courier New" pitchFamily="49" charset="0"/>
              </a:rPr>
              <a:t>catapple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catpear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dogapple</a:t>
            </a:r>
            <a:r>
              <a:rPr lang="en-US" sz="2400" dirty="0" smtClean="0"/>
              <a:t>, </a:t>
            </a:r>
            <a:r>
              <a:rPr lang="en-US" sz="2400" dirty="0" err="1" smtClean="0">
                <a:latin typeface="Courier New" pitchFamily="49" charset="0"/>
              </a:rPr>
              <a:t>dogpear</a:t>
            </a:r>
            <a:r>
              <a:rPr lang="en-US" sz="2400" dirty="0" smtClean="0"/>
              <a:t>}</a:t>
            </a:r>
          </a:p>
          <a:p>
            <a:pPr eaLnBrk="1" hangingPunct="1">
              <a:defRPr/>
            </a:pP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={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applecat,appledog,pearcat,peardog</a:t>
            </a:r>
            <a:r>
              <a:rPr lang="en-US" sz="2400" dirty="0" smtClean="0">
                <a:latin typeface="+mj-lt"/>
                <a:cs typeface="Courier New" pitchFamily="49" charset="0"/>
              </a:rPr>
              <a:t>}</a:t>
            </a:r>
            <a:endParaRPr lang="en-US" sz="2400" dirty="0" smtClean="0"/>
          </a:p>
          <a:p>
            <a:pPr eaLnBrk="1" hangingPunct="1">
              <a:defRPr/>
            </a:pPr>
            <a:endParaRPr lang="en-US" sz="2400" i="1" dirty="0" smtClean="0"/>
          </a:p>
          <a:p>
            <a:pPr eaLnBrk="1" hangingPunct="1">
              <a:defRPr/>
            </a:pPr>
            <a:endParaRPr lang="en-US" sz="2400" dirty="0" smtClean="0"/>
          </a:p>
        </p:txBody>
      </p:sp>
      <p:sp>
        <p:nvSpPr>
          <p:cNvPr id="4506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2A994E-75C3-41BC-8864-8FE0897888E9}" type="slidenum">
              <a:rPr lang="en-US" smtClean="0"/>
              <a:pPr/>
              <a:t>37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762000" y="762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Concatenation of Languages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990600" y="1295400"/>
            <a:ext cx="76962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} is the identity for concatenation:</a:t>
            </a:r>
          </a:p>
          <a:p>
            <a:endParaRPr lang="en-US" sz="2400" i="1"/>
          </a:p>
          <a:p>
            <a:r>
              <a:rPr lang="en-US" sz="2400" i="1"/>
              <a:t>    L</a:t>
            </a:r>
            <a:r>
              <a:rPr lang="en-US" sz="2400"/>
              <a:t>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} = 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}</a:t>
            </a:r>
            <a:r>
              <a:rPr lang="en-US" sz="2400" i="1"/>
              <a:t>L</a:t>
            </a:r>
            <a:r>
              <a:rPr lang="en-US" sz="2400"/>
              <a:t> = </a:t>
            </a:r>
            <a:r>
              <a:rPr lang="en-US" sz="2400" i="1"/>
              <a:t>L</a:t>
            </a:r>
          </a:p>
          <a:p>
            <a:endParaRPr lang="en-US" sz="2400">
              <a:sym typeface="Symbol" pitchFamily="18" charset="2"/>
            </a:endParaRPr>
          </a:p>
          <a:p>
            <a:endParaRPr lang="en-US" sz="2400">
              <a:sym typeface="Symbol" pitchFamily="18" charset="2"/>
            </a:endParaRPr>
          </a:p>
          <a:p>
            <a:endParaRPr lang="en-US" sz="2400">
              <a:sym typeface="Symbol" pitchFamily="18" charset="2"/>
            </a:endParaRPr>
          </a:p>
          <a:p>
            <a:r>
              <a:rPr lang="en-US" sz="2400">
                <a:sym typeface="Symbol" pitchFamily="18" charset="2"/>
              </a:rPr>
              <a:t></a:t>
            </a:r>
            <a:r>
              <a:rPr lang="en-US" sz="2400"/>
              <a:t> is a zero for concatenation:</a:t>
            </a:r>
          </a:p>
          <a:p>
            <a:endParaRPr lang="en-US" sz="2400"/>
          </a:p>
          <a:p>
            <a:r>
              <a:rPr lang="en-US" sz="2400"/>
              <a:t>    </a:t>
            </a:r>
            <a:r>
              <a:rPr lang="en-US" sz="2400" i="1"/>
              <a:t>L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</a:t>
            </a:r>
            <a:r>
              <a:rPr lang="en-US" sz="2400"/>
              <a:t> = </a:t>
            </a:r>
            <a:r>
              <a:rPr lang="en-US" sz="2400">
                <a:sym typeface="Symbol" pitchFamily="18" charset="2"/>
              </a:rPr>
              <a:t></a:t>
            </a:r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/>
              <a:t> = </a:t>
            </a:r>
            <a:r>
              <a:rPr lang="en-US" sz="2400">
                <a:sym typeface="Symbol" pitchFamily="18" charset="2"/>
              </a:rPr>
              <a:t></a:t>
            </a:r>
          </a:p>
        </p:txBody>
      </p:sp>
      <p:sp>
        <p:nvSpPr>
          <p:cNvPr id="4608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9E3221-B6F8-481C-BCA0-EC032EB798D2}" type="slidenum">
              <a:rPr lang="en-US" smtClean="0"/>
              <a:pPr/>
              <a:t>38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762000" y="2286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Concatenating Languages Defined Using Variables</a:t>
            </a:r>
            <a:r>
              <a:rPr lang="en-US" sz="360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914400" y="1879600"/>
            <a:ext cx="8001000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The scope of any variable used in an expression that invokes replication will be taken to be the entire expression.</a:t>
            </a:r>
          </a:p>
          <a:p>
            <a:endParaRPr lang="en-US" sz="2400"/>
          </a:p>
          <a:p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/>
              <a:t> = {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 i="1" baseline="30000"/>
              <a:t>n</a:t>
            </a:r>
            <a:r>
              <a:rPr lang="en-US" sz="2400"/>
              <a:t>:  </a:t>
            </a:r>
            <a:r>
              <a:rPr lang="en-US" sz="2400" i="1"/>
              <a:t>n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</a:t>
            </a:r>
            <a:r>
              <a:rPr lang="en-US" sz="2400"/>
              <a:t> 0}       				</a:t>
            </a:r>
            <a:endParaRPr lang="en-US" sz="2400" i="1"/>
          </a:p>
          <a:p>
            <a:r>
              <a:rPr lang="en-US" sz="2400" i="1"/>
              <a:t>L</a:t>
            </a:r>
            <a:r>
              <a:rPr lang="en-US" sz="2400" baseline="-25000"/>
              <a:t>2 </a:t>
            </a:r>
            <a:r>
              <a:rPr lang="en-US" sz="2400"/>
              <a:t>= {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 i="1" baseline="30000"/>
              <a:t>n</a:t>
            </a:r>
            <a:r>
              <a:rPr lang="en-US" sz="2400"/>
              <a:t> : </a:t>
            </a:r>
            <a:r>
              <a:rPr lang="en-US" sz="2400" i="1"/>
              <a:t>n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</a:t>
            </a:r>
            <a:r>
              <a:rPr lang="en-US" sz="2400"/>
              <a:t> 0}</a:t>
            </a:r>
            <a:endParaRPr lang="en-US" sz="2400" i="1"/>
          </a:p>
          <a:p>
            <a:endParaRPr lang="en-US" sz="2400" i="1"/>
          </a:p>
          <a:p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 baseline="-25000"/>
              <a:t>2</a:t>
            </a:r>
            <a:r>
              <a:rPr lang="en-US" sz="2400"/>
              <a:t> = {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 i="1" baseline="30000"/>
              <a:t>n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 i="1" baseline="30000"/>
              <a:t>m</a:t>
            </a:r>
            <a:r>
              <a:rPr lang="en-US" sz="2400"/>
              <a:t> : </a:t>
            </a:r>
            <a:r>
              <a:rPr lang="en-US" sz="2400" i="1"/>
              <a:t>n, m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</a:t>
            </a:r>
            <a:r>
              <a:rPr lang="en-US" sz="2400"/>
              <a:t> 0}</a:t>
            </a:r>
          </a:p>
          <a:p>
            <a:endParaRPr lang="en-US" sz="1000" i="1"/>
          </a:p>
          <a:p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 i="1"/>
              <a:t>L</a:t>
            </a:r>
            <a:r>
              <a:rPr lang="en-US" sz="2400" baseline="-25000"/>
              <a:t>2</a:t>
            </a:r>
            <a:r>
              <a:rPr lang="en-US" sz="2400"/>
              <a:t> </a:t>
            </a:r>
            <a:r>
              <a:rPr lang="en-US" sz="2400">
                <a:sym typeface="Symbol" pitchFamily="18" charset="2"/>
              </a:rPr>
              <a:t></a:t>
            </a:r>
            <a:r>
              <a:rPr lang="en-US" sz="2400"/>
              <a:t> {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 i="1" baseline="30000"/>
              <a:t>n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 i="1" baseline="30000"/>
              <a:t>n</a:t>
            </a:r>
            <a:r>
              <a:rPr lang="en-US" sz="2400"/>
              <a:t> : </a:t>
            </a:r>
            <a:r>
              <a:rPr lang="en-US" sz="2400" i="1"/>
              <a:t>n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</a:t>
            </a:r>
            <a:r>
              <a:rPr lang="en-US" sz="2400"/>
              <a:t> 0}</a:t>
            </a:r>
          </a:p>
          <a:p>
            <a:endParaRPr lang="en-US" sz="1000"/>
          </a:p>
          <a:p>
            <a:endParaRPr lang="en-US" sz="1000"/>
          </a:p>
        </p:txBody>
      </p:sp>
      <p:sp>
        <p:nvSpPr>
          <p:cNvPr id="4710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C48F88E-C9AE-462C-8701-7E5DA291CF5B}" type="slidenum">
              <a:rPr lang="en-US" smtClean="0"/>
              <a:pPr/>
              <a:t>39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8001000" cy="868363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err="1" smtClean="0"/>
              <a:t>Kleene</a:t>
            </a:r>
            <a:r>
              <a:rPr lang="en-US" sz="3600" b="1" dirty="0" smtClean="0"/>
              <a:t> Star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8118475" cy="53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i="1">
                <a:solidFill>
                  <a:srgbClr val="7030A0"/>
                </a:solidFill>
              </a:rPr>
              <a:t>L* </a:t>
            </a:r>
            <a:r>
              <a:rPr lang="en-US" sz="2400" i="1"/>
              <a:t>- language consisting of 0 or more concatenations of strings from L</a:t>
            </a:r>
          </a:p>
          <a:p>
            <a:endParaRPr lang="en-US" sz="800" i="1"/>
          </a:p>
          <a:p>
            <a:r>
              <a:rPr lang="en-US" sz="2400" i="1">
                <a:solidFill>
                  <a:srgbClr val="7030A0"/>
                </a:solidFill>
              </a:rPr>
              <a:t>L</a:t>
            </a:r>
            <a:r>
              <a:rPr lang="en-US" sz="2400">
                <a:solidFill>
                  <a:srgbClr val="7030A0"/>
                </a:solidFill>
              </a:rPr>
              <a:t>*</a:t>
            </a:r>
            <a:r>
              <a:rPr lang="en-US" sz="2400"/>
              <a:t> = 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} </a:t>
            </a:r>
            <a:r>
              <a:rPr lang="en-US" sz="2400">
                <a:sym typeface="Symbol" pitchFamily="18" charset="2"/>
              </a:rPr>
              <a:t></a:t>
            </a:r>
            <a:r>
              <a:rPr lang="en-US" sz="2400"/>
              <a:t> {</a:t>
            </a:r>
            <a:r>
              <a:rPr lang="en-US" sz="2400" i="1"/>
              <a:t>w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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</a:t>
            </a:r>
            <a:r>
              <a:rPr lang="en-US" sz="2400"/>
              <a:t>* :</a:t>
            </a:r>
            <a:r>
              <a:rPr lang="en-US" sz="2400" i="1"/>
              <a:t> w </a:t>
            </a:r>
            <a:r>
              <a:rPr lang="en-US" sz="2400"/>
              <a:t>= </a:t>
            </a:r>
            <a:r>
              <a:rPr lang="en-US" sz="2400" i="1"/>
              <a:t>w</a:t>
            </a:r>
            <a:r>
              <a:rPr lang="en-US" sz="2400" baseline="-25000"/>
              <a:t>1</a:t>
            </a:r>
            <a:r>
              <a:rPr lang="en-US" sz="2400"/>
              <a:t> </a:t>
            </a:r>
            <a:r>
              <a:rPr lang="en-US" sz="2400" i="1"/>
              <a:t>w</a:t>
            </a:r>
            <a:r>
              <a:rPr lang="en-US" sz="2400" baseline="-25000"/>
              <a:t>2</a:t>
            </a:r>
            <a:r>
              <a:rPr lang="en-US" sz="2400"/>
              <a:t> … </a:t>
            </a:r>
            <a:r>
              <a:rPr lang="en-US" sz="2400" i="1"/>
              <a:t>w</a:t>
            </a:r>
            <a:r>
              <a:rPr lang="en-US" sz="2400" baseline="-25000"/>
              <a:t>k,</a:t>
            </a:r>
            <a:r>
              <a:rPr lang="en-US" sz="2400"/>
              <a:t> </a:t>
            </a:r>
            <a:r>
              <a:rPr lang="en-US" sz="2400" i="1"/>
              <a:t>k </a:t>
            </a:r>
            <a:r>
              <a:rPr lang="en-US" sz="2400">
                <a:sym typeface="Symbol" pitchFamily="18" charset="2"/>
              </a:rPr>
              <a:t></a:t>
            </a:r>
            <a:r>
              <a:rPr lang="en-US" sz="2400"/>
              <a:t> 1 &amp;  </a:t>
            </a:r>
          </a:p>
          <a:p>
            <a:r>
              <a:rPr lang="en-US" sz="2400" i="1"/>
              <a:t>		w</a:t>
            </a:r>
            <a:r>
              <a:rPr lang="en-US" sz="2400" baseline="-25000"/>
              <a:t>1</a:t>
            </a:r>
            <a:r>
              <a:rPr lang="en-US" sz="2400"/>
              <a:t>, </a:t>
            </a:r>
            <a:r>
              <a:rPr lang="en-US" sz="2400" i="1"/>
              <a:t>w</a:t>
            </a:r>
            <a:r>
              <a:rPr lang="en-US" sz="2400" baseline="-25000"/>
              <a:t>2</a:t>
            </a:r>
            <a:r>
              <a:rPr lang="en-US" sz="2400"/>
              <a:t>,  … </a:t>
            </a:r>
            <a:r>
              <a:rPr lang="en-US" sz="2400" i="1"/>
              <a:t>w</a:t>
            </a:r>
            <a:r>
              <a:rPr lang="en-US" sz="2400" baseline="-25000"/>
              <a:t>k</a:t>
            </a:r>
            <a:r>
              <a:rPr lang="en-US" sz="2400"/>
              <a:t> </a:t>
            </a:r>
            <a:r>
              <a:rPr lang="en-US" sz="2400">
                <a:sym typeface="Symbol" pitchFamily="18" charset="2"/>
              </a:rPr>
              <a:t></a:t>
            </a:r>
            <a:r>
              <a:rPr lang="en-US" sz="2400"/>
              <a:t> </a:t>
            </a:r>
            <a:r>
              <a:rPr lang="en-US" sz="2400" i="1"/>
              <a:t>L}</a:t>
            </a:r>
            <a:endParaRPr lang="en-US" sz="2400"/>
          </a:p>
          <a:p>
            <a:r>
              <a:rPr lang="en-US" sz="2400">
                <a:solidFill>
                  <a:srgbClr val="7030A0"/>
                </a:solidFill>
              </a:rPr>
              <a:t>Examples:</a:t>
            </a:r>
          </a:p>
          <a:p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/>
              <a:t> = {</a:t>
            </a:r>
            <a:r>
              <a:rPr lang="en-US" sz="2400">
                <a:latin typeface="Courier New" pitchFamily="49" charset="0"/>
              </a:rPr>
              <a:t>dog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cat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</a:rPr>
              <a:t>fish</a:t>
            </a:r>
            <a:r>
              <a:rPr lang="en-US" sz="2400"/>
              <a:t>}</a:t>
            </a:r>
          </a:p>
          <a:p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/>
              <a:t>* = {</a:t>
            </a:r>
            <a:r>
              <a:rPr lang="en-US" sz="2400">
                <a:sym typeface="Symbol" pitchFamily="18" charset="2"/>
              </a:rPr>
              <a:t></a:t>
            </a:r>
            <a:r>
              <a:rPr lang="en-US" sz="2400"/>
              <a:t>, 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dog, cat, fish, dogdog, dogcat,</a:t>
            </a:r>
          </a:p>
          <a:p>
            <a:r>
              <a:rPr lang="en-US" sz="2400">
                <a:latin typeface="Courier New" pitchFamily="49" charset="0"/>
                <a:cs typeface="Courier New" pitchFamily="49" charset="0"/>
              </a:rPr>
              <a:t>  dogfish,fishcatfish,fishdogdogfishcat, </a:t>
            </a:r>
            <a:r>
              <a:rPr lang="en-US" sz="2400"/>
              <a:t>…}</a:t>
            </a:r>
          </a:p>
          <a:p>
            <a:pPr algn="ctr"/>
            <a:r>
              <a:rPr lang="en-US" sz="2400">
                <a:solidFill>
                  <a:srgbClr val="7030A0"/>
                </a:solidFill>
              </a:rPr>
              <a:t>~~~~~~~~~~~~</a:t>
            </a:r>
          </a:p>
          <a:p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/>
              <a:t> = </a:t>
            </a:r>
            <a:r>
              <a:rPr lang="en-US" sz="2400">
                <a:latin typeface="Courier New" pitchFamily="49" charset="0"/>
              </a:rPr>
              <a:t>a</a:t>
            </a:r>
            <a:r>
              <a:rPr lang="en-US" sz="2400"/>
              <a:t>*        		</a:t>
            </a:r>
            <a:r>
              <a:rPr lang="en-US" sz="2400" i="1"/>
              <a:t>L</a:t>
            </a:r>
            <a:r>
              <a:rPr lang="en-US" sz="2400" baseline="-25000"/>
              <a:t>2</a:t>
            </a:r>
            <a:r>
              <a:rPr lang="en-US" sz="2400"/>
              <a:t> = </a:t>
            </a:r>
            <a:r>
              <a:rPr lang="en-US" sz="2400">
                <a:latin typeface="Courier New" pitchFamily="49" charset="0"/>
              </a:rPr>
              <a:t>b</a:t>
            </a:r>
            <a:r>
              <a:rPr lang="en-US" sz="2400"/>
              <a:t>*</a:t>
            </a:r>
            <a:endParaRPr lang="en-US" sz="2400" i="1"/>
          </a:p>
          <a:p>
            <a:r>
              <a:rPr lang="en-US" sz="2400" i="1"/>
              <a:t>What is a*?  b*? </a:t>
            </a:r>
          </a:p>
          <a:p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 baseline="-25000"/>
              <a:t>2</a:t>
            </a:r>
            <a:r>
              <a:rPr lang="en-US" sz="2400"/>
              <a:t> = </a:t>
            </a:r>
          </a:p>
          <a:p>
            <a:r>
              <a:rPr lang="en-US" sz="2400" i="1"/>
              <a:t>L</a:t>
            </a:r>
            <a:r>
              <a:rPr lang="en-US" sz="2400" baseline="-25000"/>
              <a:t>2</a:t>
            </a:r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/>
              <a:t> = </a:t>
            </a:r>
          </a:p>
          <a:p>
            <a:r>
              <a:rPr lang="en-US" sz="2400" i="1"/>
              <a:t>L</a:t>
            </a:r>
            <a:r>
              <a:rPr lang="en-US" sz="2400" baseline="-25000"/>
              <a:t>1</a:t>
            </a:r>
            <a:r>
              <a:rPr lang="en-US" sz="2400"/>
              <a:t> </a:t>
            </a:r>
            <a:r>
              <a:rPr lang="en-US" sz="2400" i="1"/>
              <a:t>L</a:t>
            </a:r>
            <a:r>
              <a:rPr lang="en-US" sz="2400" i="1" baseline="-25000"/>
              <a:t>1</a:t>
            </a:r>
            <a:r>
              <a:rPr lang="en-US" sz="2400"/>
              <a:t> = </a:t>
            </a:r>
          </a:p>
        </p:txBody>
      </p:sp>
      <p:sp>
        <p:nvSpPr>
          <p:cNvPr id="4813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56B6D52-A2B5-4BC6-AA58-850BEECF10B6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48133" name="TextBox 1"/>
          <p:cNvSpPr txBox="1">
            <a:spLocks noChangeArrowheads="1"/>
          </p:cNvSpPr>
          <p:nvPr/>
        </p:nvSpPr>
        <p:spPr bwMode="auto">
          <a:xfrm>
            <a:off x="6705600" y="152400"/>
            <a:ext cx="6096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600">
                <a:solidFill>
                  <a:srgbClr val="7030A0"/>
                </a:solidFill>
              </a:rPr>
              <a:t>*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80010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 smtClean="0"/>
              <a:t>The       Operator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685800" y="1666875"/>
            <a:ext cx="80010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 i="1">
                <a:solidFill>
                  <a:srgbClr val="7030A0"/>
                </a:solidFill>
              </a:rPr>
              <a:t>L</a:t>
            </a:r>
            <a:r>
              <a:rPr lang="en-US" sz="3600" baseline="30000">
                <a:solidFill>
                  <a:srgbClr val="7030A0"/>
                </a:solidFill>
              </a:rPr>
              <a:t>+</a:t>
            </a:r>
            <a:r>
              <a:rPr lang="en-US" sz="3600"/>
              <a:t> = </a:t>
            </a:r>
            <a:r>
              <a:rPr lang="en-US" sz="3600" i="1"/>
              <a:t>language consisting of 1 or more concatenations of strings from L</a:t>
            </a:r>
          </a:p>
          <a:p>
            <a:endParaRPr lang="en-US" sz="3600" i="1">
              <a:solidFill>
                <a:srgbClr val="7030A0"/>
              </a:solidFill>
            </a:endParaRPr>
          </a:p>
          <a:p>
            <a:r>
              <a:rPr lang="en-US" sz="3600" i="1">
                <a:solidFill>
                  <a:srgbClr val="7030A0"/>
                </a:solidFill>
              </a:rPr>
              <a:t>L</a:t>
            </a:r>
            <a:r>
              <a:rPr lang="en-US" sz="3600" baseline="30000">
                <a:solidFill>
                  <a:srgbClr val="7030A0"/>
                </a:solidFill>
              </a:rPr>
              <a:t>+</a:t>
            </a:r>
            <a:r>
              <a:rPr lang="en-US" sz="3600"/>
              <a:t> = </a:t>
            </a:r>
            <a:r>
              <a:rPr lang="en-US" sz="3600" i="1"/>
              <a:t>L L</a:t>
            </a:r>
            <a:r>
              <a:rPr lang="en-US" sz="3600"/>
              <a:t>*</a:t>
            </a:r>
          </a:p>
          <a:p>
            <a:endParaRPr lang="en-US" sz="3600"/>
          </a:p>
          <a:p>
            <a:r>
              <a:rPr lang="en-US" sz="3600" i="1">
                <a:solidFill>
                  <a:srgbClr val="7030A0"/>
                </a:solidFill>
              </a:rPr>
              <a:t>L</a:t>
            </a:r>
            <a:r>
              <a:rPr lang="en-US" sz="3600" baseline="30000">
                <a:solidFill>
                  <a:srgbClr val="7030A0"/>
                </a:solidFill>
              </a:rPr>
              <a:t>+</a:t>
            </a:r>
            <a:r>
              <a:rPr lang="en-US" sz="3600">
                <a:solidFill>
                  <a:srgbClr val="7030A0"/>
                </a:solidFill>
              </a:rPr>
              <a:t> </a:t>
            </a:r>
            <a:r>
              <a:rPr lang="en-US" sz="3600"/>
              <a:t>= </a:t>
            </a:r>
            <a:r>
              <a:rPr lang="en-US" sz="3600" i="1"/>
              <a:t>L</a:t>
            </a:r>
            <a:r>
              <a:rPr lang="en-US" sz="3600"/>
              <a:t>* - {</a:t>
            </a:r>
            <a:r>
              <a:rPr lang="en-US" sz="3600">
                <a:sym typeface="Symbol" pitchFamily="18" charset="2"/>
              </a:rPr>
              <a:t></a:t>
            </a:r>
            <a:r>
              <a:rPr lang="en-US" sz="3600"/>
              <a:t>}   iff  </a:t>
            </a:r>
            <a:r>
              <a:rPr lang="en-US" sz="3600">
                <a:sym typeface="Symbol" pitchFamily="18" charset="2"/>
              </a:rPr>
              <a:t></a:t>
            </a:r>
            <a:r>
              <a:rPr lang="en-US" sz="3600"/>
              <a:t> </a:t>
            </a:r>
            <a:r>
              <a:rPr lang="en-US" sz="3600">
                <a:sym typeface="Symbol" pitchFamily="18" charset="2"/>
              </a:rPr>
              <a:t></a:t>
            </a:r>
            <a:r>
              <a:rPr lang="en-US" sz="3600"/>
              <a:t> </a:t>
            </a:r>
            <a:r>
              <a:rPr lang="en-US" sz="3600" i="1"/>
              <a:t>L</a:t>
            </a:r>
          </a:p>
          <a:p>
            <a:r>
              <a:rPr lang="en-US" sz="3600" i="1"/>
              <a:t>	Explain this definition!!</a:t>
            </a:r>
          </a:p>
          <a:p>
            <a:r>
              <a:rPr lang="en-US" sz="3600" i="1"/>
              <a:t>	When is </a:t>
            </a:r>
            <a:r>
              <a:rPr lang="en-US" sz="3600">
                <a:sym typeface="Symbol" pitchFamily="18" charset="2"/>
              </a:rPr>
              <a:t>  L</a:t>
            </a:r>
            <a:r>
              <a:rPr lang="en-US" sz="3600" baseline="30000">
                <a:sym typeface="Symbol" pitchFamily="18" charset="2"/>
              </a:rPr>
              <a:t>+</a:t>
            </a:r>
            <a:r>
              <a:rPr lang="en-US" sz="3600">
                <a:sym typeface="Symbol" pitchFamily="18" charset="2"/>
              </a:rPr>
              <a:t>? </a:t>
            </a:r>
            <a:endParaRPr lang="en-US" sz="3200" i="1"/>
          </a:p>
          <a:p>
            <a:endParaRPr lang="en-US" sz="3200" i="1"/>
          </a:p>
        </p:txBody>
      </p:sp>
      <p:sp>
        <p:nvSpPr>
          <p:cNvPr id="4915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DDE82B3-EFC0-4EDC-8D1B-422947E4D3DC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49157" name="TextBox 1"/>
          <p:cNvSpPr txBox="1">
            <a:spLocks noChangeArrowheads="1"/>
          </p:cNvSpPr>
          <p:nvPr/>
        </p:nvSpPr>
        <p:spPr bwMode="auto">
          <a:xfrm>
            <a:off x="4038600" y="150813"/>
            <a:ext cx="482600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600">
                <a:solidFill>
                  <a:srgbClr val="7030A0"/>
                </a:solidFill>
              </a:rPr>
              <a:t>+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Closure </a:t>
            </a:r>
            <a:endParaRPr lang="en-US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set S is closed under the operation @ if for every element x &amp; y in S, x@y is also an element of S</a:t>
            </a:r>
          </a:p>
          <a:p>
            <a:r>
              <a:rPr lang="en-US" smtClean="0"/>
              <a:t>A set S is closed under the operation @ if for every element x</a:t>
            </a:r>
            <a:r>
              <a:rPr lang="en-US" smtClean="0">
                <a:sym typeface="Symbol" pitchFamily="18" charset="2"/>
              </a:rPr>
              <a:t>  S </a:t>
            </a:r>
            <a:r>
              <a:rPr lang="en-US" smtClean="0"/>
              <a:t>&amp; y </a:t>
            </a:r>
            <a:r>
              <a:rPr lang="en-US" smtClean="0">
                <a:sym typeface="Symbol" pitchFamily="18" charset="2"/>
              </a:rPr>
              <a:t></a:t>
            </a:r>
            <a:r>
              <a:rPr lang="en-US" smtClean="0"/>
              <a:t> S, x@y </a:t>
            </a:r>
            <a:r>
              <a:rPr lang="en-US" smtClean="0">
                <a:sym typeface="Symbol" pitchFamily="18" charset="2"/>
              </a:rPr>
              <a:t> S</a:t>
            </a:r>
          </a:p>
          <a:p>
            <a:r>
              <a:rPr lang="en-US" smtClean="0">
                <a:sym typeface="Symbol" pitchFamily="18" charset="2"/>
              </a:rPr>
              <a:t>Examples</a:t>
            </a: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18458EC-CD35-49FE-BCEA-68C484BE0E9C}" type="slidenum">
              <a:rPr lang="en-US" smtClean="0"/>
              <a:pPr/>
              <a:t>42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6858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>
                <a:solidFill>
                  <a:srgbClr val="7030A0"/>
                </a:solidFill>
              </a:rPr>
              <a:t>Semantics</a:t>
            </a:r>
            <a:r>
              <a:rPr lang="en-US" sz="3200" b="1">
                <a:solidFill>
                  <a:schemeClr val="tx2"/>
                </a:solidFill>
              </a:rPr>
              <a:t>: Assigning Meaning to Strings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838200" y="1524000"/>
            <a:ext cx="7924800" cy="483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/>
              <a:t>When is the meaning of a string important?</a:t>
            </a:r>
          </a:p>
          <a:p>
            <a:endParaRPr lang="en-US" sz="2800"/>
          </a:p>
          <a:p>
            <a:r>
              <a:rPr lang="en-US" sz="2800"/>
              <a:t>A </a:t>
            </a:r>
            <a:r>
              <a:rPr lang="en-US" sz="2800">
                <a:solidFill>
                  <a:srgbClr val="7030A0"/>
                </a:solidFill>
              </a:rPr>
              <a:t>semantic interpretation function </a:t>
            </a:r>
            <a:r>
              <a:rPr lang="en-US" sz="2800"/>
              <a:t>assigns meanings to the strings of a language.</a:t>
            </a:r>
          </a:p>
          <a:p>
            <a:endParaRPr lang="en-US" sz="2800"/>
          </a:p>
          <a:p>
            <a:r>
              <a:rPr lang="en-US" sz="2800"/>
              <a:t>Can be very complex.</a:t>
            </a:r>
          </a:p>
          <a:p>
            <a:endParaRPr lang="en-US" sz="2800"/>
          </a:p>
          <a:p>
            <a:r>
              <a:rPr lang="en-US" sz="2800"/>
              <a:t>Example from English:</a:t>
            </a:r>
          </a:p>
          <a:p>
            <a:r>
              <a:rPr lang="en-US" sz="2800"/>
              <a:t>	</a:t>
            </a:r>
          </a:p>
          <a:p>
            <a:r>
              <a:rPr lang="en-US" sz="2800"/>
              <a:t>	I brogelled the yourtish.</a:t>
            </a:r>
          </a:p>
          <a:p>
            <a:r>
              <a:rPr lang="en-US" sz="2800"/>
              <a:t>	He’s all thumbs.</a:t>
            </a:r>
          </a:p>
        </p:txBody>
      </p:sp>
      <p:sp>
        <p:nvSpPr>
          <p:cNvPr id="5120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9594259-7E05-4696-A1FB-5F2B3C76C585}" type="slidenum">
              <a:rPr lang="en-US" smtClean="0"/>
              <a:pPr/>
              <a:t>43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Uniqueness???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90600" y="1524000"/>
            <a:ext cx="7620000" cy="45259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Chocolate, please.</a:t>
            </a:r>
          </a:p>
          <a:p>
            <a:pPr>
              <a:defRPr/>
            </a:pPr>
            <a:r>
              <a:rPr lang="en-US" dirty="0" smtClean="0"/>
              <a:t>I’d like chocolate.</a:t>
            </a:r>
          </a:p>
          <a:p>
            <a:pPr>
              <a:defRPr/>
            </a:pPr>
            <a:r>
              <a:rPr lang="en-US" dirty="0" smtClean="0"/>
              <a:t>I’ll have chocolate today.</a:t>
            </a:r>
          </a:p>
          <a:p>
            <a:pPr>
              <a:defRPr/>
            </a:pPr>
            <a:r>
              <a:rPr lang="en-US" dirty="0" smtClean="0"/>
              <a:t>I guess I’ll have chocolate.</a:t>
            </a:r>
          </a:p>
          <a:p>
            <a:pPr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 smtClean="0"/>
              <a:t>They all have the same meaning!</a:t>
            </a:r>
            <a:endParaRPr lang="en-US" dirty="0"/>
          </a:p>
        </p:txBody>
      </p:sp>
      <p:sp>
        <p:nvSpPr>
          <p:cNvPr id="5222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D89D52F-85B3-4A93-BE87-B77A7DC65B30}" type="slidenum">
              <a:rPr lang="en-US" smtClean="0"/>
              <a:pPr/>
              <a:t>44</a:t>
            </a:fld>
            <a:endParaRPr lang="en-US" smtClean="0"/>
          </a:p>
        </p:txBody>
      </p:sp>
      <p:pic>
        <p:nvPicPr>
          <p:cNvPr id="52229" name="Picture 4" descr="C:\Users\Halverson\AppData\Local\Microsoft\Windows\Temporary Internet Files\Content.IE5\43H9RXTT\MC900232297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2133600"/>
            <a:ext cx="1770063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Uniqueness???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696200" cy="4525963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 smtClean="0"/>
              <a:t>Hand </a:t>
            </a:r>
          </a:p>
          <a:p>
            <a:pPr>
              <a:defRPr/>
            </a:pPr>
            <a:r>
              <a:rPr lang="en-US" dirty="0" smtClean="0"/>
              <a:t>Give me a hand.</a:t>
            </a:r>
          </a:p>
          <a:p>
            <a:pPr>
              <a:defRPr/>
            </a:pPr>
            <a:r>
              <a:rPr lang="en-US" dirty="0" smtClean="0"/>
              <a:t>I smashed my hand in the door.</a:t>
            </a:r>
          </a:p>
          <a:p>
            <a:pPr>
              <a:defRPr/>
            </a:pPr>
            <a:r>
              <a:rPr lang="en-US" dirty="0" smtClean="0"/>
              <a:t>Please hand me that book.</a:t>
            </a:r>
          </a:p>
          <a:p>
            <a:pPr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 smtClean="0"/>
              <a:t>These all have different meanings!!!</a:t>
            </a:r>
            <a:endParaRPr 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89C6FDB-7C17-4B7A-A114-0264CA91F7C4}" type="slidenum">
              <a:rPr lang="en-US" smtClean="0"/>
              <a:pPr/>
              <a:t>45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Uniqueness in CS???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525963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x = 4; x++;</a:t>
            </a:r>
          </a:p>
          <a:p>
            <a:pPr>
              <a:defRPr/>
            </a:pPr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x = 4; ++x;</a:t>
            </a:r>
          </a:p>
          <a:p>
            <a:pPr>
              <a:defRPr/>
            </a:pPr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x = 4; x = x + 1;</a:t>
            </a:r>
          </a:p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x = 4; x=x - -1;</a:t>
            </a:r>
          </a:p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x = 5; </a:t>
            </a:r>
          </a:p>
          <a:p>
            <a:pPr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dirty="0" smtClean="0"/>
              <a:t>These all have the same result/meaning!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03F8BA9-63BE-4EA0-9481-2394209BA430}" type="slidenum">
              <a:rPr lang="en-US" smtClean="0"/>
              <a:pPr/>
              <a:t>46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685800" y="228600"/>
            <a:ext cx="8305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002060"/>
                </a:solidFill>
              </a:rPr>
              <a:t>Semantic Interpretation </a:t>
            </a:r>
            <a:br>
              <a:rPr lang="en-US" sz="3600" b="1">
                <a:solidFill>
                  <a:srgbClr val="002060"/>
                </a:solidFill>
              </a:rPr>
            </a:br>
            <a:r>
              <a:rPr lang="en-US" sz="3600" b="1">
                <a:solidFill>
                  <a:srgbClr val="002060"/>
                </a:solidFill>
              </a:rPr>
              <a:t>Functions</a:t>
            </a:r>
            <a:r>
              <a:rPr lang="en-US" sz="360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708025" y="1447800"/>
            <a:ext cx="7696200" cy="52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For formal languages:</a:t>
            </a:r>
          </a:p>
          <a:p>
            <a:endParaRPr lang="en-US" sz="1000"/>
          </a:p>
          <a:p>
            <a:r>
              <a:rPr lang="en-US" sz="2400"/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/>
              <a:t>Programming languages</a:t>
            </a:r>
          </a:p>
          <a:p>
            <a:endParaRPr lang="en-US" sz="1000"/>
          </a:p>
          <a:p>
            <a:r>
              <a:rPr lang="en-US" sz="2400"/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/>
              <a:t>Network protocol languages</a:t>
            </a:r>
          </a:p>
          <a:p>
            <a:endParaRPr lang="en-US" sz="1000"/>
          </a:p>
          <a:p>
            <a:r>
              <a:rPr lang="en-US" sz="2400"/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/>
              <a:t>Database query languages</a:t>
            </a:r>
          </a:p>
          <a:p>
            <a:endParaRPr lang="en-US" sz="1000"/>
          </a:p>
          <a:p>
            <a:r>
              <a:rPr lang="en-US" sz="2400"/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/>
              <a:t>HTML</a:t>
            </a:r>
          </a:p>
          <a:p>
            <a:endParaRPr lang="en-US" sz="1000"/>
          </a:p>
          <a:p>
            <a:r>
              <a:rPr lang="en-US" sz="2400"/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/>
              <a:t>BNF</a:t>
            </a:r>
          </a:p>
          <a:p>
            <a:endParaRPr lang="en-US" sz="1000"/>
          </a:p>
          <a:p>
            <a:r>
              <a:rPr lang="en-US" sz="2400"/>
              <a:t>For other kinds of “natural” languages:</a:t>
            </a:r>
          </a:p>
          <a:p>
            <a:endParaRPr lang="en-US" sz="1000"/>
          </a:p>
          <a:p>
            <a:r>
              <a:rPr lang="en-US" sz="2400"/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/>
              <a:t>DNA</a:t>
            </a:r>
          </a:p>
          <a:p>
            <a:r>
              <a:rPr lang="en-US" sz="2400"/>
              <a:t>Other computing</a:t>
            </a:r>
          </a:p>
          <a:p>
            <a:pPr marL="1085850" lvl="1" indent="-342900">
              <a:buFont typeface="Arial" charset="0"/>
              <a:buChar char="•"/>
            </a:pPr>
            <a:r>
              <a:rPr lang="en-US" sz="2400"/>
              <a:t>Genetic algorithm solutions</a:t>
            </a:r>
          </a:p>
          <a:p>
            <a:pPr marL="1085850" lvl="1" indent="-342900">
              <a:buFont typeface="Arial" charset="0"/>
              <a:buChar char="•"/>
            </a:pPr>
            <a:r>
              <a:rPr lang="en-US" sz="2400"/>
              <a:t>Other problem solutions</a:t>
            </a:r>
          </a:p>
        </p:txBody>
      </p:sp>
      <p:sp>
        <p:nvSpPr>
          <p:cNvPr id="5530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6E3A9EC-0315-4259-BF22-C82D1174F895}" type="slidenum">
              <a:rPr lang="en-US" smtClean="0"/>
              <a:pPr/>
              <a:t>47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3078</Words>
  <Application>Microsoft Office PowerPoint</Application>
  <PresentationFormat>On-screen Show (4:3)</PresentationFormat>
  <Paragraphs>489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Anastasia</vt:lpstr>
      <vt:lpstr>Arial</vt:lpstr>
      <vt:lpstr>Calibri</vt:lpstr>
      <vt:lpstr>Courier New</vt:lpstr>
      <vt:lpstr>French Script MT</vt:lpstr>
      <vt:lpstr>Monotype Sorts</vt:lpstr>
      <vt:lpstr>Symbol</vt:lpstr>
      <vt:lpstr>Times New Roman</vt:lpstr>
      <vt:lpstr>Wingdings</vt:lpstr>
      <vt:lpstr>Office Theme</vt:lpstr>
      <vt:lpstr>       18CS54  Automata, Computability, &amp; Complexity   </vt:lpstr>
      <vt:lpstr>Why Study the Theory of Computation?</vt:lpstr>
      <vt:lpstr>Why study this?</vt:lpstr>
      <vt:lpstr>Goals </vt:lpstr>
      <vt:lpstr>Applications of the Theory </vt:lpstr>
      <vt:lpstr>Languages and Strings  This is one of MOST important chapters. It includes the TERMINOLOGY required to be successful in this course. KNOW this chapter &amp; ALL DEFINITIONS!! </vt:lpstr>
      <vt:lpstr>Let's Look at Some Problems</vt:lpstr>
      <vt:lpstr>A Framework for Analyzing Problems</vt:lpstr>
      <vt:lpstr>Alphabet - </vt:lpstr>
      <vt:lpstr>Strings</vt:lpstr>
      <vt:lpstr>Example Alphabets &amp; Strings </vt:lpstr>
      <vt:lpstr>Functions on Strings </vt:lpstr>
      <vt:lpstr>More Functions on Strings </vt:lpstr>
      <vt:lpstr>More Functions on Strings </vt:lpstr>
      <vt:lpstr>More Functions on Strings </vt:lpstr>
      <vt:lpstr>Concatenation &amp; Reverse of Strings </vt:lpstr>
      <vt:lpstr>Concatenation &amp; Reverse of Strings </vt:lpstr>
      <vt:lpstr> Relations on Strings - Substrings </vt:lpstr>
      <vt:lpstr>The Prefix Relations </vt:lpstr>
      <vt:lpstr>The Suffix Relations </vt:lpstr>
      <vt:lpstr>Defining a Language </vt:lpstr>
      <vt:lpstr>Defining a Language </vt:lpstr>
      <vt:lpstr>* </vt:lpstr>
      <vt:lpstr>* Example</vt:lpstr>
      <vt:lpstr>Defining Languages</vt:lpstr>
      <vt:lpstr>PowerPoint Presentation</vt:lpstr>
      <vt:lpstr> Example Language Definitions  </vt:lpstr>
      <vt:lpstr>PowerPoint Presentation</vt:lpstr>
      <vt:lpstr>A Halting Problem Language</vt:lpstr>
      <vt:lpstr>PowerPoint Presentation</vt:lpstr>
      <vt:lpstr>PowerPoint Presentation</vt:lpstr>
      <vt:lpstr>Lexicographic Enumeration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Kleene Star</vt:lpstr>
      <vt:lpstr>The       Operator</vt:lpstr>
      <vt:lpstr>Closure </vt:lpstr>
      <vt:lpstr>PowerPoint Presentation</vt:lpstr>
      <vt:lpstr>Uniqueness???</vt:lpstr>
      <vt:lpstr>Uniqueness???</vt:lpstr>
      <vt:lpstr>Uniqueness in CS???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15CS54  Automata, Computability, &amp; Complexity   </dc:title>
  <dc:creator>SHREEKUMAR</dc:creator>
  <cp:lastModifiedBy>Victor. C, Samson</cp:lastModifiedBy>
  <cp:revision>28</cp:revision>
  <dcterms:created xsi:type="dcterms:W3CDTF">2017-10-31T04:14:55Z</dcterms:created>
  <dcterms:modified xsi:type="dcterms:W3CDTF">2020-09-04T05:10:23Z</dcterms:modified>
</cp:coreProperties>
</file>