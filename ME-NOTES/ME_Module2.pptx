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301" r:id="rId38"/>
    <p:sldId id="292" r:id="rId39"/>
    <p:sldId id="293" r:id="rId40"/>
    <p:sldId id="302" r:id="rId41"/>
    <p:sldId id="294" r:id="rId42"/>
    <p:sldId id="303" r:id="rId43"/>
    <p:sldId id="295" r:id="rId44"/>
    <p:sldId id="296" r:id="rId45"/>
    <p:sldId id="297" r:id="rId46"/>
    <p:sldId id="298" r:id="rId47"/>
    <p:sldId id="299" r:id="rId48"/>
    <p:sldId id="300"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E7011676-4C06-4713-ABC6-25631E9EF4F1}" type="datetimeFigureOut">
              <a:rPr lang="en-IN" smtClean="0"/>
              <a:t>26-09-2020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393EE3-EE80-43A1-B928-2364C35ED6ED}" type="slidenum">
              <a:rPr lang="en-IN" smtClean="0"/>
              <a:t>‹#›</a:t>
            </a:fld>
            <a:endParaRPr lang="en-IN"/>
          </a:p>
        </p:txBody>
      </p:sp>
    </p:spTree>
    <p:extLst>
      <p:ext uri="{BB962C8B-B14F-4D97-AF65-F5344CB8AC3E}">
        <p14:creationId xmlns:p14="http://schemas.microsoft.com/office/powerpoint/2010/main" val="5855151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7011676-4C06-4713-ABC6-25631E9EF4F1}" type="datetimeFigureOut">
              <a:rPr lang="en-IN" smtClean="0"/>
              <a:t>26-09-2020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393EE3-EE80-43A1-B928-2364C35ED6ED}" type="slidenum">
              <a:rPr lang="en-IN" smtClean="0"/>
              <a:t>‹#›</a:t>
            </a:fld>
            <a:endParaRPr lang="en-IN"/>
          </a:p>
        </p:txBody>
      </p:sp>
    </p:spTree>
    <p:extLst>
      <p:ext uri="{BB962C8B-B14F-4D97-AF65-F5344CB8AC3E}">
        <p14:creationId xmlns:p14="http://schemas.microsoft.com/office/powerpoint/2010/main" val="29987524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7011676-4C06-4713-ABC6-25631E9EF4F1}" type="datetimeFigureOut">
              <a:rPr lang="en-IN" smtClean="0"/>
              <a:t>26-09-2020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393EE3-EE80-43A1-B928-2364C35ED6ED}" type="slidenum">
              <a:rPr lang="en-IN" smtClean="0"/>
              <a:t>‹#›</a:t>
            </a:fld>
            <a:endParaRPr lang="en-IN"/>
          </a:p>
        </p:txBody>
      </p:sp>
    </p:spTree>
    <p:extLst>
      <p:ext uri="{BB962C8B-B14F-4D97-AF65-F5344CB8AC3E}">
        <p14:creationId xmlns:p14="http://schemas.microsoft.com/office/powerpoint/2010/main" val="24118766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E7011676-4C06-4713-ABC6-25631E9EF4F1}" type="datetimeFigureOut">
              <a:rPr lang="en-IN" smtClean="0"/>
              <a:t>26-09-2020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393EE3-EE80-43A1-B928-2364C35ED6ED}" type="slidenum">
              <a:rPr lang="en-IN" smtClean="0"/>
              <a:t>‹#›</a:t>
            </a:fld>
            <a:endParaRPr lang="en-IN"/>
          </a:p>
        </p:txBody>
      </p:sp>
    </p:spTree>
    <p:extLst>
      <p:ext uri="{BB962C8B-B14F-4D97-AF65-F5344CB8AC3E}">
        <p14:creationId xmlns:p14="http://schemas.microsoft.com/office/powerpoint/2010/main" val="3423451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E7011676-4C06-4713-ABC6-25631E9EF4F1}" type="datetimeFigureOut">
              <a:rPr lang="en-IN" smtClean="0"/>
              <a:t>26-09-2020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A393EE3-EE80-43A1-B928-2364C35ED6ED}" type="slidenum">
              <a:rPr lang="en-IN" smtClean="0"/>
              <a:t>‹#›</a:t>
            </a:fld>
            <a:endParaRPr lang="en-IN"/>
          </a:p>
        </p:txBody>
      </p:sp>
    </p:spTree>
    <p:extLst>
      <p:ext uri="{BB962C8B-B14F-4D97-AF65-F5344CB8AC3E}">
        <p14:creationId xmlns:p14="http://schemas.microsoft.com/office/powerpoint/2010/main" val="2649538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E7011676-4C06-4713-ABC6-25631E9EF4F1}" type="datetimeFigureOut">
              <a:rPr lang="en-IN" smtClean="0"/>
              <a:t>26-09-2020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A393EE3-EE80-43A1-B928-2364C35ED6ED}" type="slidenum">
              <a:rPr lang="en-IN" smtClean="0"/>
              <a:t>‹#›</a:t>
            </a:fld>
            <a:endParaRPr lang="en-IN"/>
          </a:p>
        </p:txBody>
      </p:sp>
    </p:spTree>
    <p:extLst>
      <p:ext uri="{BB962C8B-B14F-4D97-AF65-F5344CB8AC3E}">
        <p14:creationId xmlns:p14="http://schemas.microsoft.com/office/powerpoint/2010/main" val="10711129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011676-4C06-4713-ABC6-25631E9EF4F1}" type="datetimeFigureOut">
              <a:rPr lang="en-IN" smtClean="0"/>
              <a:t>26-09-2020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A393EE3-EE80-43A1-B928-2364C35ED6ED}" type="slidenum">
              <a:rPr lang="en-IN" smtClean="0"/>
              <a:t>‹#›</a:t>
            </a:fld>
            <a:endParaRPr lang="en-IN"/>
          </a:p>
        </p:txBody>
      </p:sp>
    </p:spTree>
    <p:extLst>
      <p:ext uri="{BB962C8B-B14F-4D97-AF65-F5344CB8AC3E}">
        <p14:creationId xmlns:p14="http://schemas.microsoft.com/office/powerpoint/2010/main" val="3488440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7011676-4C06-4713-ABC6-25631E9EF4F1}" type="datetimeFigureOut">
              <a:rPr lang="en-IN" smtClean="0"/>
              <a:t>26-09-2020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393EE3-EE80-43A1-B928-2364C35ED6ED}" type="slidenum">
              <a:rPr lang="en-IN" smtClean="0"/>
              <a:t>‹#›</a:t>
            </a:fld>
            <a:endParaRPr lang="en-IN"/>
          </a:p>
        </p:txBody>
      </p:sp>
    </p:spTree>
    <p:extLst>
      <p:ext uri="{BB962C8B-B14F-4D97-AF65-F5344CB8AC3E}">
        <p14:creationId xmlns:p14="http://schemas.microsoft.com/office/powerpoint/2010/main" val="1744665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7011676-4C06-4713-ABC6-25631E9EF4F1}" type="datetimeFigureOut">
              <a:rPr lang="en-IN" smtClean="0"/>
              <a:t>26-09-2020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393EE3-EE80-43A1-B928-2364C35ED6ED}" type="slidenum">
              <a:rPr lang="en-IN" smtClean="0"/>
              <a:t>‹#›</a:t>
            </a:fld>
            <a:endParaRPr lang="en-IN"/>
          </a:p>
        </p:txBody>
      </p:sp>
    </p:spTree>
    <p:extLst>
      <p:ext uri="{BB962C8B-B14F-4D97-AF65-F5344CB8AC3E}">
        <p14:creationId xmlns:p14="http://schemas.microsoft.com/office/powerpoint/2010/main" val="653019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7011676-4C06-4713-ABC6-25631E9EF4F1}" type="datetimeFigureOut">
              <a:rPr lang="en-IN" smtClean="0"/>
              <a:t>26-09-2020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393EE3-EE80-43A1-B928-2364C35ED6ED}" type="slidenum">
              <a:rPr lang="en-IN" smtClean="0"/>
              <a:t>‹#›</a:t>
            </a:fld>
            <a:endParaRPr lang="en-IN"/>
          </a:p>
        </p:txBody>
      </p:sp>
    </p:spTree>
    <p:extLst>
      <p:ext uri="{BB962C8B-B14F-4D97-AF65-F5344CB8AC3E}">
        <p14:creationId xmlns:p14="http://schemas.microsoft.com/office/powerpoint/2010/main" val="3239108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7011676-4C06-4713-ABC6-25631E9EF4F1}" type="datetimeFigureOut">
              <a:rPr lang="en-IN" smtClean="0"/>
              <a:t>26-09-2020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393EE3-EE80-43A1-B928-2364C35ED6ED}" type="slidenum">
              <a:rPr lang="en-IN" smtClean="0"/>
              <a:t>‹#›</a:t>
            </a:fld>
            <a:endParaRPr lang="en-IN"/>
          </a:p>
        </p:txBody>
      </p:sp>
    </p:spTree>
    <p:extLst>
      <p:ext uri="{BB962C8B-B14F-4D97-AF65-F5344CB8AC3E}">
        <p14:creationId xmlns:p14="http://schemas.microsoft.com/office/powerpoint/2010/main" val="751199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011676-4C06-4713-ABC6-25631E9EF4F1}" type="datetimeFigureOut">
              <a:rPr lang="en-IN" smtClean="0"/>
              <a:t>26-09-2020</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393EE3-EE80-43A1-B928-2364C35ED6ED}" type="slidenum">
              <a:rPr lang="en-IN" smtClean="0"/>
              <a:t>‹#›</a:t>
            </a:fld>
            <a:endParaRPr lang="en-IN"/>
          </a:p>
        </p:txBody>
      </p:sp>
    </p:spTree>
    <p:extLst>
      <p:ext uri="{BB962C8B-B14F-4D97-AF65-F5344CB8AC3E}">
        <p14:creationId xmlns:p14="http://schemas.microsoft.com/office/powerpoint/2010/main" val="3763701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9093" y="412123"/>
            <a:ext cx="11526592" cy="6181859"/>
          </a:xfrm>
        </p:spPr>
        <p:txBody>
          <a:bodyPr/>
          <a:lstStyle/>
          <a:p>
            <a:r>
              <a:rPr lang="en-IN" b="1" dirty="0">
                <a:solidFill>
                  <a:schemeClr val="accent1"/>
                </a:solidFill>
              </a:rPr>
              <a:t>ME FOR IT INDUSTRY (</a:t>
            </a:r>
            <a:r>
              <a:rPr lang="en-IN" b="1" dirty="0" smtClean="0">
                <a:solidFill>
                  <a:schemeClr val="accent1"/>
                </a:solidFill>
              </a:rPr>
              <a:t>18CS51</a:t>
            </a:r>
            <a:r>
              <a:rPr lang="en-IN" b="1" dirty="0">
                <a:solidFill>
                  <a:schemeClr val="accent1"/>
                </a:solidFill>
              </a:rPr>
              <a:t>)</a:t>
            </a:r>
            <a:endParaRPr lang="en-IN" dirty="0">
              <a:solidFill>
                <a:schemeClr val="accent1"/>
              </a:solidFill>
            </a:endParaRPr>
          </a:p>
          <a:p>
            <a:pPr algn="l"/>
            <a:r>
              <a:rPr lang="en-IN" b="1" dirty="0">
                <a:solidFill>
                  <a:schemeClr val="accent1"/>
                </a:solidFill>
              </a:rPr>
              <a:t>Syllabus </a:t>
            </a:r>
            <a:r>
              <a:rPr lang="en-IN" b="1" dirty="0" smtClean="0">
                <a:solidFill>
                  <a:schemeClr val="accent1"/>
                </a:solidFill>
              </a:rPr>
              <a:t>Module-2</a:t>
            </a:r>
            <a:endParaRPr lang="en-IN" dirty="0">
              <a:solidFill>
                <a:schemeClr val="accent1"/>
              </a:solidFill>
            </a:endParaRPr>
          </a:p>
          <a:p>
            <a:pPr algn="just"/>
            <a:r>
              <a:rPr lang="en-IN" b="1" dirty="0" smtClean="0"/>
              <a:t>Directing - </a:t>
            </a:r>
            <a:r>
              <a:rPr lang="en-IN" dirty="0"/>
              <a:t>M</a:t>
            </a:r>
            <a:r>
              <a:rPr lang="en-IN" dirty="0" smtClean="0"/>
              <a:t>eaning </a:t>
            </a:r>
            <a:r>
              <a:rPr lang="en-IN" dirty="0"/>
              <a:t>and nature of directing, leadership styles, motivation Theories, </a:t>
            </a:r>
            <a:r>
              <a:rPr lang="en-IN" b="1" dirty="0"/>
              <a:t>Communication</a:t>
            </a:r>
            <a:r>
              <a:rPr lang="en-IN" dirty="0"/>
              <a:t>- Meaning and importance, </a:t>
            </a:r>
            <a:r>
              <a:rPr lang="en-IN" b="1" dirty="0"/>
              <a:t>Coordination</a:t>
            </a:r>
            <a:r>
              <a:rPr lang="en-IN" dirty="0"/>
              <a:t>- meaning and importance, </a:t>
            </a:r>
            <a:r>
              <a:rPr lang="en-IN" b="1" dirty="0"/>
              <a:t>Controlling</a:t>
            </a:r>
            <a:r>
              <a:rPr lang="en-IN" dirty="0"/>
              <a:t>- meaning, steps in controlling, methods of establishing control</a:t>
            </a:r>
            <a:r>
              <a:rPr lang="en-IN" b="1" dirty="0"/>
              <a:t>.</a:t>
            </a:r>
            <a:endParaRPr lang="en-IN" dirty="0"/>
          </a:p>
          <a:p>
            <a:pPr algn="l"/>
            <a:endParaRPr lang="en-IN" dirty="0" smtClean="0"/>
          </a:p>
          <a:p>
            <a:pPr marL="342900" indent="-342900" algn="l">
              <a:buFont typeface="Wingdings" panose="05000000000000000000" pitchFamily="2" charset="2"/>
              <a:buChar char="Ø"/>
            </a:pPr>
            <a:r>
              <a:rPr lang="en-IN" b="1" dirty="0">
                <a:solidFill>
                  <a:schemeClr val="accent1"/>
                </a:solidFill>
              </a:rPr>
              <a:t>Directing (Meaning and Nature of directing)</a:t>
            </a:r>
          </a:p>
          <a:p>
            <a:pPr algn="l"/>
            <a:r>
              <a:rPr lang="en-IN" dirty="0" smtClean="0"/>
              <a:t>- Direction </a:t>
            </a:r>
            <a:r>
              <a:rPr lang="en-IN" dirty="0"/>
              <a:t>is a vital management </a:t>
            </a:r>
            <a:r>
              <a:rPr lang="en-IN" dirty="0" smtClean="0"/>
              <a:t>function.</a:t>
            </a:r>
          </a:p>
          <a:p>
            <a:pPr algn="l"/>
            <a:r>
              <a:rPr lang="en-IN" dirty="0" smtClean="0"/>
              <a:t>- Direction </a:t>
            </a:r>
            <a:r>
              <a:rPr lang="en-IN" dirty="0"/>
              <a:t>means </a:t>
            </a:r>
            <a:r>
              <a:rPr lang="en-IN" b="1" dirty="0"/>
              <a:t>issuance of orders, leading and motivating </a:t>
            </a:r>
            <a:r>
              <a:rPr lang="en-IN" dirty="0"/>
              <a:t>subordinates to execute the orders. Without the issuance of orders, without leading and motivating subordinates nothing can be accomplished.</a:t>
            </a:r>
          </a:p>
          <a:p>
            <a:pPr algn="l"/>
            <a:r>
              <a:rPr lang="en-IN" dirty="0" smtClean="0"/>
              <a:t>- According </a:t>
            </a:r>
            <a:r>
              <a:rPr lang="en-IN" dirty="0"/>
              <a:t>to </a:t>
            </a:r>
            <a:r>
              <a:rPr lang="en-IN" b="1" dirty="0" err="1"/>
              <a:t>Haimann</a:t>
            </a:r>
            <a:r>
              <a:rPr lang="en-IN" dirty="0"/>
              <a:t> - </a:t>
            </a:r>
            <a:r>
              <a:rPr lang="en-IN" b="1" dirty="0"/>
              <a:t>Directing</a:t>
            </a:r>
            <a:r>
              <a:rPr lang="en-IN" dirty="0"/>
              <a:t> consists of the </a:t>
            </a:r>
            <a:r>
              <a:rPr lang="en-IN" dirty="0" smtClean="0"/>
              <a:t>processes </a:t>
            </a:r>
            <a:r>
              <a:rPr lang="en-IN" dirty="0"/>
              <a:t>and techniques utilised in </a:t>
            </a:r>
            <a:r>
              <a:rPr lang="en-IN" b="1" dirty="0"/>
              <a:t>issuing instructions </a:t>
            </a:r>
            <a:r>
              <a:rPr lang="en-IN" dirty="0"/>
              <a:t>and making sure that operations are carried out as originally planned.”</a:t>
            </a:r>
          </a:p>
          <a:p>
            <a:pPr algn="l"/>
            <a:r>
              <a:rPr lang="en-IN" dirty="0" smtClean="0"/>
              <a:t>- Directing </a:t>
            </a:r>
            <a:r>
              <a:rPr lang="en-IN" dirty="0"/>
              <a:t>is also called </a:t>
            </a:r>
            <a:r>
              <a:rPr lang="en-IN" b="1" dirty="0"/>
              <a:t>management in action</a:t>
            </a:r>
            <a:r>
              <a:rPr lang="en-IN" dirty="0"/>
              <a:t>.</a:t>
            </a:r>
          </a:p>
          <a:p>
            <a:pPr algn="l"/>
            <a:endParaRPr lang="en-IN" dirty="0"/>
          </a:p>
        </p:txBody>
      </p:sp>
    </p:spTree>
    <p:extLst>
      <p:ext uri="{BB962C8B-B14F-4D97-AF65-F5344CB8AC3E}">
        <p14:creationId xmlns:p14="http://schemas.microsoft.com/office/powerpoint/2010/main" val="127856550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05306" y="412123"/>
            <a:ext cx="11024316" cy="5950039"/>
          </a:xfrm>
        </p:spPr>
        <p:txBody>
          <a:bodyPr/>
          <a:lstStyle/>
          <a:p>
            <a:pPr algn="l"/>
            <a:r>
              <a:rPr lang="en-IN" b="1" dirty="0" smtClean="0"/>
              <a:t>- The </a:t>
            </a:r>
            <a:r>
              <a:rPr lang="en-IN" b="1" dirty="0"/>
              <a:t>function of direction </a:t>
            </a:r>
            <a:r>
              <a:rPr lang="en-IN" b="1" dirty="0" smtClean="0"/>
              <a:t>thus </a:t>
            </a:r>
            <a:r>
              <a:rPr lang="en-IN" b="1" dirty="0"/>
              <a:t>breaks down into two major activities:</a:t>
            </a:r>
          </a:p>
          <a:p>
            <a:pPr algn="l"/>
            <a:r>
              <a:rPr lang="en-IN" dirty="0"/>
              <a:t>1. Giving orders to employees, and </a:t>
            </a:r>
          </a:p>
          <a:p>
            <a:pPr algn="l"/>
            <a:r>
              <a:rPr lang="en-IN" dirty="0"/>
              <a:t>2. Leading and motivating </a:t>
            </a:r>
            <a:r>
              <a:rPr lang="en-IN" dirty="0" smtClean="0"/>
              <a:t>them</a:t>
            </a:r>
          </a:p>
          <a:p>
            <a:pPr algn="l"/>
            <a:endParaRPr lang="en-IN" dirty="0"/>
          </a:p>
          <a:p>
            <a:pPr marL="342900" indent="-342900" algn="l">
              <a:buFont typeface="Wingdings" panose="05000000000000000000" pitchFamily="2" charset="2"/>
              <a:buChar char="Ø"/>
            </a:pPr>
            <a:r>
              <a:rPr lang="en-IN" b="1" dirty="0">
                <a:solidFill>
                  <a:schemeClr val="accent1"/>
                </a:solidFill>
              </a:rPr>
              <a:t>Requirements of effective direction</a:t>
            </a:r>
            <a:endParaRPr lang="en-IN" dirty="0">
              <a:solidFill>
                <a:schemeClr val="accent1"/>
              </a:solidFill>
            </a:endParaRPr>
          </a:p>
          <a:p>
            <a:pPr algn="l"/>
            <a:r>
              <a:rPr lang="en-IN" dirty="0" smtClean="0"/>
              <a:t>- Some </a:t>
            </a:r>
            <a:r>
              <a:rPr lang="en-IN" dirty="0"/>
              <a:t>important principles or requirements of effective direction are-</a:t>
            </a:r>
          </a:p>
          <a:p>
            <a:pPr algn="l"/>
            <a:r>
              <a:rPr lang="en-IN" dirty="0" smtClean="0"/>
              <a:t>1. Harmony </a:t>
            </a:r>
            <a:r>
              <a:rPr lang="en-IN" dirty="0"/>
              <a:t>of Objectives </a:t>
            </a:r>
          </a:p>
          <a:p>
            <a:pPr algn="l"/>
            <a:r>
              <a:rPr lang="en-IN" dirty="0" smtClean="0"/>
              <a:t>2. Unity </a:t>
            </a:r>
            <a:r>
              <a:rPr lang="en-IN" dirty="0"/>
              <a:t>of Command</a:t>
            </a:r>
          </a:p>
          <a:p>
            <a:pPr algn="l"/>
            <a:r>
              <a:rPr lang="en-IN" dirty="0" smtClean="0"/>
              <a:t>3. Direct </a:t>
            </a:r>
            <a:r>
              <a:rPr lang="en-IN" dirty="0"/>
              <a:t>Supervision</a:t>
            </a:r>
          </a:p>
          <a:p>
            <a:pPr algn="l"/>
            <a:r>
              <a:rPr lang="en-IN" dirty="0" smtClean="0"/>
              <a:t>4. Efficient </a:t>
            </a:r>
            <a:r>
              <a:rPr lang="en-IN" dirty="0"/>
              <a:t>Communication</a:t>
            </a:r>
          </a:p>
          <a:p>
            <a:pPr algn="l"/>
            <a:r>
              <a:rPr lang="en-IN" dirty="0" smtClean="0"/>
              <a:t>5. Follow-through</a:t>
            </a:r>
            <a:endParaRPr lang="en-IN" dirty="0"/>
          </a:p>
          <a:p>
            <a:pPr algn="l"/>
            <a:endParaRPr lang="en-IN" dirty="0"/>
          </a:p>
        </p:txBody>
      </p:sp>
    </p:spTree>
    <p:extLst>
      <p:ext uri="{BB962C8B-B14F-4D97-AF65-F5344CB8AC3E}">
        <p14:creationId xmlns:p14="http://schemas.microsoft.com/office/powerpoint/2010/main" val="192241622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40913" y="373487"/>
            <a:ext cx="11088710" cy="5962918"/>
          </a:xfrm>
        </p:spPr>
        <p:txBody>
          <a:bodyPr/>
          <a:lstStyle/>
          <a:p>
            <a:pPr marL="342900" indent="-342900" algn="l">
              <a:buFont typeface="Wingdings" panose="05000000000000000000" pitchFamily="2" charset="2"/>
              <a:buChar char="Ø"/>
            </a:pPr>
            <a:r>
              <a:rPr lang="en-IN" b="1" dirty="0">
                <a:solidFill>
                  <a:schemeClr val="accent1"/>
                </a:solidFill>
              </a:rPr>
              <a:t>Leadership</a:t>
            </a:r>
            <a:endParaRPr lang="en-IN" dirty="0">
              <a:solidFill>
                <a:schemeClr val="accent1"/>
              </a:solidFill>
            </a:endParaRPr>
          </a:p>
          <a:p>
            <a:pPr algn="l"/>
            <a:r>
              <a:rPr lang="en-IN" dirty="0" smtClean="0"/>
              <a:t>- According </a:t>
            </a:r>
            <a:r>
              <a:rPr lang="en-IN" dirty="0"/>
              <a:t>to </a:t>
            </a:r>
            <a:r>
              <a:rPr lang="en-IN" b="1" dirty="0"/>
              <a:t>Peter Drucker</a:t>
            </a:r>
            <a:r>
              <a:rPr lang="en-IN" dirty="0"/>
              <a:t> - “</a:t>
            </a:r>
            <a:r>
              <a:rPr lang="en-IN" b="1" dirty="0"/>
              <a:t>Leadership</a:t>
            </a:r>
            <a:r>
              <a:rPr lang="en-IN" dirty="0"/>
              <a:t> is the lifting of man’s visions to higher sights, </a:t>
            </a:r>
            <a:r>
              <a:rPr lang="en-IN" dirty="0" smtClean="0"/>
              <a:t>raising </a:t>
            </a:r>
            <a:r>
              <a:rPr lang="en-IN" dirty="0"/>
              <a:t>of man’s performance to a higher standard, the building of man’s personality beyond its normal limitations.</a:t>
            </a:r>
          </a:p>
          <a:p>
            <a:pPr marL="342900" indent="-342900" algn="l">
              <a:buFont typeface="Arial" panose="020B0604020202020204" pitchFamily="34" charset="0"/>
              <a:buChar char="•"/>
            </a:pPr>
            <a:r>
              <a:rPr lang="en-IN" b="1" dirty="0">
                <a:solidFill>
                  <a:schemeClr val="accent1"/>
                </a:solidFill>
              </a:rPr>
              <a:t>Difference between a leader and a manager</a:t>
            </a:r>
            <a:endParaRPr lang="en-IN" dirty="0">
              <a:solidFill>
                <a:schemeClr val="accent1"/>
              </a:solidFill>
            </a:endParaRPr>
          </a:p>
          <a:p>
            <a:pPr algn="l"/>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351304974"/>
              </p:ext>
            </p:extLst>
          </p:nvPr>
        </p:nvGraphicFramePr>
        <p:xfrm>
          <a:off x="540913" y="2524259"/>
          <a:ext cx="11088710" cy="4043966"/>
        </p:xfrm>
        <a:graphic>
          <a:graphicData uri="http://schemas.openxmlformats.org/drawingml/2006/table">
            <a:tbl>
              <a:tblPr>
                <a:tableStyleId>{5C22544A-7EE6-4342-B048-85BDC9FD1C3A}</a:tableStyleId>
              </a:tblPr>
              <a:tblGrid>
                <a:gridCol w="5544355"/>
                <a:gridCol w="5544355"/>
              </a:tblGrid>
              <a:tr h="329052">
                <a:tc>
                  <a:txBody>
                    <a:bodyPr/>
                    <a:lstStyle/>
                    <a:p>
                      <a:pPr algn="ctr">
                        <a:lnSpc>
                          <a:spcPct val="107000"/>
                        </a:lnSpc>
                        <a:spcAft>
                          <a:spcPts val="0"/>
                        </a:spcAft>
                      </a:pPr>
                      <a:r>
                        <a:rPr lang="en-IN" sz="1600" b="1" dirty="0">
                          <a:effectLst/>
                        </a:rPr>
                        <a:t>Leader</a:t>
                      </a:r>
                      <a:endParaRPr lang="en-IN" sz="16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1600" b="1" dirty="0">
                          <a:effectLst/>
                        </a:rPr>
                        <a:t>Manager</a:t>
                      </a:r>
                      <a:endParaRPr lang="en-IN" sz="16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r>
              <a:tr h="673442">
                <a:tc>
                  <a:txBody>
                    <a:bodyPr/>
                    <a:lstStyle/>
                    <a:p>
                      <a:pPr marL="342900" lvl="0" indent="-342900" algn="just">
                        <a:lnSpc>
                          <a:spcPct val="107000"/>
                        </a:lnSpc>
                        <a:spcAft>
                          <a:spcPts val="0"/>
                        </a:spcAft>
                        <a:buFont typeface="Arial" panose="020B0604020202020204" pitchFamily="34" charset="0"/>
                        <a:buChar char="•"/>
                      </a:pPr>
                      <a:r>
                        <a:rPr lang="en-IN" sz="1600">
                          <a:effectLst/>
                        </a:rPr>
                        <a:t>A person emerges as a leader.</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342900" lvl="0" indent="-342900" algn="just">
                        <a:lnSpc>
                          <a:spcPct val="107000"/>
                        </a:lnSpc>
                        <a:spcAft>
                          <a:spcPts val="0"/>
                        </a:spcAft>
                        <a:buFont typeface="Arial" panose="020B0604020202020204" pitchFamily="34" charset="0"/>
                        <a:buChar char="•"/>
                      </a:pPr>
                      <a:r>
                        <a:rPr lang="en-IN" sz="1600">
                          <a:effectLst/>
                        </a:rPr>
                        <a:t>A manager, on the other hand, is always put into his position by appointment.</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r>
              <a:tr h="1021146">
                <a:tc>
                  <a:txBody>
                    <a:bodyPr/>
                    <a:lstStyle/>
                    <a:p>
                      <a:pPr marL="342900" lvl="0" indent="-342900" algn="just">
                        <a:lnSpc>
                          <a:spcPct val="107000"/>
                        </a:lnSpc>
                        <a:spcAft>
                          <a:spcPts val="0"/>
                        </a:spcAft>
                        <a:buFont typeface="Arial" panose="020B0604020202020204" pitchFamily="34" charset="0"/>
                        <a:buChar char="•"/>
                      </a:pPr>
                      <a:r>
                        <a:rPr lang="en-IN" sz="1600" dirty="0">
                          <a:effectLst/>
                        </a:rPr>
                        <a:t>A leader always has some personal power (i.e., ability to influence) that enables him to lead. He may or may not have positional power (i.e., the right to command).</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342900" lvl="0" indent="-342900" algn="just">
                        <a:lnSpc>
                          <a:spcPct val="107000"/>
                        </a:lnSpc>
                        <a:spcAft>
                          <a:spcPts val="0"/>
                        </a:spcAft>
                        <a:buFont typeface="Arial" panose="020B0604020202020204" pitchFamily="34" charset="0"/>
                        <a:buChar char="•"/>
                      </a:pPr>
                      <a:r>
                        <a:rPr lang="en-IN" sz="1600">
                          <a:effectLst/>
                        </a:rPr>
                        <a:t>A manager, on the other hand, always has some positional power. He may or may not have personal power.</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r>
              <a:tr h="1017832">
                <a:tc>
                  <a:txBody>
                    <a:bodyPr/>
                    <a:lstStyle/>
                    <a:p>
                      <a:pPr marL="342900" lvl="0" indent="-342900" algn="just">
                        <a:lnSpc>
                          <a:spcPct val="107000"/>
                        </a:lnSpc>
                        <a:spcAft>
                          <a:spcPts val="0"/>
                        </a:spcAft>
                        <a:buFont typeface="Arial" panose="020B0604020202020204" pitchFamily="34" charset="0"/>
                        <a:buChar char="•"/>
                      </a:pPr>
                      <a:r>
                        <a:rPr lang="en-IN" sz="1600" dirty="0">
                          <a:effectLst/>
                        </a:rPr>
                        <a:t>A leader focuses on people and generally seeks those </a:t>
                      </a:r>
                      <a:r>
                        <a:rPr lang="en-IN" sz="1600" dirty="0" smtClean="0">
                          <a:effectLst/>
                        </a:rPr>
                        <a:t>objectives </a:t>
                      </a:r>
                      <a:r>
                        <a:rPr lang="en-IN" sz="1600" dirty="0">
                          <a:effectLst/>
                        </a:rPr>
                        <a:t>which are the objectives of his followers.</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342900" lvl="0" indent="-342900" algn="just">
                        <a:lnSpc>
                          <a:spcPct val="107000"/>
                        </a:lnSpc>
                        <a:spcAft>
                          <a:spcPts val="0"/>
                        </a:spcAft>
                        <a:buFont typeface="Arial" panose="020B0604020202020204" pitchFamily="34" charset="0"/>
                        <a:buChar char="•"/>
                      </a:pPr>
                      <a:r>
                        <a:rPr lang="en-IN" sz="1600">
                          <a:effectLst/>
                        </a:rPr>
                        <a:t>Manager on the other hand, focuses on systems and structures and seeks those objectives which his subordinates do not regard as their own.</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r>
              <a:tr h="673442">
                <a:tc>
                  <a:txBody>
                    <a:bodyPr/>
                    <a:lstStyle/>
                    <a:p>
                      <a:pPr marL="342900" lvl="0" indent="-342900" algn="just">
                        <a:lnSpc>
                          <a:spcPct val="107000"/>
                        </a:lnSpc>
                        <a:spcAft>
                          <a:spcPts val="0"/>
                        </a:spcAft>
                        <a:buFont typeface="Arial" panose="020B0604020202020204" pitchFamily="34" charset="0"/>
                        <a:buChar char="•"/>
                      </a:pPr>
                      <a:r>
                        <a:rPr lang="en-IN" sz="1600">
                          <a:effectLst/>
                        </a:rPr>
                        <a:t>A leader generally looks at the horizon and not just the bottom line.</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342900" lvl="0" indent="-342900" algn="just">
                        <a:lnSpc>
                          <a:spcPct val="107000"/>
                        </a:lnSpc>
                        <a:spcAft>
                          <a:spcPts val="0"/>
                        </a:spcAft>
                        <a:buFont typeface="Arial" panose="020B0604020202020204" pitchFamily="34" charset="0"/>
                        <a:buChar char="•"/>
                      </a:pPr>
                      <a:r>
                        <a:rPr lang="en-IN" sz="1600" dirty="0">
                          <a:effectLst/>
                        </a:rPr>
                        <a:t>A manager, on the other hand, is generally bureaucratic  </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r>
              <a:tr h="329052">
                <a:tc>
                  <a:txBody>
                    <a:bodyPr/>
                    <a:lstStyle/>
                    <a:p>
                      <a:pPr marL="342900" lvl="0" indent="-342900" algn="just">
                        <a:lnSpc>
                          <a:spcPct val="107000"/>
                        </a:lnSpc>
                        <a:spcAft>
                          <a:spcPts val="0"/>
                        </a:spcAft>
                        <a:buFont typeface="Arial" panose="020B0604020202020204" pitchFamily="34" charset="0"/>
                        <a:buChar char="•"/>
                      </a:pPr>
                      <a:r>
                        <a:rPr lang="en-IN" sz="1600">
                          <a:effectLst/>
                        </a:rPr>
                        <a:t>He believes in doing right things.</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342900" lvl="0" indent="-342900" algn="just">
                        <a:lnSpc>
                          <a:spcPct val="107000"/>
                        </a:lnSpc>
                        <a:spcAft>
                          <a:spcPts val="0"/>
                        </a:spcAft>
                        <a:buFont typeface="Arial" panose="020B0604020202020204" pitchFamily="34" charset="0"/>
                        <a:buChar char="•"/>
                      </a:pPr>
                      <a:r>
                        <a:rPr lang="en-IN" sz="1600" dirty="0">
                          <a:effectLst/>
                        </a:rPr>
                        <a:t>He believes in doing things right</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r>
            </a:tbl>
          </a:graphicData>
        </a:graphic>
      </p:graphicFrame>
    </p:spTree>
    <p:extLst>
      <p:ext uri="{BB962C8B-B14F-4D97-AF65-F5344CB8AC3E}">
        <p14:creationId xmlns:p14="http://schemas.microsoft.com/office/powerpoint/2010/main" val="239239776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63639" y="502276"/>
            <a:ext cx="11178862" cy="5872766"/>
          </a:xfrm>
        </p:spPr>
        <p:txBody>
          <a:bodyPr>
            <a:normAutofit lnSpcReduction="10000"/>
          </a:bodyPr>
          <a:lstStyle/>
          <a:p>
            <a:pPr marL="342900" indent="-342900" algn="l">
              <a:buFont typeface="Wingdings" panose="05000000000000000000" pitchFamily="2" charset="2"/>
              <a:buChar char="Ø"/>
            </a:pPr>
            <a:r>
              <a:rPr lang="en-IN" b="1" dirty="0">
                <a:solidFill>
                  <a:schemeClr val="accent1"/>
                </a:solidFill>
              </a:rPr>
              <a:t>Leadership styles or approaches to leadership</a:t>
            </a:r>
            <a:endParaRPr lang="en-IN" dirty="0">
              <a:solidFill>
                <a:schemeClr val="accent1"/>
              </a:solidFill>
            </a:endParaRPr>
          </a:p>
          <a:p>
            <a:pPr algn="l"/>
            <a:r>
              <a:rPr lang="en-IN" dirty="0" smtClean="0"/>
              <a:t>- Following </a:t>
            </a:r>
            <a:r>
              <a:rPr lang="en-IN" dirty="0"/>
              <a:t>are three important approaches to studying leadership: </a:t>
            </a:r>
          </a:p>
          <a:p>
            <a:pPr algn="l"/>
            <a:r>
              <a:rPr lang="en-IN" dirty="0"/>
              <a:t>(1) Traits approach</a:t>
            </a:r>
          </a:p>
          <a:p>
            <a:pPr algn="l"/>
            <a:r>
              <a:rPr lang="en-IN" dirty="0"/>
              <a:t>(2) Behavioural approach and </a:t>
            </a:r>
          </a:p>
          <a:p>
            <a:pPr algn="l"/>
            <a:r>
              <a:rPr lang="en-IN" dirty="0"/>
              <a:t>(3) Contingency approach</a:t>
            </a:r>
            <a:r>
              <a:rPr lang="en-IN" dirty="0" smtClean="0"/>
              <a:t>.</a:t>
            </a:r>
          </a:p>
          <a:p>
            <a:pPr algn="l"/>
            <a:endParaRPr lang="en-IN" dirty="0"/>
          </a:p>
          <a:p>
            <a:pPr marL="342900" indent="-342900" algn="l">
              <a:buFont typeface="Arial" panose="020B0604020202020204" pitchFamily="34" charset="0"/>
              <a:buChar char="•"/>
            </a:pPr>
            <a:r>
              <a:rPr lang="en-IN" b="1" dirty="0" smtClean="0">
                <a:solidFill>
                  <a:schemeClr val="accent1"/>
                </a:solidFill>
              </a:rPr>
              <a:t>Traits </a:t>
            </a:r>
            <a:r>
              <a:rPr lang="en-IN" b="1" dirty="0">
                <a:solidFill>
                  <a:schemeClr val="accent1"/>
                </a:solidFill>
              </a:rPr>
              <a:t>Approach: </a:t>
            </a:r>
            <a:r>
              <a:rPr lang="en-IN" b="1" dirty="0"/>
              <a:t>-</a:t>
            </a:r>
            <a:r>
              <a:rPr lang="en-IN" dirty="0"/>
              <a:t> traits are nothing but </a:t>
            </a:r>
            <a:r>
              <a:rPr lang="en-IN" b="1" dirty="0"/>
              <a:t>characteristics or qualities </a:t>
            </a:r>
            <a:r>
              <a:rPr lang="en-IN" dirty="0"/>
              <a:t>of a leader. </a:t>
            </a:r>
          </a:p>
          <a:p>
            <a:pPr algn="l"/>
            <a:r>
              <a:rPr lang="en-IN" dirty="0" smtClean="0"/>
              <a:t>- Numerous </a:t>
            </a:r>
            <a:r>
              <a:rPr lang="en-IN" dirty="0"/>
              <a:t>trait studies have been made of the </a:t>
            </a:r>
            <a:r>
              <a:rPr lang="en-IN" b="1" dirty="0"/>
              <a:t>physical, intellectual</a:t>
            </a:r>
            <a:r>
              <a:rPr lang="en-IN" dirty="0"/>
              <a:t>, and </a:t>
            </a:r>
            <a:r>
              <a:rPr lang="en-IN" b="1" dirty="0"/>
              <a:t>social characteristics</a:t>
            </a:r>
            <a:r>
              <a:rPr lang="en-IN" dirty="0"/>
              <a:t> of leaders.</a:t>
            </a:r>
          </a:p>
          <a:p>
            <a:pPr algn="l"/>
            <a:r>
              <a:rPr lang="en-IN" b="1" dirty="0" smtClean="0"/>
              <a:t>- According </a:t>
            </a:r>
            <a:r>
              <a:rPr lang="en-IN" b="1" dirty="0"/>
              <a:t>to Fayol the leader should have </a:t>
            </a:r>
            <a:endParaRPr lang="en-IN" dirty="0"/>
          </a:p>
          <a:p>
            <a:pPr lvl="0" algn="l"/>
            <a:r>
              <a:rPr lang="en-IN" dirty="0" smtClean="0"/>
              <a:t>- Good </a:t>
            </a:r>
            <a:r>
              <a:rPr lang="en-IN" dirty="0"/>
              <a:t>health and physical fitness</a:t>
            </a:r>
          </a:p>
          <a:p>
            <a:pPr lvl="0" algn="l"/>
            <a:r>
              <a:rPr lang="en-IN" dirty="0" smtClean="0"/>
              <a:t>- Intelligence </a:t>
            </a:r>
            <a:r>
              <a:rPr lang="en-IN" dirty="0"/>
              <a:t>and mental strength</a:t>
            </a:r>
          </a:p>
          <a:p>
            <a:pPr lvl="0" algn="l"/>
            <a:r>
              <a:rPr lang="en-IN" dirty="0" smtClean="0"/>
              <a:t>- Moral </a:t>
            </a:r>
            <a:r>
              <a:rPr lang="en-IN" dirty="0"/>
              <a:t>qualities</a:t>
            </a:r>
          </a:p>
          <a:p>
            <a:pPr lvl="0" algn="l"/>
            <a:r>
              <a:rPr lang="en-IN" dirty="0" smtClean="0"/>
              <a:t>- Knowledge </a:t>
            </a:r>
            <a:r>
              <a:rPr lang="en-IN" dirty="0"/>
              <a:t>and managerial ability.</a:t>
            </a:r>
          </a:p>
          <a:p>
            <a:pPr algn="l"/>
            <a:endParaRPr lang="en-IN" dirty="0"/>
          </a:p>
        </p:txBody>
      </p:sp>
    </p:spTree>
    <p:extLst>
      <p:ext uri="{BB962C8B-B14F-4D97-AF65-F5344CB8AC3E}">
        <p14:creationId xmlns:p14="http://schemas.microsoft.com/office/powerpoint/2010/main" val="305110056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25003" y="386366"/>
            <a:ext cx="11320529" cy="5988676"/>
          </a:xfrm>
        </p:spPr>
        <p:txBody>
          <a:bodyPr>
            <a:normAutofit fontScale="92500"/>
          </a:bodyPr>
          <a:lstStyle/>
          <a:p>
            <a:pPr algn="l"/>
            <a:r>
              <a:rPr lang="en-IN" b="1" dirty="0" smtClean="0">
                <a:solidFill>
                  <a:schemeClr val="accent1"/>
                </a:solidFill>
              </a:rPr>
              <a:t>- Qualities </a:t>
            </a:r>
            <a:r>
              <a:rPr lang="en-IN" b="1" dirty="0">
                <a:solidFill>
                  <a:schemeClr val="accent1"/>
                </a:solidFill>
              </a:rPr>
              <a:t>of a Leader</a:t>
            </a:r>
            <a:endParaRPr lang="en-IN" dirty="0">
              <a:solidFill>
                <a:schemeClr val="accent1"/>
              </a:solidFill>
            </a:endParaRPr>
          </a:p>
          <a:p>
            <a:pPr algn="l"/>
            <a:r>
              <a:rPr lang="en-IN" dirty="0" smtClean="0"/>
              <a:t>- One </a:t>
            </a:r>
            <a:r>
              <a:rPr lang="en-IN" dirty="0"/>
              <a:t>can group these qualities into three broad categories: </a:t>
            </a:r>
          </a:p>
          <a:p>
            <a:pPr lvl="0" algn="l"/>
            <a:r>
              <a:rPr lang="en-IN" dirty="0" smtClean="0"/>
              <a:t>1. Physical </a:t>
            </a:r>
            <a:r>
              <a:rPr lang="en-IN" dirty="0"/>
              <a:t>qualities</a:t>
            </a:r>
          </a:p>
          <a:p>
            <a:pPr lvl="0" algn="l"/>
            <a:r>
              <a:rPr lang="en-IN" dirty="0" smtClean="0"/>
              <a:t>2. Moral qualities </a:t>
            </a:r>
            <a:r>
              <a:rPr lang="en-IN" dirty="0"/>
              <a:t>and </a:t>
            </a:r>
          </a:p>
          <a:p>
            <a:pPr algn="l"/>
            <a:r>
              <a:rPr lang="en-IN" dirty="0" smtClean="0"/>
              <a:t>3. Mental qualities</a:t>
            </a:r>
          </a:p>
          <a:p>
            <a:pPr algn="l"/>
            <a:r>
              <a:rPr lang="en-IN" b="1" dirty="0" smtClean="0">
                <a:solidFill>
                  <a:schemeClr val="accent1"/>
                </a:solidFill>
              </a:rPr>
              <a:t>1. Physical </a:t>
            </a:r>
            <a:r>
              <a:rPr lang="en-IN" b="1" dirty="0">
                <a:solidFill>
                  <a:schemeClr val="accent1"/>
                </a:solidFill>
              </a:rPr>
              <a:t>qualities:-</a:t>
            </a:r>
            <a:endParaRPr lang="en-IN" dirty="0">
              <a:solidFill>
                <a:schemeClr val="accent1"/>
              </a:solidFill>
            </a:endParaRPr>
          </a:p>
          <a:p>
            <a:pPr algn="l"/>
            <a:r>
              <a:rPr lang="en-IN" dirty="0" smtClean="0"/>
              <a:t>- That </a:t>
            </a:r>
            <a:r>
              <a:rPr lang="en-IN" dirty="0"/>
              <a:t>a leader must possess a </a:t>
            </a:r>
            <a:r>
              <a:rPr lang="en-IN" b="1" dirty="0"/>
              <a:t>high degree of physical </a:t>
            </a:r>
            <a:r>
              <a:rPr lang="en-IN" dirty="0"/>
              <a:t>and </a:t>
            </a:r>
            <a:r>
              <a:rPr lang="en-IN" b="1" dirty="0"/>
              <a:t>nervous energy</a:t>
            </a:r>
            <a:r>
              <a:rPr lang="en-IN" dirty="0"/>
              <a:t>. He must have strong sense in his mission and healthy body and mind to stand up to the stress and strain of his high office and responsibility. </a:t>
            </a:r>
          </a:p>
          <a:p>
            <a:pPr algn="l"/>
            <a:r>
              <a:rPr lang="en-IN" b="1" dirty="0" smtClean="0">
                <a:solidFill>
                  <a:schemeClr val="accent1"/>
                </a:solidFill>
              </a:rPr>
              <a:t>2. Moral </a:t>
            </a:r>
            <a:r>
              <a:rPr lang="en-IN" b="1" dirty="0">
                <a:solidFill>
                  <a:schemeClr val="accent1"/>
                </a:solidFill>
              </a:rPr>
              <a:t>qualities:- </a:t>
            </a:r>
            <a:endParaRPr lang="en-IN" dirty="0">
              <a:solidFill>
                <a:schemeClr val="accent1"/>
              </a:solidFill>
            </a:endParaRPr>
          </a:p>
          <a:p>
            <a:pPr algn="l"/>
            <a:r>
              <a:rPr lang="en-IN" b="1" dirty="0" err="1" smtClean="0">
                <a:solidFill>
                  <a:schemeClr val="accent1"/>
                </a:solidFill>
              </a:rPr>
              <a:t>i</a:t>
            </a:r>
            <a:r>
              <a:rPr lang="en-IN" b="1" dirty="0" smtClean="0">
                <a:solidFill>
                  <a:schemeClr val="accent1"/>
                </a:solidFill>
              </a:rPr>
              <a:t>). Moral </a:t>
            </a:r>
            <a:r>
              <a:rPr lang="en-IN" b="1" dirty="0">
                <a:solidFill>
                  <a:schemeClr val="accent1"/>
                </a:solidFill>
              </a:rPr>
              <a:t>courage</a:t>
            </a:r>
            <a:r>
              <a:rPr lang="en-IN" dirty="0">
                <a:solidFill>
                  <a:schemeClr val="accent1"/>
                </a:solidFill>
              </a:rPr>
              <a:t> </a:t>
            </a:r>
            <a:r>
              <a:rPr lang="en-IN" dirty="0"/>
              <a:t>– (taking action or careful thoughts) this enables a person, on the one hand, to </a:t>
            </a:r>
            <a:r>
              <a:rPr lang="en-IN" b="1" dirty="0"/>
              <a:t>stick to his goal </a:t>
            </a:r>
            <a:r>
              <a:rPr lang="en-IN" dirty="0"/>
              <a:t>without faltering, and on the other, to </a:t>
            </a:r>
            <a:r>
              <a:rPr lang="en-IN" b="1" dirty="0"/>
              <a:t>own the responsibility of his action</a:t>
            </a:r>
            <a:r>
              <a:rPr lang="en-IN" dirty="0"/>
              <a:t>.</a:t>
            </a:r>
          </a:p>
          <a:p>
            <a:pPr algn="l"/>
            <a:r>
              <a:rPr lang="en-IN" b="1" dirty="0" smtClean="0">
                <a:solidFill>
                  <a:schemeClr val="accent1"/>
                </a:solidFill>
              </a:rPr>
              <a:t>ii). Sense </a:t>
            </a:r>
            <a:r>
              <a:rPr lang="en-IN" b="1" dirty="0">
                <a:solidFill>
                  <a:schemeClr val="accent1"/>
                </a:solidFill>
              </a:rPr>
              <a:t>off fairplay and justice</a:t>
            </a:r>
            <a:r>
              <a:rPr lang="en-IN" dirty="0">
                <a:solidFill>
                  <a:schemeClr val="accent1"/>
                </a:solidFill>
              </a:rPr>
              <a:t> </a:t>
            </a:r>
            <a:r>
              <a:rPr lang="en-IN" dirty="0"/>
              <a:t>- A leader must possess this quality to be able to motivate his men into action.</a:t>
            </a:r>
          </a:p>
          <a:p>
            <a:pPr algn="l"/>
            <a:r>
              <a:rPr lang="en-IN" b="1" dirty="0" smtClean="0">
                <a:solidFill>
                  <a:schemeClr val="accent1"/>
                </a:solidFill>
              </a:rPr>
              <a:t>iii). Integrity </a:t>
            </a:r>
            <a:r>
              <a:rPr lang="en-IN" dirty="0"/>
              <a:t>– the quality of </a:t>
            </a:r>
            <a:r>
              <a:rPr lang="en-IN" b="1" dirty="0"/>
              <a:t>being honest</a:t>
            </a:r>
            <a:r>
              <a:rPr lang="en-IN" dirty="0"/>
              <a:t>.</a:t>
            </a:r>
          </a:p>
          <a:p>
            <a:pPr algn="l"/>
            <a:endParaRPr lang="en-IN" dirty="0"/>
          </a:p>
        </p:txBody>
      </p:sp>
    </p:spTree>
    <p:extLst>
      <p:ext uri="{BB962C8B-B14F-4D97-AF65-F5344CB8AC3E}">
        <p14:creationId xmlns:p14="http://schemas.microsoft.com/office/powerpoint/2010/main" val="12187825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89397" y="437881"/>
            <a:ext cx="11230378" cy="5975797"/>
          </a:xfrm>
        </p:spPr>
        <p:txBody>
          <a:bodyPr>
            <a:normAutofit lnSpcReduction="10000"/>
          </a:bodyPr>
          <a:lstStyle/>
          <a:p>
            <a:pPr algn="l"/>
            <a:r>
              <a:rPr lang="en-IN" b="1" dirty="0" smtClean="0">
                <a:solidFill>
                  <a:schemeClr val="accent1"/>
                </a:solidFill>
              </a:rPr>
              <a:t>3. Mental </a:t>
            </a:r>
            <a:r>
              <a:rPr lang="en-IN" b="1" dirty="0">
                <a:solidFill>
                  <a:schemeClr val="accent1"/>
                </a:solidFill>
              </a:rPr>
              <a:t>qualities (Qualities of head and heart</a:t>
            </a:r>
            <a:r>
              <a:rPr lang="en-IN" b="1" dirty="0" smtClean="0">
                <a:solidFill>
                  <a:schemeClr val="accent1"/>
                </a:solidFill>
              </a:rPr>
              <a:t>)</a:t>
            </a:r>
            <a:endParaRPr lang="en-IN" dirty="0">
              <a:solidFill>
                <a:schemeClr val="accent1"/>
              </a:solidFill>
            </a:endParaRPr>
          </a:p>
          <a:p>
            <a:pPr algn="l"/>
            <a:r>
              <a:rPr lang="en-IN" b="1" dirty="0" err="1" smtClean="0">
                <a:solidFill>
                  <a:schemeClr val="accent1"/>
                </a:solidFill>
              </a:rPr>
              <a:t>i</a:t>
            </a:r>
            <a:r>
              <a:rPr lang="en-IN" b="1" dirty="0" smtClean="0">
                <a:solidFill>
                  <a:schemeClr val="accent1"/>
                </a:solidFill>
              </a:rPr>
              <a:t>). Emotional </a:t>
            </a:r>
            <a:r>
              <a:rPr lang="en-IN" b="1" dirty="0">
                <a:solidFill>
                  <a:schemeClr val="accent1"/>
                </a:solidFill>
              </a:rPr>
              <a:t>and social maturity </a:t>
            </a:r>
            <a:r>
              <a:rPr lang="en-IN" dirty="0"/>
              <a:t>- Leaders are </a:t>
            </a:r>
            <a:r>
              <a:rPr lang="en-IN" b="1" dirty="0"/>
              <a:t>emotionally intelligent </a:t>
            </a:r>
            <a:r>
              <a:rPr lang="en-IN" dirty="0"/>
              <a:t>so that they are neither frustrated by failure nor overjoyed by success. </a:t>
            </a:r>
            <a:endParaRPr lang="en-IN" dirty="0" smtClean="0"/>
          </a:p>
          <a:p>
            <a:pPr algn="l"/>
            <a:r>
              <a:rPr lang="en-IN" dirty="0" smtClean="0"/>
              <a:t>- They </a:t>
            </a:r>
            <a:r>
              <a:rPr lang="en-IN" dirty="0"/>
              <a:t>react to the behaviour of others in a </a:t>
            </a:r>
            <a:r>
              <a:rPr lang="en-IN" b="1" dirty="0"/>
              <a:t>cool</a:t>
            </a:r>
            <a:r>
              <a:rPr lang="en-IN" dirty="0"/>
              <a:t>, just and </a:t>
            </a:r>
            <a:r>
              <a:rPr lang="en-IN" b="1" dirty="0"/>
              <a:t>fair manner</a:t>
            </a:r>
            <a:r>
              <a:rPr lang="en-IN" dirty="0"/>
              <a:t>, instead of emotionally.</a:t>
            </a:r>
          </a:p>
          <a:p>
            <a:pPr algn="l"/>
            <a:r>
              <a:rPr lang="en-IN" b="1" dirty="0" smtClean="0">
                <a:solidFill>
                  <a:schemeClr val="accent1"/>
                </a:solidFill>
              </a:rPr>
              <a:t>ii). Knowledge </a:t>
            </a:r>
            <a:r>
              <a:rPr lang="en-IN" dirty="0">
                <a:solidFill>
                  <a:schemeClr val="accent1"/>
                </a:solidFill>
              </a:rPr>
              <a:t>- </a:t>
            </a:r>
            <a:r>
              <a:rPr lang="en-IN" dirty="0"/>
              <a:t>A leader’s knowledge of a </a:t>
            </a:r>
            <a:r>
              <a:rPr lang="en-IN" b="1" dirty="0"/>
              <a:t>subject or technique must be greater than that of his followers</a:t>
            </a:r>
            <a:r>
              <a:rPr lang="en-IN" dirty="0"/>
              <a:t>. If it is not so he has no justification to lead them. </a:t>
            </a:r>
          </a:p>
          <a:p>
            <a:pPr algn="l"/>
            <a:r>
              <a:rPr lang="en-IN" dirty="0" smtClean="0"/>
              <a:t>- Knowledge </a:t>
            </a:r>
            <a:r>
              <a:rPr lang="en-IN" dirty="0"/>
              <a:t>of a subject is important but what is more important is the knowledge of human nature.</a:t>
            </a:r>
          </a:p>
          <a:p>
            <a:pPr algn="l"/>
            <a:r>
              <a:rPr lang="en-IN" b="1" dirty="0" smtClean="0">
                <a:solidFill>
                  <a:schemeClr val="accent1"/>
                </a:solidFill>
              </a:rPr>
              <a:t>iii). Decisiveness</a:t>
            </a:r>
            <a:r>
              <a:rPr lang="en-IN" dirty="0" smtClean="0"/>
              <a:t> </a:t>
            </a:r>
            <a:r>
              <a:rPr lang="en-IN" dirty="0"/>
              <a:t>– An ability to make </a:t>
            </a:r>
            <a:r>
              <a:rPr lang="en-IN" b="1" dirty="0"/>
              <a:t>decision quickly </a:t>
            </a:r>
            <a:r>
              <a:rPr lang="en-IN" dirty="0"/>
              <a:t>and </a:t>
            </a:r>
            <a:r>
              <a:rPr lang="en-IN" b="1" dirty="0"/>
              <a:t>effectively</a:t>
            </a:r>
            <a:r>
              <a:rPr lang="en-IN" dirty="0"/>
              <a:t> </a:t>
            </a:r>
          </a:p>
          <a:p>
            <a:pPr algn="l"/>
            <a:r>
              <a:rPr lang="en-IN" b="1" dirty="0" smtClean="0">
                <a:solidFill>
                  <a:schemeClr val="accent1"/>
                </a:solidFill>
              </a:rPr>
              <a:t>iv). Empathy</a:t>
            </a:r>
            <a:r>
              <a:rPr lang="en-IN" dirty="0" smtClean="0"/>
              <a:t> </a:t>
            </a:r>
            <a:r>
              <a:rPr lang="en-IN" dirty="0"/>
              <a:t>– A leader should have empathy an </a:t>
            </a:r>
            <a:r>
              <a:rPr lang="en-IN" b="1" dirty="0"/>
              <a:t>ability to understand the feelings of others.</a:t>
            </a:r>
          </a:p>
          <a:p>
            <a:pPr algn="l"/>
            <a:r>
              <a:rPr lang="en-IN" b="1" dirty="0" smtClean="0">
                <a:solidFill>
                  <a:schemeClr val="accent1"/>
                </a:solidFill>
              </a:rPr>
              <a:t>v). Objectivity</a:t>
            </a:r>
            <a:r>
              <a:rPr lang="en-IN" dirty="0" smtClean="0"/>
              <a:t> </a:t>
            </a:r>
            <a:r>
              <a:rPr lang="en-IN" dirty="0"/>
              <a:t>– it’s an ability react to the behaviours of others in a cool and in fair manner.</a:t>
            </a:r>
          </a:p>
          <a:p>
            <a:pPr algn="l"/>
            <a:r>
              <a:rPr lang="en-IN" b="1" dirty="0" smtClean="0">
                <a:solidFill>
                  <a:schemeClr val="accent1"/>
                </a:solidFill>
              </a:rPr>
              <a:t>vi). Initiative</a:t>
            </a:r>
            <a:r>
              <a:rPr lang="en-IN" dirty="0" smtClean="0"/>
              <a:t> </a:t>
            </a:r>
            <a:r>
              <a:rPr lang="en-IN" dirty="0"/>
              <a:t>– initiative means </a:t>
            </a:r>
            <a:r>
              <a:rPr lang="en-IN" b="1" dirty="0"/>
              <a:t>doing right things without being told</a:t>
            </a:r>
            <a:r>
              <a:rPr lang="en-IN" dirty="0"/>
              <a:t>. Success or failure of a leader depends on his initiative.</a:t>
            </a:r>
          </a:p>
          <a:p>
            <a:pPr algn="l"/>
            <a:endParaRPr lang="en-IN" dirty="0"/>
          </a:p>
        </p:txBody>
      </p:sp>
    </p:spTree>
    <p:extLst>
      <p:ext uri="{BB962C8B-B14F-4D97-AF65-F5344CB8AC3E}">
        <p14:creationId xmlns:p14="http://schemas.microsoft.com/office/powerpoint/2010/main" val="57580850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0761" y="244698"/>
            <a:ext cx="11178862" cy="6375043"/>
          </a:xfrm>
        </p:spPr>
        <p:txBody>
          <a:bodyPr>
            <a:normAutofit/>
          </a:bodyPr>
          <a:lstStyle/>
          <a:p>
            <a:pPr marL="342900" indent="-342900" algn="l">
              <a:buFont typeface="Arial" panose="020B0604020202020204" pitchFamily="34" charset="0"/>
              <a:buChar char="•"/>
            </a:pPr>
            <a:r>
              <a:rPr lang="en-IN" b="1" dirty="0" smtClean="0">
                <a:solidFill>
                  <a:schemeClr val="accent1"/>
                </a:solidFill>
              </a:rPr>
              <a:t>Behavioural </a:t>
            </a:r>
            <a:r>
              <a:rPr lang="en-IN" b="1" dirty="0">
                <a:solidFill>
                  <a:schemeClr val="accent1"/>
                </a:solidFill>
              </a:rPr>
              <a:t>approach:-</a:t>
            </a:r>
            <a:endParaRPr lang="en-IN" dirty="0">
              <a:solidFill>
                <a:schemeClr val="accent1"/>
              </a:solidFill>
            </a:endParaRPr>
          </a:p>
          <a:p>
            <a:pPr algn="l"/>
            <a:r>
              <a:rPr lang="en-IN" dirty="0" smtClean="0"/>
              <a:t>- Behavioural </a:t>
            </a:r>
            <a:r>
              <a:rPr lang="en-IN" dirty="0"/>
              <a:t>approach believes that </a:t>
            </a:r>
            <a:r>
              <a:rPr lang="en-IN" b="1" dirty="0"/>
              <a:t>leaders are not born but can be trained</a:t>
            </a:r>
            <a:r>
              <a:rPr lang="en-IN" dirty="0"/>
              <a:t>.</a:t>
            </a:r>
          </a:p>
          <a:p>
            <a:pPr algn="l"/>
            <a:r>
              <a:rPr lang="en-IN" dirty="0" smtClean="0"/>
              <a:t>- Under </a:t>
            </a:r>
            <a:r>
              <a:rPr lang="en-IN" dirty="0"/>
              <a:t>behavioural approach researchers have studied leadership behaviour from three points of view: </a:t>
            </a:r>
          </a:p>
          <a:p>
            <a:pPr lvl="0" algn="l"/>
            <a:r>
              <a:rPr lang="en-IN" dirty="0" smtClean="0"/>
              <a:t>1. Motivation</a:t>
            </a:r>
            <a:endParaRPr lang="en-IN" dirty="0"/>
          </a:p>
          <a:p>
            <a:pPr lvl="0" algn="l"/>
            <a:r>
              <a:rPr lang="en-IN" dirty="0" smtClean="0"/>
              <a:t>2. Authority </a:t>
            </a:r>
            <a:r>
              <a:rPr lang="en-IN" dirty="0"/>
              <a:t>and </a:t>
            </a:r>
          </a:p>
          <a:p>
            <a:pPr lvl="0" algn="l"/>
            <a:r>
              <a:rPr lang="en-IN" dirty="0" smtClean="0"/>
              <a:t>3. Supervision</a:t>
            </a:r>
            <a:r>
              <a:rPr lang="en-IN" dirty="0"/>
              <a:t>.</a:t>
            </a:r>
          </a:p>
          <a:p>
            <a:pPr algn="l"/>
            <a:r>
              <a:rPr lang="en-IN" b="1" dirty="0" smtClean="0">
                <a:solidFill>
                  <a:schemeClr val="accent1"/>
                </a:solidFill>
              </a:rPr>
              <a:t>1. Motivation</a:t>
            </a:r>
            <a:r>
              <a:rPr lang="en-IN" dirty="0" smtClean="0">
                <a:solidFill>
                  <a:schemeClr val="accent1"/>
                </a:solidFill>
              </a:rPr>
              <a:t> </a:t>
            </a:r>
            <a:r>
              <a:rPr lang="en-IN" dirty="0"/>
              <a:t>- From the view of motivation leadership behaviour can be either </a:t>
            </a:r>
            <a:r>
              <a:rPr lang="en-IN" b="1" dirty="0"/>
              <a:t>positive or negative.</a:t>
            </a:r>
          </a:p>
          <a:p>
            <a:pPr algn="l"/>
            <a:r>
              <a:rPr lang="en-IN" dirty="0" smtClean="0"/>
              <a:t>- In </a:t>
            </a:r>
            <a:r>
              <a:rPr lang="en-IN" b="1" dirty="0"/>
              <a:t>positive behaviour</a:t>
            </a:r>
            <a:r>
              <a:rPr lang="en-IN" dirty="0"/>
              <a:t> the leader rewards to motivate the subordinates.</a:t>
            </a:r>
          </a:p>
          <a:p>
            <a:pPr algn="l"/>
            <a:r>
              <a:rPr lang="en-IN" dirty="0" smtClean="0"/>
              <a:t>- In </a:t>
            </a:r>
            <a:r>
              <a:rPr lang="en-IN" b="1" dirty="0"/>
              <a:t>negative behaviour</a:t>
            </a:r>
            <a:r>
              <a:rPr lang="en-IN" dirty="0"/>
              <a:t> the leader put penalties and punishments</a:t>
            </a:r>
            <a:r>
              <a:rPr lang="en-IN" dirty="0" smtClean="0"/>
              <a:t>.</a:t>
            </a:r>
            <a:endParaRPr lang="en-IN" dirty="0"/>
          </a:p>
          <a:p>
            <a:pPr algn="l"/>
            <a:r>
              <a:rPr lang="en-IN" dirty="0" smtClean="0"/>
              <a:t>- To protect </a:t>
            </a:r>
            <a:r>
              <a:rPr lang="en-IN" dirty="0"/>
              <a:t>themselves against management. There is useless documentation, </a:t>
            </a:r>
            <a:r>
              <a:rPr lang="en-IN" dirty="0" smtClean="0"/>
              <a:t>recording, filing </a:t>
            </a:r>
            <a:r>
              <a:rPr lang="en-IN" dirty="0"/>
              <a:t>of letters and papers because people fear that these may be needed by them any time in future for their defence.</a:t>
            </a:r>
          </a:p>
        </p:txBody>
      </p:sp>
    </p:spTree>
    <p:extLst>
      <p:ext uri="{BB962C8B-B14F-4D97-AF65-F5344CB8AC3E}">
        <p14:creationId xmlns:p14="http://schemas.microsoft.com/office/powerpoint/2010/main" val="19413987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37881" y="386366"/>
            <a:ext cx="11165983" cy="5859888"/>
          </a:xfrm>
        </p:spPr>
        <p:txBody>
          <a:bodyPr>
            <a:normAutofit lnSpcReduction="10000"/>
          </a:bodyPr>
          <a:lstStyle/>
          <a:p>
            <a:pPr algn="l"/>
            <a:r>
              <a:rPr lang="en-IN" b="1" dirty="0" smtClean="0">
                <a:solidFill>
                  <a:schemeClr val="accent1"/>
                </a:solidFill>
              </a:rPr>
              <a:t>2. Authority</a:t>
            </a:r>
            <a:r>
              <a:rPr lang="en-IN" b="1" dirty="0" smtClean="0"/>
              <a:t> </a:t>
            </a:r>
            <a:r>
              <a:rPr lang="en-IN" dirty="0"/>
              <a:t>- From the view of authority, leadership style can be </a:t>
            </a:r>
          </a:p>
          <a:p>
            <a:pPr lvl="0" algn="l"/>
            <a:r>
              <a:rPr lang="en-IN" dirty="0" err="1" smtClean="0"/>
              <a:t>i</a:t>
            </a:r>
            <a:r>
              <a:rPr lang="en-IN" dirty="0" smtClean="0"/>
              <a:t>). Autocratic </a:t>
            </a:r>
            <a:endParaRPr lang="en-IN" dirty="0"/>
          </a:p>
          <a:p>
            <a:pPr lvl="0" algn="l"/>
            <a:r>
              <a:rPr lang="en-IN" dirty="0" smtClean="0"/>
              <a:t>ii). Democratic </a:t>
            </a:r>
            <a:endParaRPr lang="en-IN" dirty="0"/>
          </a:p>
          <a:p>
            <a:pPr lvl="0" algn="l"/>
            <a:r>
              <a:rPr lang="en-IN" dirty="0" smtClean="0"/>
              <a:t>iii). Free </a:t>
            </a:r>
            <a:r>
              <a:rPr lang="en-IN" dirty="0"/>
              <a:t>rein.</a:t>
            </a:r>
          </a:p>
          <a:p>
            <a:pPr algn="l"/>
            <a:r>
              <a:rPr lang="en-IN" b="1" dirty="0" err="1" smtClean="0">
                <a:solidFill>
                  <a:schemeClr val="accent1"/>
                </a:solidFill>
              </a:rPr>
              <a:t>i</a:t>
            </a:r>
            <a:r>
              <a:rPr lang="en-IN" b="1" dirty="0" smtClean="0">
                <a:solidFill>
                  <a:schemeClr val="accent1"/>
                </a:solidFill>
              </a:rPr>
              <a:t>). Autocratic </a:t>
            </a:r>
            <a:r>
              <a:rPr lang="en-IN" b="1" dirty="0">
                <a:solidFill>
                  <a:schemeClr val="accent1"/>
                </a:solidFill>
              </a:rPr>
              <a:t>leadership:- </a:t>
            </a:r>
            <a:endParaRPr lang="en-IN" dirty="0">
              <a:solidFill>
                <a:schemeClr val="accent1"/>
              </a:solidFill>
            </a:endParaRPr>
          </a:p>
          <a:p>
            <a:pPr algn="l"/>
            <a:r>
              <a:rPr lang="en-IN" dirty="0" smtClean="0"/>
              <a:t>- In </a:t>
            </a:r>
            <a:r>
              <a:rPr lang="en-IN" dirty="0"/>
              <a:t>this type of leadership, the </a:t>
            </a:r>
            <a:r>
              <a:rPr lang="en-IN" b="1" dirty="0"/>
              <a:t>leader alone </a:t>
            </a:r>
            <a:r>
              <a:rPr lang="en-IN" dirty="0"/>
              <a:t>determines </a:t>
            </a:r>
            <a:r>
              <a:rPr lang="en-IN" b="1" dirty="0"/>
              <a:t>policies and makes plans</a:t>
            </a:r>
            <a:r>
              <a:rPr lang="en-IN" dirty="0"/>
              <a:t>. He tells others what to do and how to do it. He demands </a:t>
            </a:r>
            <a:r>
              <a:rPr lang="en-IN" b="1" dirty="0"/>
              <a:t>strict obedience </a:t>
            </a:r>
            <a:r>
              <a:rPr lang="en-IN" dirty="0"/>
              <a:t>and relies on power. </a:t>
            </a:r>
          </a:p>
          <a:p>
            <a:pPr algn="l"/>
            <a:r>
              <a:rPr lang="en-IN" dirty="0" smtClean="0"/>
              <a:t>- The </a:t>
            </a:r>
            <a:r>
              <a:rPr lang="en-IN" dirty="0"/>
              <a:t>formula used by him is </a:t>
            </a:r>
            <a:r>
              <a:rPr lang="en-IN" b="1" dirty="0"/>
              <a:t>“Do what </a:t>
            </a:r>
            <a:r>
              <a:rPr lang="en-IN" b="1" dirty="0" err="1"/>
              <a:t>i</a:t>
            </a:r>
            <a:r>
              <a:rPr lang="en-IN" b="1" dirty="0"/>
              <a:t> say else…..” </a:t>
            </a:r>
            <a:r>
              <a:rPr lang="en-IN" dirty="0"/>
              <a:t>meaning is that the employee will be punished if not follow the order. (</a:t>
            </a:r>
            <a:r>
              <a:rPr lang="en-IN" dirty="0" smtClean="0"/>
              <a:t>authoritarian)</a:t>
            </a:r>
            <a:endParaRPr lang="en-IN" dirty="0"/>
          </a:p>
          <a:p>
            <a:pPr algn="l"/>
            <a:r>
              <a:rPr lang="en-IN" dirty="0" smtClean="0"/>
              <a:t>- An </a:t>
            </a:r>
            <a:r>
              <a:rPr lang="en-IN" dirty="0"/>
              <a:t>autocratic leader may sometimes be </a:t>
            </a:r>
            <a:r>
              <a:rPr lang="en-IN" b="1" dirty="0"/>
              <a:t>paternalistic or benevolent </a:t>
            </a:r>
            <a:r>
              <a:rPr lang="en-IN" dirty="0"/>
              <a:t>also who uses rewards for obtaining obedience from his employees. The formula used by him is </a:t>
            </a:r>
            <a:r>
              <a:rPr lang="en-IN" b="1" dirty="0"/>
              <a:t>“Do what </a:t>
            </a:r>
            <a:r>
              <a:rPr lang="en-IN" b="1" dirty="0" err="1"/>
              <a:t>i</a:t>
            </a:r>
            <a:r>
              <a:rPr lang="en-IN" b="1" dirty="0"/>
              <a:t> say because I am good to you”</a:t>
            </a:r>
          </a:p>
          <a:p>
            <a:pPr algn="l"/>
            <a:r>
              <a:rPr lang="en-IN" dirty="0" smtClean="0"/>
              <a:t>- Both </a:t>
            </a:r>
            <a:r>
              <a:rPr lang="en-IN" dirty="0"/>
              <a:t>the forms of autocratic leadership (authoritarian and benevolent) are disliked by employees. In one form, the employee remains under </a:t>
            </a:r>
            <a:r>
              <a:rPr lang="en-IN" b="1" dirty="0"/>
              <a:t>constant fear</a:t>
            </a:r>
            <a:r>
              <a:rPr lang="en-IN" dirty="0"/>
              <a:t>. In other form he remains under </a:t>
            </a:r>
            <a:r>
              <a:rPr lang="en-IN" b="1" dirty="0" smtClean="0"/>
              <a:t>constant gratitude</a:t>
            </a:r>
            <a:r>
              <a:rPr lang="en-IN" dirty="0" smtClean="0"/>
              <a:t>. </a:t>
            </a:r>
            <a:r>
              <a:rPr lang="en-IN" dirty="0"/>
              <a:t>In both the forms, the leader is the key person. </a:t>
            </a:r>
          </a:p>
        </p:txBody>
      </p:sp>
    </p:spTree>
    <p:extLst>
      <p:ext uri="{BB962C8B-B14F-4D97-AF65-F5344CB8AC3E}">
        <p14:creationId xmlns:p14="http://schemas.microsoft.com/office/powerpoint/2010/main" val="34849437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53791" y="515155"/>
            <a:ext cx="11204619" cy="5859887"/>
          </a:xfrm>
        </p:spPr>
        <p:txBody>
          <a:bodyPr/>
          <a:lstStyle/>
          <a:p>
            <a:pPr marL="342900" indent="-342900" algn="l">
              <a:buFontTx/>
              <a:buChar char="-"/>
            </a:pPr>
            <a:r>
              <a:rPr lang="en-IN" dirty="0" smtClean="0"/>
              <a:t>The </a:t>
            </a:r>
            <a:r>
              <a:rPr lang="en-IN" dirty="0"/>
              <a:t>whole operation of the organisation depends upon him. In his absence it may function inadequately or not at all</a:t>
            </a:r>
            <a:r>
              <a:rPr lang="en-IN" dirty="0" smtClean="0"/>
              <a:t>.</a:t>
            </a:r>
          </a:p>
          <a:p>
            <a:pPr marL="342900" indent="-342900" algn="l">
              <a:buFont typeface="Arial" panose="020B0604020202020204" pitchFamily="34" charset="0"/>
              <a:buChar char="•"/>
            </a:pPr>
            <a:r>
              <a:rPr lang="en-IN" b="1" dirty="0">
                <a:solidFill>
                  <a:schemeClr val="accent1"/>
                </a:solidFill>
              </a:rPr>
              <a:t>Merits</a:t>
            </a:r>
            <a:endParaRPr lang="en-IN" dirty="0">
              <a:solidFill>
                <a:schemeClr val="accent1"/>
              </a:solidFill>
            </a:endParaRPr>
          </a:p>
          <a:p>
            <a:pPr algn="l"/>
            <a:r>
              <a:rPr lang="en-IN" dirty="0"/>
              <a:t>1. This type of leadership, can increase efficiency, save time and get quick results, especially in a crisis or an emergency situation. </a:t>
            </a:r>
          </a:p>
          <a:p>
            <a:pPr algn="l"/>
            <a:r>
              <a:rPr lang="en-IN" dirty="0" smtClean="0"/>
              <a:t>2. Chain </a:t>
            </a:r>
            <a:r>
              <a:rPr lang="en-IN" dirty="0"/>
              <a:t>of command, and division of work (who is supposed to do what) are clear and fully understood by all</a:t>
            </a:r>
            <a:r>
              <a:rPr lang="en-IN" dirty="0" smtClean="0"/>
              <a:t>.</a:t>
            </a:r>
          </a:p>
          <a:p>
            <a:pPr marL="342900" indent="-342900" algn="l">
              <a:buFont typeface="Arial" panose="020B0604020202020204" pitchFamily="34" charset="0"/>
              <a:buChar char="•"/>
            </a:pPr>
            <a:r>
              <a:rPr lang="en-IN" b="1" dirty="0">
                <a:solidFill>
                  <a:schemeClr val="accent1"/>
                </a:solidFill>
              </a:rPr>
              <a:t>Demerits</a:t>
            </a:r>
            <a:endParaRPr lang="en-IN" dirty="0">
              <a:solidFill>
                <a:schemeClr val="accent1"/>
              </a:solidFill>
            </a:endParaRPr>
          </a:p>
          <a:p>
            <a:pPr algn="l"/>
            <a:r>
              <a:rPr lang="en-IN" dirty="0" smtClean="0"/>
              <a:t>1. </a:t>
            </a:r>
            <a:r>
              <a:rPr lang="en-IN" dirty="0"/>
              <a:t>O</a:t>
            </a:r>
            <a:r>
              <a:rPr lang="en-IN" dirty="0" smtClean="0"/>
              <a:t>ne </a:t>
            </a:r>
            <a:r>
              <a:rPr lang="en-IN" dirty="0"/>
              <a:t>way communication, without feedback, typically leads to misunderstandings, communication breakdowns and costly errors.</a:t>
            </a:r>
          </a:p>
          <a:p>
            <a:pPr algn="l"/>
            <a:r>
              <a:rPr lang="en-IN" dirty="0" smtClean="0"/>
              <a:t>2. </a:t>
            </a:r>
            <a:r>
              <a:rPr lang="en-IN" dirty="0"/>
              <a:t>The autocratic leader is alone in his </a:t>
            </a:r>
            <a:r>
              <a:rPr lang="en-IN" dirty="0" smtClean="0"/>
              <a:t>decision—making,  </a:t>
            </a:r>
            <a:r>
              <a:rPr lang="en-IN" dirty="0"/>
              <a:t>This is generally dangerous in today’s environment of technological and organisational complexity. </a:t>
            </a:r>
            <a:endParaRPr lang="en-IN" dirty="0" smtClean="0"/>
          </a:p>
          <a:p>
            <a:pPr algn="l"/>
            <a:endParaRPr lang="en-IN" dirty="0" smtClean="0"/>
          </a:p>
          <a:p>
            <a:pPr algn="l"/>
            <a:endParaRPr lang="en-IN" dirty="0"/>
          </a:p>
        </p:txBody>
      </p:sp>
    </p:spTree>
    <p:extLst>
      <p:ext uri="{BB962C8B-B14F-4D97-AF65-F5344CB8AC3E}">
        <p14:creationId xmlns:p14="http://schemas.microsoft.com/office/powerpoint/2010/main" val="39267590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53791" y="618186"/>
            <a:ext cx="11140225" cy="5718220"/>
          </a:xfrm>
        </p:spPr>
        <p:txBody>
          <a:bodyPr/>
          <a:lstStyle/>
          <a:p>
            <a:pPr marL="342900" indent="-342900" algn="l">
              <a:buFont typeface="Wingdings" panose="05000000000000000000" pitchFamily="2" charset="2"/>
              <a:buChar char="Ø"/>
            </a:pPr>
            <a:r>
              <a:rPr lang="en-IN" b="1" dirty="0">
                <a:solidFill>
                  <a:schemeClr val="accent1"/>
                </a:solidFill>
              </a:rPr>
              <a:t>Democratic leadership</a:t>
            </a:r>
            <a:r>
              <a:rPr lang="en-IN" b="1" dirty="0"/>
              <a:t>: -</a:t>
            </a:r>
            <a:r>
              <a:rPr lang="en-IN" dirty="0"/>
              <a:t> (also known as participative or person—oriented leadership)</a:t>
            </a:r>
          </a:p>
          <a:p>
            <a:pPr algn="l"/>
            <a:r>
              <a:rPr lang="en-IN" dirty="0" smtClean="0"/>
              <a:t>- In </a:t>
            </a:r>
            <a:r>
              <a:rPr lang="en-IN" dirty="0"/>
              <a:t>this type of leadership the </a:t>
            </a:r>
            <a:r>
              <a:rPr lang="en-IN" b="1" dirty="0"/>
              <a:t>entire group is involved </a:t>
            </a:r>
            <a:r>
              <a:rPr lang="en-IN" dirty="0"/>
              <a:t>in and accepts responsibility for goal setting and achievement. </a:t>
            </a:r>
            <a:endParaRPr lang="en-IN" dirty="0" smtClean="0"/>
          </a:p>
          <a:p>
            <a:pPr algn="l"/>
            <a:r>
              <a:rPr lang="en-IN" dirty="0" smtClean="0"/>
              <a:t>- Subordinates </a:t>
            </a:r>
            <a:r>
              <a:rPr lang="en-IN" dirty="0"/>
              <a:t>have considerable </a:t>
            </a:r>
            <a:r>
              <a:rPr lang="en-IN" b="1" dirty="0"/>
              <a:t>freedom of action</a:t>
            </a:r>
            <a:r>
              <a:rPr lang="en-IN" dirty="0"/>
              <a:t>. </a:t>
            </a:r>
            <a:endParaRPr lang="en-IN" dirty="0" smtClean="0"/>
          </a:p>
          <a:p>
            <a:pPr algn="l"/>
            <a:r>
              <a:rPr lang="en-IN" dirty="0" smtClean="0"/>
              <a:t>- The </a:t>
            </a:r>
            <a:r>
              <a:rPr lang="en-IN" dirty="0"/>
              <a:t>leader shows greater concern for his people than for high production</a:t>
            </a:r>
            <a:r>
              <a:rPr lang="en-IN" dirty="0" smtClean="0"/>
              <a:t>.</a:t>
            </a:r>
          </a:p>
          <a:p>
            <a:pPr algn="l"/>
            <a:r>
              <a:rPr lang="en-IN" dirty="0" smtClean="0"/>
              <a:t>- A </a:t>
            </a:r>
            <a:r>
              <a:rPr lang="en-IN" dirty="0"/>
              <a:t>part of the leader’s task is to encourage and </a:t>
            </a:r>
            <a:r>
              <a:rPr lang="en-IN" dirty="0" smtClean="0"/>
              <a:t>establishes inter</a:t>
            </a:r>
            <a:r>
              <a:rPr lang="en-IN" dirty="0"/>
              <a:t>— relationships among members and to reduce intra—group conflict and tensions. </a:t>
            </a:r>
            <a:endParaRPr lang="en-IN" dirty="0" smtClean="0"/>
          </a:p>
          <a:p>
            <a:pPr algn="l"/>
            <a:r>
              <a:rPr lang="en-IN" dirty="0" smtClean="0"/>
              <a:t>- He </a:t>
            </a:r>
            <a:r>
              <a:rPr lang="en-IN" dirty="0"/>
              <a:t>is not the key person. The group is not dependent upon him can functions effectively in his absence.</a:t>
            </a:r>
          </a:p>
        </p:txBody>
      </p:sp>
    </p:spTree>
    <p:extLst>
      <p:ext uri="{BB962C8B-B14F-4D97-AF65-F5344CB8AC3E}">
        <p14:creationId xmlns:p14="http://schemas.microsoft.com/office/powerpoint/2010/main" val="271721029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63639" y="425003"/>
            <a:ext cx="11256136" cy="5924282"/>
          </a:xfrm>
        </p:spPr>
        <p:txBody>
          <a:bodyPr/>
          <a:lstStyle/>
          <a:p>
            <a:pPr marL="342900" indent="-342900" algn="l">
              <a:buFont typeface="Arial" panose="020B0604020202020204" pitchFamily="34" charset="0"/>
              <a:buChar char="•"/>
            </a:pPr>
            <a:r>
              <a:rPr lang="en-IN" b="1" dirty="0">
                <a:solidFill>
                  <a:schemeClr val="accent1"/>
                </a:solidFill>
              </a:rPr>
              <a:t>Merits</a:t>
            </a:r>
            <a:endParaRPr lang="en-IN" dirty="0">
              <a:solidFill>
                <a:schemeClr val="accent1"/>
              </a:solidFill>
            </a:endParaRPr>
          </a:p>
          <a:p>
            <a:pPr algn="l"/>
            <a:r>
              <a:rPr lang="en-IN" dirty="0" smtClean="0"/>
              <a:t>1. When </a:t>
            </a:r>
            <a:r>
              <a:rPr lang="en-IN" dirty="0"/>
              <a:t>people participate in and help to formulate a decision, they support it (instead of fighting or ignoring it) and work hard to make it </a:t>
            </a:r>
            <a:r>
              <a:rPr lang="en-IN" dirty="0" smtClean="0"/>
              <a:t>work.</a:t>
            </a:r>
          </a:p>
          <a:p>
            <a:pPr algn="l"/>
            <a:r>
              <a:rPr lang="en-IN" dirty="0" smtClean="0"/>
              <a:t>2. The </a:t>
            </a:r>
            <a:r>
              <a:rPr lang="en-IN" dirty="0"/>
              <a:t>leader consistently receives the benefit of the best information, ideas, suggestions, and talent— and operating experience—of his people. </a:t>
            </a:r>
            <a:endParaRPr lang="en-IN" dirty="0" smtClean="0"/>
          </a:p>
          <a:p>
            <a:pPr marL="342900" indent="-342900" algn="l">
              <a:buFont typeface="Arial" panose="020B0604020202020204" pitchFamily="34" charset="0"/>
              <a:buChar char="•"/>
            </a:pPr>
            <a:r>
              <a:rPr lang="en-IN" b="1" dirty="0">
                <a:solidFill>
                  <a:schemeClr val="accent1"/>
                </a:solidFill>
              </a:rPr>
              <a:t>Demerits</a:t>
            </a:r>
            <a:endParaRPr lang="en-IN" dirty="0">
              <a:solidFill>
                <a:schemeClr val="accent1"/>
              </a:solidFill>
            </a:endParaRPr>
          </a:p>
          <a:p>
            <a:pPr algn="l"/>
            <a:r>
              <a:rPr lang="en-IN" dirty="0"/>
              <a:t>1. The participative style can take enormous amounts of time to take decision and, may degenerate into a complete loss of leader’s control.</a:t>
            </a:r>
          </a:p>
          <a:p>
            <a:pPr algn="l"/>
            <a:r>
              <a:rPr lang="en-IN" dirty="0"/>
              <a:t> 2. Some leaders may use this style as a way of avoiding responsibility</a:t>
            </a:r>
            <a:r>
              <a:rPr lang="en-IN" dirty="0" smtClean="0"/>
              <a:t>.</a:t>
            </a:r>
          </a:p>
          <a:p>
            <a:pPr algn="l"/>
            <a:endParaRPr lang="en-IN" dirty="0"/>
          </a:p>
          <a:p>
            <a:pPr marL="342900" indent="-342900" algn="l">
              <a:buFont typeface="Wingdings" panose="05000000000000000000" pitchFamily="2" charset="2"/>
              <a:buChar char="Ø"/>
            </a:pPr>
            <a:r>
              <a:rPr lang="en-IN" b="1" dirty="0">
                <a:solidFill>
                  <a:schemeClr val="accent1"/>
                </a:solidFill>
              </a:rPr>
              <a:t>Free Rein: - (also called laissez faire leadership)</a:t>
            </a:r>
            <a:endParaRPr lang="en-IN" dirty="0">
              <a:solidFill>
                <a:schemeClr val="accent1"/>
              </a:solidFill>
            </a:endParaRPr>
          </a:p>
          <a:p>
            <a:pPr algn="l"/>
            <a:r>
              <a:rPr lang="en-IN" dirty="0" smtClean="0"/>
              <a:t>- In </a:t>
            </a:r>
            <a:r>
              <a:rPr lang="en-IN" dirty="0"/>
              <a:t>this type of leadership, the leader </a:t>
            </a:r>
            <a:r>
              <a:rPr lang="en-IN" b="1" dirty="0"/>
              <a:t>exercises absolutely no </a:t>
            </a:r>
            <a:r>
              <a:rPr lang="en-IN" b="1" dirty="0" smtClean="0"/>
              <a:t>control</a:t>
            </a:r>
            <a:r>
              <a:rPr lang="en-IN" dirty="0" smtClean="0"/>
              <a:t>.</a:t>
            </a:r>
          </a:p>
          <a:p>
            <a:pPr algn="l"/>
            <a:r>
              <a:rPr lang="en-IN" dirty="0" smtClean="0"/>
              <a:t>- He </a:t>
            </a:r>
            <a:r>
              <a:rPr lang="en-IN" dirty="0"/>
              <a:t>only </a:t>
            </a:r>
            <a:r>
              <a:rPr lang="en-IN" b="1" dirty="0"/>
              <a:t>provides information, materials and facilities </a:t>
            </a:r>
            <a:r>
              <a:rPr lang="en-IN" dirty="0"/>
              <a:t>to his men to enable them to accomplish </a:t>
            </a:r>
            <a:r>
              <a:rPr lang="en-IN" dirty="0" smtClean="0"/>
              <a:t>organization </a:t>
            </a:r>
            <a:r>
              <a:rPr lang="en-IN" dirty="0"/>
              <a:t>objectives.</a:t>
            </a:r>
            <a:endParaRPr lang="en-IN" dirty="0" smtClean="0"/>
          </a:p>
          <a:p>
            <a:pPr algn="l"/>
            <a:endParaRPr lang="en-IN" dirty="0"/>
          </a:p>
        </p:txBody>
      </p:sp>
    </p:spTree>
    <p:extLst>
      <p:ext uri="{BB962C8B-B14F-4D97-AF65-F5344CB8AC3E}">
        <p14:creationId xmlns:p14="http://schemas.microsoft.com/office/powerpoint/2010/main" val="270976462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6365" y="360607"/>
            <a:ext cx="11307651" cy="5988677"/>
          </a:xfrm>
        </p:spPr>
        <p:txBody>
          <a:bodyPr/>
          <a:lstStyle/>
          <a:p>
            <a:pPr algn="l"/>
            <a:r>
              <a:rPr lang="en-IN" dirty="0" smtClean="0"/>
              <a:t>- This </a:t>
            </a:r>
            <a:r>
              <a:rPr lang="en-IN" dirty="0"/>
              <a:t>type can be a disaster if the leader does not know well the competence and integrity of his people and their ability to handle this kind of freedom</a:t>
            </a:r>
            <a:r>
              <a:rPr lang="en-IN" dirty="0" smtClean="0"/>
              <a:t>.</a:t>
            </a:r>
          </a:p>
          <a:p>
            <a:pPr algn="l"/>
            <a:endParaRPr lang="en-IN" dirty="0" smtClean="0"/>
          </a:p>
          <a:p>
            <a:pPr marL="342900" indent="-342900" algn="l">
              <a:buFont typeface="Arial" panose="020B0604020202020204" pitchFamily="34" charset="0"/>
              <a:buChar char="•"/>
            </a:pPr>
            <a:r>
              <a:rPr lang="en-IN" b="1" dirty="0">
                <a:solidFill>
                  <a:schemeClr val="accent1"/>
                </a:solidFill>
              </a:rPr>
              <a:t>Spectrum of leadership </a:t>
            </a:r>
            <a:r>
              <a:rPr lang="en-IN" b="1" dirty="0" smtClean="0">
                <a:solidFill>
                  <a:schemeClr val="accent1"/>
                </a:solidFill>
              </a:rPr>
              <a:t>styles</a:t>
            </a:r>
          </a:p>
          <a:p>
            <a:pPr algn="l"/>
            <a:endParaRPr lang="en-IN" dirty="0"/>
          </a:p>
          <a:p>
            <a:pPr algn="l"/>
            <a:endParaRPr lang="en-IN" dirty="0"/>
          </a:p>
        </p:txBody>
      </p:sp>
      <p:pic>
        <p:nvPicPr>
          <p:cNvPr id="8" name="Picture 7"/>
          <p:cNvPicPr>
            <a:picLocks noChangeAspect="1"/>
          </p:cNvPicPr>
          <p:nvPr/>
        </p:nvPicPr>
        <p:blipFill>
          <a:blip r:embed="rId2"/>
          <a:stretch>
            <a:fillRect/>
          </a:stretch>
        </p:blipFill>
        <p:spPr>
          <a:xfrm>
            <a:off x="3044914" y="2421227"/>
            <a:ext cx="5416505" cy="2953066"/>
          </a:xfrm>
          <a:prstGeom prst="rect">
            <a:avLst/>
          </a:prstGeom>
        </p:spPr>
      </p:pic>
    </p:spTree>
    <p:extLst>
      <p:ext uri="{BB962C8B-B14F-4D97-AF65-F5344CB8AC3E}">
        <p14:creationId xmlns:p14="http://schemas.microsoft.com/office/powerpoint/2010/main" val="345822156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47730" y="257578"/>
            <a:ext cx="11307651" cy="6053070"/>
          </a:xfrm>
        </p:spPr>
        <p:txBody>
          <a:bodyPr/>
          <a:lstStyle/>
          <a:p>
            <a:pPr marL="342900" indent="-342900" algn="l">
              <a:buFont typeface="Arial" panose="020B0604020202020204" pitchFamily="34" charset="0"/>
              <a:buChar char="•"/>
            </a:pPr>
            <a:r>
              <a:rPr lang="en-IN" b="1" dirty="0">
                <a:solidFill>
                  <a:schemeClr val="accent1"/>
                </a:solidFill>
              </a:rPr>
              <a:t>Various points on the spectrum are described below. </a:t>
            </a:r>
            <a:endParaRPr lang="en-IN" dirty="0">
              <a:solidFill>
                <a:schemeClr val="accent1"/>
              </a:solidFill>
            </a:endParaRPr>
          </a:p>
          <a:p>
            <a:pPr algn="l"/>
            <a:r>
              <a:rPr lang="en-IN" dirty="0"/>
              <a:t>1. The leader “tells” subordinates what his decision is. </a:t>
            </a:r>
          </a:p>
          <a:p>
            <a:pPr algn="l"/>
            <a:r>
              <a:rPr lang="en-IN" dirty="0"/>
              <a:t>2. The leader “sells” his decision i.e., persuades subordinates to accept it. </a:t>
            </a:r>
          </a:p>
          <a:p>
            <a:pPr algn="l"/>
            <a:r>
              <a:rPr lang="en-IN" dirty="0"/>
              <a:t>3. The leader invites questions from subordinates to give them a fuller explanation of his thinking. </a:t>
            </a:r>
          </a:p>
          <a:p>
            <a:pPr algn="l"/>
            <a:r>
              <a:rPr lang="en-IN" dirty="0"/>
              <a:t>4. The leader presents only a tentative decision subject to change.</a:t>
            </a:r>
          </a:p>
          <a:p>
            <a:pPr algn="l"/>
            <a:r>
              <a:rPr lang="en-IN" dirty="0"/>
              <a:t>5. The leader presents only the problem, invites solutions and then makes his decision. </a:t>
            </a:r>
          </a:p>
          <a:p>
            <a:pPr algn="l"/>
            <a:r>
              <a:rPr lang="en-IN" dirty="0"/>
              <a:t>6. The leader presents the problem and lets the group make a decision within certain limits of action. </a:t>
            </a:r>
          </a:p>
          <a:p>
            <a:pPr algn="l"/>
            <a:r>
              <a:rPr lang="en-IN" dirty="0"/>
              <a:t>7. The leader permits the group to make decision within limits defined by the situation.</a:t>
            </a:r>
          </a:p>
          <a:p>
            <a:pPr algn="l"/>
            <a:endParaRPr lang="en-IN" dirty="0"/>
          </a:p>
        </p:txBody>
      </p:sp>
    </p:spTree>
    <p:extLst>
      <p:ext uri="{BB962C8B-B14F-4D97-AF65-F5344CB8AC3E}">
        <p14:creationId xmlns:p14="http://schemas.microsoft.com/office/powerpoint/2010/main" val="267427519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12124" y="463639"/>
            <a:ext cx="11333408" cy="5988676"/>
          </a:xfrm>
        </p:spPr>
        <p:txBody>
          <a:bodyPr>
            <a:normAutofit/>
          </a:bodyPr>
          <a:lstStyle/>
          <a:p>
            <a:pPr marL="342900" indent="-342900" algn="l">
              <a:buFont typeface="Wingdings" panose="05000000000000000000" pitchFamily="2" charset="2"/>
              <a:buChar char="Ø"/>
            </a:pPr>
            <a:r>
              <a:rPr lang="en-IN" b="1" dirty="0">
                <a:solidFill>
                  <a:schemeClr val="accent1"/>
                </a:solidFill>
              </a:rPr>
              <a:t>Supervision</a:t>
            </a:r>
            <a:endParaRPr lang="en-IN" dirty="0">
              <a:solidFill>
                <a:schemeClr val="accent1"/>
              </a:solidFill>
            </a:endParaRPr>
          </a:p>
          <a:p>
            <a:pPr algn="l"/>
            <a:r>
              <a:rPr lang="en-IN" dirty="0"/>
              <a:t>From the view of supervision leadership style can be either </a:t>
            </a:r>
          </a:p>
          <a:p>
            <a:pPr algn="l"/>
            <a:r>
              <a:rPr lang="en-IN" b="1" dirty="0" smtClean="0"/>
              <a:t>1. Employee </a:t>
            </a:r>
            <a:r>
              <a:rPr lang="en-IN" b="1" dirty="0"/>
              <a:t>oriented </a:t>
            </a:r>
            <a:r>
              <a:rPr lang="en-IN" b="1" dirty="0" smtClean="0"/>
              <a:t>or</a:t>
            </a:r>
            <a:endParaRPr lang="en-IN" dirty="0"/>
          </a:p>
          <a:p>
            <a:pPr algn="l"/>
            <a:r>
              <a:rPr lang="en-IN" b="1" dirty="0" smtClean="0"/>
              <a:t>2. Production </a:t>
            </a:r>
            <a:r>
              <a:rPr lang="en-IN" b="1" dirty="0"/>
              <a:t>oriented. </a:t>
            </a:r>
            <a:endParaRPr lang="en-IN" dirty="0"/>
          </a:p>
          <a:p>
            <a:pPr algn="l"/>
            <a:r>
              <a:rPr lang="en-IN" dirty="0" smtClean="0"/>
              <a:t>- </a:t>
            </a:r>
            <a:r>
              <a:rPr lang="en-IN" b="1" dirty="0" smtClean="0"/>
              <a:t>An </a:t>
            </a:r>
            <a:r>
              <a:rPr lang="en-IN" b="1" dirty="0"/>
              <a:t>employee—oriented</a:t>
            </a:r>
            <a:r>
              <a:rPr lang="en-IN" dirty="0"/>
              <a:t> leader is one who cares more for the welfare of his subordinates than for production. </a:t>
            </a:r>
          </a:p>
          <a:p>
            <a:pPr marL="342900" indent="-342900" algn="l">
              <a:buFontTx/>
              <a:buChar char="-"/>
            </a:pPr>
            <a:r>
              <a:rPr lang="en-IN" dirty="0" smtClean="0"/>
              <a:t>Similarly</a:t>
            </a:r>
            <a:r>
              <a:rPr lang="en-IN" dirty="0"/>
              <a:t>, a </a:t>
            </a:r>
            <a:r>
              <a:rPr lang="en-IN" b="1" dirty="0"/>
              <a:t>production—oriented</a:t>
            </a:r>
            <a:r>
              <a:rPr lang="en-IN" dirty="0"/>
              <a:t> leader is one who cares more for production than for the welfare of his subordinates</a:t>
            </a:r>
            <a:r>
              <a:rPr lang="en-IN" dirty="0" smtClean="0"/>
              <a:t>.</a:t>
            </a:r>
          </a:p>
          <a:p>
            <a:pPr algn="l"/>
            <a:endParaRPr lang="en-IN" sz="900" dirty="0"/>
          </a:p>
          <a:p>
            <a:pPr algn="l"/>
            <a:r>
              <a:rPr lang="en-IN" b="1" dirty="0"/>
              <a:t>There are two important </a:t>
            </a:r>
            <a:r>
              <a:rPr lang="en-IN" b="1" dirty="0" smtClean="0"/>
              <a:t>studies </a:t>
            </a:r>
            <a:r>
              <a:rPr lang="en-IN" b="1" dirty="0"/>
              <a:t>under this </a:t>
            </a:r>
            <a:r>
              <a:rPr lang="en-IN" b="1" dirty="0" smtClean="0"/>
              <a:t>category – </a:t>
            </a:r>
            <a:r>
              <a:rPr lang="en-IN" dirty="0" smtClean="0"/>
              <a:t>these studies measures the leader behaviour in two dimensions </a:t>
            </a:r>
            <a:r>
              <a:rPr lang="en-IN" dirty="0" err="1" smtClean="0"/>
              <a:t>i</a:t>
            </a:r>
            <a:r>
              <a:rPr lang="en-IN" dirty="0" smtClean="0"/>
              <a:t>. </a:t>
            </a:r>
            <a:r>
              <a:rPr lang="en-IN" dirty="0"/>
              <a:t>Employee </a:t>
            </a:r>
            <a:r>
              <a:rPr lang="en-IN" dirty="0" smtClean="0"/>
              <a:t>orientation ii. </a:t>
            </a:r>
            <a:r>
              <a:rPr lang="en-IN" dirty="0"/>
              <a:t>Production </a:t>
            </a:r>
            <a:r>
              <a:rPr lang="en-IN" dirty="0" smtClean="0"/>
              <a:t>orientation.</a:t>
            </a:r>
            <a:endParaRPr lang="en-IN" dirty="0"/>
          </a:p>
          <a:p>
            <a:pPr lvl="0" algn="l"/>
            <a:r>
              <a:rPr lang="en-IN" b="1" dirty="0" smtClean="0"/>
              <a:t>1. Ohio </a:t>
            </a:r>
            <a:r>
              <a:rPr lang="en-IN" b="1" dirty="0"/>
              <a:t>State University Model</a:t>
            </a:r>
          </a:p>
          <a:p>
            <a:pPr algn="l"/>
            <a:r>
              <a:rPr lang="en-IN" b="1" dirty="0" smtClean="0"/>
              <a:t>2. Managerial Grid </a:t>
            </a:r>
            <a:r>
              <a:rPr lang="en-IN" b="1" dirty="0"/>
              <a:t>Model</a:t>
            </a:r>
          </a:p>
          <a:p>
            <a:pPr lvl="0" algn="l"/>
            <a:endParaRPr lang="en-IN" b="1" dirty="0"/>
          </a:p>
          <a:p>
            <a:pPr algn="l"/>
            <a:endParaRPr lang="en-IN" dirty="0"/>
          </a:p>
        </p:txBody>
      </p:sp>
    </p:spTree>
    <p:extLst>
      <p:ext uri="{BB962C8B-B14F-4D97-AF65-F5344CB8AC3E}">
        <p14:creationId xmlns:p14="http://schemas.microsoft.com/office/powerpoint/2010/main" val="39108015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37881" y="296213"/>
            <a:ext cx="11320529" cy="6207617"/>
          </a:xfrm>
        </p:spPr>
        <p:txBody>
          <a:bodyPr/>
          <a:lstStyle/>
          <a:p>
            <a:pPr marL="342900" indent="-342900" algn="l">
              <a:buFont typeface="Wingdings" panose="05000000000000000000" pitchFamily="2" charset="2"/>
              <a:buChar char="Ø"/>
            </a:pPr>
            <a:r>
              <a:rPr lang="en-IN" b="1" dirty="0">
                <a:solidFill>
                  <a:schemeClr val="accent1"/>
                </a:solidFill>
              </a:rPr>
              <a:t>Ohio State University </a:t>
            </a:r>
            <a:r>
              <a:rPr lang="en-IN" b="1" dirty="0" smtClean="0">
                <a:solidFill>
                  <a:schemeClr val="accent1"/>
                </a:solidFill>
              </a:rPr>
              <a:t>Model</a:t>
            </a:r>
            <a:endParaRPr lang="en-IN" dirty="0" smtClean="0">
              <a:solidFill>
                <a:schemeClr val="accent1"/>
              </a:solidFill>
            </a:endParaRPr>
          </a:p>
          <a:p>
            <a:pPr algn="l"/>
            <a:r>
              <a:rPr lang="en-IN" dirty="0" smtClean="0"/>
              <a:t>- There </a:t>
            </a:r>
            <a:r>
              <a:rPr lang="en-IN" dirty="0"/>
              <a:t>are two factors </a:t>
            </a:r>
            <a:r>
              <a:rPr lang="en-IN" b="1" dirty="0"/>
              <a:t>(</a:t>
            </a:r>
            <a:r>
              <a:rPr lang="en-IN" b="1" dirty="0" err="1"/>
              <a:t>i</a:t>
            </a:r>
            <a:r>
              <a:rPr lang="en-IN" b="1" dirty="0"/>
              <a:t>). Initiating structure (ii) </a:t>
            </a:r>
            <a:r>
              <a:rPr lang="en-IN" b="1" dirty="0" smtClean="0"/>
              <a:t>Consideration</a:t>
            </a:r>
          </a:p>
          <a:p>
            <a:pPr algn="l"/>
            <a:r>
              <a:rPr lang="en-IN" b="1" dirty="0" smtClean="0"/>
              <a:t>- Initiating structure </a:t>
            </a:r>
            <a:r>
              <a:rPr lang="en-IN" dirty="0" smtClean="0"/>
              <a:t>refers </a:t>
            </a:r>
            <a:r>
              <a:rPr lang="en-IN" dirty="0"/>
              <a:t>to the leader’s behaviour in structuring the job of the follower.</a:t>
            </a:r>
          </a:p>
          <a:p>
            <a:pPr algn="l"/>
            <a:r>
              <a:rPr lang="en-IN" b="1" dirty="0" smtClean="0"/>
              <a:t>- Consideration</a:t>
            </a:r>
            <a:r>
              <a:rPr lang="en-IN" dirty="0" smtClean="0"/>
              <a:t> </a:t>
            </a:r>
            <a:r>
              <a:rPr lang="en-IN" dirty="0"/>
              <a:t>is the leader’s behaviour showing mutual trust, respect and friendship towards the subordinates</a:t>
            </a:r>
            <a:r>
              <a:rPr lang="en-IN" dirty="0" smtClean="0"/>
              <a:t>,</a:t>
            </a:r>
            <a:endParaRPr lang="en-IN" dirty="0"/>
          </a:p>
          <a:p>
            <a:pPr algn="l"/>
            <a:r>
              <a:rPr lang="en-IN" dirty="0" smtClean="0"/>
              <a:t>- These </a:t>
            </a:r>
            <a:r>
              <a:rPr lang="en-IN" dirty="0"/>
              <a:t>two types of leader behaviours are independent. </a:t>
            </a:r>
            <a:endParaRPr lang="en-IN" dirty="0" smtClean="0"/>
          </a:p>
          <a:p>
            <a:pPr algn="l"/>
            <a:r>
              <a:rPr lang="en-IN" dirty="0" smtClean="0"/>
              <a:t>- Some </a:t>
            </a:r>
            <a:r>
              <a:rPr lang="en-IN" dirty="0"/>
              <a:t>leaders follow structure but provide little consideration; </a:t>
            </a:r>
            <a:endParaRPr lang="en-IN" dirty="0" smtClean="0"/>
          </a:p>
          <a:p>
            <a:pPr algn="l"/>
            <a:r>
              <a:rPr lang="en-IN" dirty="0" smtClean="0"/>
              <a:t>- others </a:t>
            </a:r>
            <a:r>
              <a:rPr lang="en-IN" dirty="0"/>
              <a:t>are considerate, but provide little structure</a:t>
            </a:r>
            <a:r>
              <a:rPr lang="en-IN" dirty="0" smtClean="0"/>
              <a:t>.</a:t>
            </a:r>
          </a:p>
          <a:p>
            <a:pPr algn="l"/>
            <a:r>
              <a:rPr lang="en-IN" dirty="0" smtClean="0"/>
              <a:t>- Many </a:t>
            </a:r>
            <a:r>
              <a:rPr lang="en-IN" dirty="0"/>
              <a:t>leaders, however, do not fit into either of these two categories. They use a fairly even mix of structure and consideration</a:t>
            </a:r>
            <a:r>
              <a:rPr lang="en-IN" dirty="0" smtClean="0"/>
              <a:t>.</a:t>
            </a:r>
          </a:p>
          <a:p>
            <a:pPr algn="l"/>
            <a:r>
              <a:rPr lang="en-IN" dirty="0" smtClean="0"/>
              <a:t>- Still some </a:t>
            </a:r>
            <a:r>
              <a:rPr lang="en-IN" dirty="0"/>
              <a:t>leaders spend very little time using either structure or consideration behaviours.</a:t>
            </a:r>
          </a:p>
          <a:p>
            <a:pPr algn="l"/>
            <a:endParaRPr lang="en-IN" dirty="0"/>
          </a:p>
        </p:txBody>
      </p:sp>
    </p:spTree>
    <p:extLst>
      <p:ext uri="{BB962C8B-B14F-4D97-AF65-F5344CB8AC3E}">
        <p14:creationId xmlns:p14="http://schemas.microsoft.com/office/powerpoint/2010/main" val="9728507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63639" y="373487"/>
            <a:ext cx="11217499" cy="6001555"/>
          </a:xfrm>
        </p:spPr>
        <p:txBody>
          <a:bodyPr/>
          <a:lstStyle/>
          <a:p>
            <a:pPr algn="l"/>
            <a:r>
              <a:rPr lang="en-IN" dirty="0" smtClean="0">
                <a:solidFill>
                  <a:schemeClr val="accent1"/>
                </a:solidFill>
              </a:rPr>
              <a:t>Figure : Ohio </a:t>
            </a:r>
            <a:r>
              <a:rPr lang="en-IN" dirty="0">
                <a:solidFill>
                  <a:schemeClr val="accent1"/>
                </a:solidFill>
              </a:rPr>
              <a:t>State University </a:t>
            </a:r>
            <a:r>
              <a:rPr lang="en-IN" dirty="0" smtClean="0">
                <a:solidFill>
                  <a:schemeClr val="accent1"/>
                </a:solidFill>
              </a:rPr>
              <a:t>Model </a:t>
            </a:r>
            <a:endParaRPr lang="en-IN" dirty="0">
              <a:solidFill>
                <a:schemeClr val="accent1"/>
              </a:solidFill>
            </a:endParaRPr>
          </a:p>
        </p:txBody>
      </p:sp>
      <p:sp>
        <p:nvSpPr>
          <p:cNvPr id="4" name="Rectangle 2"/>
          <p:cNvSpPr>
            <a:spLocks noChangeArrowheads="1"/>
          </p:cNvSpPr>
          <p:nvPr/>
        </p:nvSpPr>
        <p:spPr bwMode="auto">
          <a:xfrm>
            <a:off x="1944709" y="155834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p:cNvPicPr>
            <a:picLocks noChangeAspect="1"/>
          </p:cNvPicPr>
          <p:nvPr/>
        </p:nvPicPr>
        <p:blipFill>
          <a:blip r:embed="rId2"/>
          <a:stretch>
            <a:fillRect/>
          </a:stretch>
        </p:blipFill>
        <p:spPr>
          <a:xfrm>
            <a:off x="2574231" y="1223493"/>
            <a:ext cx="5191252" cy="3334219"/>
          </a:xfrm>
          <a:prstGeom prst="rect">
            <a:avLst/>
          </a:prstGeom>
        </p:spPr>
      </p:pic>
    </p:spTree>
    <p:extLst>
      <p:ext uri="{BB962C8B-B14F-4D97-AF65-F5344CB8AC3E}">
        <p14:creationId xmlns:p14="http://schemas.microsoft.com/office/powerpoint/2010/main" val="2272879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399245" y="592428"/>
            <a:ext cx="11230378" cy="5808372"/>
          </a:xfrm>
        </p:spPr>
        <p:txBody>
          <a:bodyPr/>
          <a:lstStyle/>
          <a:p>
            <a:pPr marL="342900" indent="-342900" algn="l">
              <a:buFont typeface="Wingdings" panose="05000000000000000000" pitchFamily="2" charset="2"/>
              <a:buChar char="Ø"/>
            </a:pPr>
            <a:r>
              <a:rPr lang="en-IN" b="1" dirty="0">
                <a:solidFill>
                  <a:schemeClr val="accent1"/>
                </a:solidFill>
              </a:rPr>
              <a:t>Managerial Grid </a:t>
            </a:r>
            <a:r>
              <a:rPr lang="en-IN" b="1" dirty="0" smtClean="0">
                <a:solidFill>
                  <a:schemeClr val="accent1"/>
                </a:solidFill>
              </a:rPr>
              <a:t>model</a:t>
            </a:r>
            <a:endParaRPr lang="en-IN" dirty="0" smtClean="0">
              <a:solidFill>
                <a:schemeClr val="accent1"/>
              </a:solidFill>
            </a:endParaRPr>
          </a:p>
          <a:p>
            <a:pPr marL="342900" indent="-342900" algn="l">
              <a:buFontTx/>
              <a:buChar char="-"/>
            </a:pPr>
            <a:r>
              <a:rPr lang="en-IN" b="1" dirty="0" smtClean="0"/>
              <a:t>Robert </a:t>
            </a:r>
            <a:r>
              <a:rPr lang="en-IN" b="1" dirty="0"/>
              <a:t>Blake and Jane Mouton</a:t>
            </a:r>
            <a:r>
              <a:rPr lang="en-IN" dirty="0"/>
              <a:t> use a chart called </a:t>
            </a:r>
            <a:r>
              <a:rPr lang="en-IN" b="1" dirty="0"/>
              <a:t>Managerial Grid</a:t>
            </a:r>
            <a:r>
              <a:rPr lang="en-IN" dirty="0"/>
              <a:t> to describe five types of managerial styles</a:t>
            </a:r>
            <a:r>
              <a:rPr lang="en-IN" dirty="0" smtClean="0"/>
              <a:t>.</a:t>
            </a:r>
          </a:p>
          <a:p>
            <a:pPr marL="342900" indent="-342900" algn="l">
              <a:buFontTx/>
              <a:buChar char="-"/>
            </a:pPr>
            <a:endParaRPr lang="en-IN" dirty="0"/>
          </a:p>
          <a:p>
            <a:pPr marL="342900" indent="-342900" algn="l">
              <a:buFontTx/>
              <a:buChar char="-"/>
            </a:pPr>
            <a:endParaRPr lang="en-IN" dirty="0" smtClean="0"/>
          </a:p>
          <a:p>
            <a:pPr marL="342900" indent="-342900" algn="l">
              <a:buFontTx/>
              <a:buChar char="-"/>
            </a:pPr>
            <a:endParaRPr lang="en-IN" dirty="0"/>
          </a:p>
          <a:p>
            <a:pPr marL="342900" indent="-342900" algn="l">
              <a:buFontTx/>
              <a:buChar char="-"/>
            </a:pPr>
            <a:endParaRPr lang="en-IN" dirty="0" smtClean="0"/>
          </a:p>
          <a:p>
            <a:pPr marL="342900" indent="-342900" algn="l">
              <a:buFontTx/>
              <a:buChar char="-"/>
            </a:pPr>
            <a:endParaRPr lang="en-IN" dirty="0"/>
          </a:p>
          <a:p>
            <a:pPr marL="342900" indent="-342900" algn="l">
              <a:buFontTx/>
              <a:buChar char="-"/>
            </a:pPr>
            <a:endParaRPr lang="en-IN" dirty="0" smtClean="0"/>
          </a:p>
          <a:p>
            <a:pPr marL="342900" indent="-342900" algn="l">
              <a:buFontTx/>
              <a:buChar char="-"/>
            </a:pPr>
            <a:endParaRPr lang="en-IN" dirty="0"/>
          </a:p>
          <a:p>
            <a:pPr algn="l"/>
            <a:r>
              <a:rPr lang="en-IN" dirty="0" smtClean="0"/>
              <a:t>- They </a:t>
            </a:r>
            <a:r>
              <a:rPr lang="en-IN" dirty="0"/>
              <a:t>make use of the terms </a:t>
            </a:r>
            <a:r>
              <a:rPr lang="en-IN" b="1" dirty="0"/>
              <a:t>“concern for production” and “concern for people”.</a:t>
            </a:r>
            <a:endParaRPr lang="en-IN" dirty="0"/>
          </a:p>
          <a:p>
            <a:pPr algn="l"/>
            <a:r>
              <a:rPr lang="en-IN" dirty="0" smtClean="0"/>
              <a:t>- These </a:t>
            </a:r>
            <a:r>
              <a:rPr lang="en-IN" dirty="0"/>
              <a:t>two dimensions are plotted on a 9—point scale on two separate axes as shown in above figure</a:t>
            </a:r>
          </a:p>
          <a:p>
            <a:pPr marL="342900" indent="-342900" algn="l">
              <a:buFontTx/>
              <a:buChar char="-"/>
            </a:pPr>
            <a:endParaRPr lang="en-IN" dirty="0"/>
          </a:p>
          <a:p>
            <a:pPr algn="l"/>
            <a:endParaRPr lang="en-IN" dirty="0"/>
          </a:p>
        </p:txBody>
      </p:sp>
      <p:pic>
        <p:nvPicPr>
          <p:cNvPr id="8" name="Picture 7"/>
          <p:cNvPicPr>
            <a:picLocks noChangeAspect="1"/>
          </p:cNvPicPr>
          <p:nvPr/>
        </p:nvPicPr>
        <p:blipFill>
          <a:blip r:embed="rId2"/>
          <a:stretch>
            <a:fillRect/>
          </a:stretch>
        </p:blipFill>
        <p:spPr>
          <a:xfrm>
            <a:off x="3552825" y="1888507"/>
            <a:ext cx="3955558" cy="2706434"/>
          </a:xfrm>
          <a:prstGeom prst="rect">
            <a:avLst/>
          </a:prstGeom>
        </p:spPr>
      </p:pic>
    </p:spTree>
    <p:extLst>
      <p:ext uri="{BB962C8B-B14F-4D97-AF65-F5344CB8AC3E}">
        <p14:creationId xmlns:p14="http://schemas.microsoft.com/office/powerpoint/2010/main" val="28349414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34851" y="309092"/>
            <a:ext cx="11346288" cy="6156101"/>
          </a:xfrm>
        </p:spPr>
        <p:txBody>
          <a:bodyPr/>
          <a:lstStyle/>
          <a:p>
            <a:pPr algn="l"/>
            <a:r>
              <a:rPr lang="en-IN" b="1" dirty="0"/>
              <a:t>1. Task management</a:t>
            </a:r>
            <a:r>
              <a:rPr lang="en-IN" dirty="0"/>
              <a:t> - Here the management shows maximum concern for production and least concern for people. Therefore, it is also called </a:t>
            </a:r>
            <a:r>
              <a:rPr lang="en-IN" b="1" dirty="0"/>
              <a:t>“authority—obedience” </a:t>
            </a:r>
            <a:r>
              <a:rPr lang="en-IN" dirty="0"/>
              <a:t>approach.</a:t>
            </a:r>
          </a:p>
          <a:p>
            <a:pPr algn="l"/>
            <a:r>
              <a:rPr lang="en-IN" dirty="0"/>
              <a:t> </a:t>
            </a:r>
            <a:r>
              <a:rPr lang="en-IN" b="1" dirty="0"/>
              <a:t>2. Country-club management</a:t>
            </a:r>
            <a:r>
              <a:rPr lang="en-IN" dirty="0"/>
              <a:t> - This is reverse of task management. Here the management shows maximum concern for people and least concern for production. It is the </a:t>
            </a:r>
            <a:r>
              <a:rPr lang="en-IN" b="1" dirty="0"/>
              <a:t>“love conquers all</a:t>
            </a:r>
            <a:r>
              <a:rPr lang="en-IN" dirty="0"/>
              <a:t>” approach.</a:t>
            </a:r>
          </a:p>
          <a:p>
            <a:pPr algn="l"/>
            <a:r>
              <a:rPr lang="en-IN" dirty="0"/>
              <a:t> </a:t>
            </a:r>
            <a:r>
              <a:rPr lang="en-IN" b="1" dirty="0"/>
              <a:t>3. Impoverished management</a:t>
            </a:r>
            <a:r>
              <a:rPr lang="en-IN" dirty="0"/>
              <a:t> - Here the management shows least concern both for production as well as people. </a:t>
            </a:r>
            <a:r>
              <a:rPr lang="en-IN" dirty="0" smtClean="0"/>
              <a:t>He </a:t>
            </a:r>
            <a:r>
              <a:rPr lang="en-IN" dirty="0"/>
              <a:t>also ignores human relationships. It is the </a:t>
            </a:r>
            <a:r>
              <a:rPr lang="en-IN" b="1" dirty="0"/>
              <a:t>“speak no evil, hear no evil, see no evil” </a:t>
            </a:r>
            <a:r>
              <a:rPr lang="en-IN" dirty="0"/>
              <a:t>approach. </a:t>
            </a:r>
          </a:p>
          <a:p>
            <a:pPr algn="l"/>
            <a:r>
              <a:rPr lang="en-IN" b="1" dirty="0"/>
              <a:t>4. Team management</a:t>
            </a:r>
            <a:r>
              <a:rPr lang="en-IN" dirty="0"/>
              <a:t> - Here the management shows maximum concern both for production as well as people. The assumption is </a:t>
            </a:r>
            <a:r>
              <a:rPr lang="en-IN" b="1" dirty="0"/>
              <a:t>“one plus one can add up to three”.</a:t>
            </a:r>
          </a:p>
          <a:p>
            <a:pPr algn="l"/>
            <a:r>
              <a:rPr lang="en-IN" b="1" dirty="0"/>
              <a:t>5. Dampened pendulum or the middle-of-road</a:t>
            </a:r>
            <a:r>
              <a:rPr lang="en-IN" dirty="0"/>
              <a:t> </a:t>
            </a:r>
            <a:r>
              <a:rPr lang="en-IN" b="1" dirty="0"/>
              <a:t>style</a:t>
            </a:r>
            <a:r>
              <a:rPr lang="en-IN" dirty="0"/>
              <a:t> - Here the management shows a balanced concern for production and people. Neither too much production is expected nor is too much concern for people expressed. The manager follows the middle position. </a:t>
            </a:r>
            <a:r>
              <a:rPr lang="en-IN" b="1" dirty="0"/>
              <a:t>“Get results but do not kill yourself.”</a:t>
            </a:r>
          </a:p>
          <a:p>
            <a:pPr algn="l"/>
            <a:endParaRPr lang="en-IN" dirty="0"/>
          </a:p>
        </p:txBody>
      </p:sp>
    </p:spTree>
    <p:extLst>
      <p:ext uri="{BB962C8B-B14F-4D97-AF65-F5344CB8AC3E}">
        <p14:creationId xmlns:p14="http://schemas.microsoft.com/office/powerpoint/2010/main" val="152743132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53791" y="386365"/>
            <a:ext cx="11075831" cy="5937161"/>
          </a:xfrm>
        </p:spPr>
        <p:txBody>
          <a:bodyPr/>
          <a:lstStyle/>
          <a:p>
            <a:pPr marL="342900" indent="-342900" algn="l">
              <a:buFont typeface="Wingdings" panose="05000000000000000000" pitchFamily="2" charset="2"/>
              <a:buChar char="Ø"/>
            </a:pPr>
            <a:r>
              <a:rPr lang="en-IN" b="1" dirty="0">
                <a:solidFill>
                  <a:schemeClr val="accent1"/>
                </a:solidFill>
              </a:rPr>
              <a:t>Contingency Approach</a:t>
            </a:r>
            <a:endParaRPr lang="en-IN" dirty="0">
              <a:solidFill>
                <a:schemeClr val="accent1"/>
              </a:solidFill>
            </a:endParaRPr>
          </a:p>
          <a:p>
            <a:pPr algn="l"/>
            <a:r>
              <a:rPr lang="en-IN" dirty="0" smtClean="0"/>
              <a:t>- The </a:t>
            </a:r>
            <a:r>
              <a:rPr lang="en-IN" dirty="0"/>
              <a:t>contingency approach of leadership attempts  </a:t>
            </a:r>
          </a:p>
          <a:p>
            <a:pPr algn="l"/>
            <a:r>
              <a:rPr lang="en-IN" dirty="0" smtClean="0"/>
              <a:t> (a)To </a:t>
            </a:r>
            <a:r>
              <a:rPr lang="en-IN" dirty="0"/>
              <a:t>identify which of the situational factors are most important under a given set of circumstances.</a:t>
            </a:r>
          </a:p>
          <a:p>
            <a:pPr algn="l"/>
            <a:r>
              <a:rPr lang="en-IN" dirty="0"/>
              <a:t> (b) To predict which leadership style will be most effective under those circumstances.</a:t>
            </a:r>
          </a:p>
          <a:p>
            <a:pPr algn="l"/>
            <a:endParaRPr lang="en-IN" dirty="0" smtClean="0"/>
          </a:p>
          <a:p>
            <a:pPr algn="l"/>
            <a:r>
              <a:rPr lang="en-IN" dirty="0" smtClean="0"/>
              <a:t>- </a:t>
            </a:r>
            <a:r>
              <a:rPr lang="en-IN" b="1" dirty="0" smtClean="0"/>
              <a:t>Important models among </a:t>
            </a:r>
            <a:r>
              <a:rPr lang="en-IN" b="1" dirty="0"/>
              <a:t>contingency </a:t>
            </a:r>
            <a:r>
              <a:rPr lang="en-IN" b="1" dirty="0" smtClean="0"/>
              <a:t>leadership </a:t>
            </a:r>
            <a:r>
              <a:rPr lang="en-IN" b="1" dirty="0"/>
              <a:t>are:</a:t>
            </a:r>
          </a:p>
          <a:p>
            <a:pPr algn="l"/>
            <a:r>
              <a:rPr lang="en-IN" dirty="0"/>
              <a:t>1. Fiedler’s model</a:t>
            </a:r>
          </a:p>
          <a:p>
            <a:pPr algn="l"/>
            <a:r>
              <a:rPr lang="en-IN" dirty="0"/>
              <a:t>2. Hersey and Blanchard’s model</a:t>
            </a:r>
          </a:p>
          <a:p>
            <a:pPr algn="l"/>
            <a:r>
              <a:rPr lang="en-IN" dirty="0"/>
              <a:t>3. Robert J. House’s model.</a:t>
            </a:r>
          </a:p>
          <a:p>
            <a:pPr algn="l"/>
            <a:endParaRPr lang="en-IN" dirty="0"/>
          </a:p>
        </p:txBody>
      </p:sp>
    </p:spTree>
    <p:extLst>
      <p:ext uri="{BB962C8B-B14F-4D97-AF65-F5344CB8AC3E}">
        <p14:creationId xmlns:p14="http://schemas.microsoft.com/office/powerpoint/2010/main" val="148852989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0761" y="463639"/>
            <a:ext cx="11204619" cy="5872767"/>
          </a:xfrm>
        </p:spPr>
        <p:txBody>
          <a:bodyPr>
            <a:normAutofit lnSpcReduction="10000"/>
          </a:bodyPr>
          <a:lstStyle/>
          <a:p>
            <a:pPr marL="342900" indent="-342900" algn="l">
              <a:buFont typeface="Wingdings" panose="05000000000000000000" pitchFamily="2" charset="2"/>
              <a:buChar char="Ø"/>
            </a:pPr>
            <a:r>
              <a:rPr lang="en-IN" b="1" dirty="0">
                <a:solidFill>
                  <a:schemeClr val="accent1"/>
                </a:solidFill>
              </a:rPr>
              <a:t>Motivation</a:t>
            </a:r>
            <a:endParaRPr lang="en-IN" dirty="0">
              <a:solidFill>
                <a:schemeClr val="accent1"/>
              </a:solidFill>
            </a:endParaRPr>
          </a:p>
          <a:p>
            <a:pPr algn="l"/>
            <a:r>
              <a:rPr lang="en-IN" dirty="0"/>
              <a:t>“Motivation is the process of channelling a person’s inner drives so that a person can accomplish the goals of the organisation”</a:t>
            </a:r>
          </a:p>
          <a:p>
            <a:pPr marL="342900" indent="-342900" algn="l">
              <a:buFont typeface="Wingdings" panose="05000000000000000000" pitchFamily="2" charset="2"/>
              <a:buChar char="Ø"/>
            </a:pPr>
            <a:r>
              <a:rPr lang="en-IN" b="1" dirty="0">
                <a:solidFill>
                  <a:schemeClr val="accent1"/>
                </a:solidFill>
              </a:rPr>
              <a:t>Motivation theories</a:t>
            </a:r>
            <a:endParaRPr lang="en-IN" dirty="0">
              <a:solidFill>
                <a:schemeClr val="accent1"/>
              </a:solidFill>
            </a:endParaRPr>
          </a:p>
          <a:p>
            <a:pPr algn="l"/>
            <a:r>
              <a:rPr lang="en-IN" dirty="0"/>
              <a:t>Some important theories are</a:t>
            </a:r>
          </a:p>
          <a:p>
            <a:pPr marL="342900" indent="-342900" algn="l">
              <a:buFont typeface="Arial" panose="020B0604020202020204" pitchFamily="34" charset="0"/>
              <a:buChar char="•"/>
            </a:pPr>
            <a:r>
              <a:rPr lang="en-IN" b="1" dirty="0">
                <a:solidFill>
                  <a:schemeClr val="accent1"/>
                </a:solidFill>
              </a:rPr>
              <a:t>Content Theories</a:t>
            </a:r>
            <a:endParaRPr lang="en-IN" dirty="0">
              <a:solidFill>
                <a:schemeClr val="accent1"/>
              </a:solidFill>
            </a:endParaRPr>
          </a:p>
          <a:p>
            <a:pPr algn="l"/>
            <a:r>
              <a:rPr lang="en-IN" dirty="0"/>
              <a:t>1. Maslow’s Need Hierarchy Theory</a:t>
            </a:r>
          </a:p>
          <a:p>
            <a:pPr algn="l"/>
            <a:r>
              <a:rPr lang="en-IN" dirty="0"/>
              <a:t>2. Herzberg’s Two Factor Theory</a:t>
            </a:r>
          </a:p>
          <a:p>
            <a:pPr algn="l"/>
            <a:r>
              <a:rPr lang="en-IN" dirty="0"/>
              <a:t>3. McClelland’s Achievement Theory</a:t>
            </a:r>
          </a:p>
          <a:p>
            <a:pPr marL="342900" indent="-342900" algn="l">
              <a:buFont typeface="Arial" panose="020B0604020202020204" pitchFamily="34" charset="0"/>
              <a:buChar char="•"/>
            </a:pPr>
            <a:r>
              <a:rPr lang="en-IN" b="1" dirty="0">
                <a:solidFill>
                  <a:schemeClr val="accent1"/>
                </a:solidFill>
              </a:rPr>
              <a:t>Process Theories</a:t>
            </a:r>
            <a:endParaRPr lang="en-IN" dirty="0">
              <a:solidFill>
                <a:schemeClr val="accent1"/>
              </a:solidFill>
            </a:endParaRPr>
          </a:p>
          <a:p>
            <a:pPr algn="l"/>
            <a:r>
              <a:rPr lang="en-IN" dirty="0"/>
              <a:t>1. Victor Vroom’s Expectancy Theory</a:t>
            </a:r>
          </a:p>
          <a:p>
            <a:pPr algn="l"/>
            <a:r>
              <a:rPr lang="en-IN" dirty="0"/>
              <a:t>2. Adam’s Equity Theory</a:t>
            </a:r>
          </a:p>
          <a:p>
            <a:pPr marL="342900" indent="-342900" algn="l">
              <a:buFont typeface="Arial" panose="020B0604020202020204" pitchFamily="34" charset="0"/>
              <a:buChar char="•"/>
            </a:pPr>
            <a:r>
              <a:rPr lang="en-IN" b="1" dirty="0">
                <a:solidFill>
                  <a:schemeClr val="accent1"/>
                </a:solidFill>
              </a:rPr>
              <a:t>Reinforcement Theory </a:t>
            </a:r>
            <a:endParaRPr lang="en-IN" dirty="0">
              <a:solidFill>
                <a:schemeClr val="accent1"/>
              </a:solidFill>
            </a:endParaRPr>
          </a:p>
          <a:p>
            <a:pPr algn="l"/>
            <a:r>
              <a:rPr lang="en-IN" dirty="0"/>
              <a:t>1. Skinner’s Behaviour Modification Theory.</a:t>
            </a:r>
          </a:p>
          <a:p>
            <a:pPr algn="l"/>
            <a:endParaRPr lang="en-IN" dirty="0"/>
          </a:p>
        </p:txBody>
      </p:sp>
    </p:spTree>
    <p:extLst>
      <p:ext uri="{BB962C8B-B14F-4D97-AF65-F5344CB8AC3E}">
        <p14:creationId xmlns:p14="http://schemas.microsoft.com/office/powerpoint/2010/main" val="423750033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76518" y="386366"/>
            <a:ext cx="11294772" cy="6078828"/>
          </a:xfrm>
        </p:spPr>
        <p:txBody>
          <a:bodyPr>
            <a:normAutofit lnSpcReduction="10000"/>
          </a:bodyPr>
          <a:lstStyle/>
          <a:p>
            <a:pPr marL="342900" indent="-342900" algn="l">
              <a:buFont typeface="Wingdings" panose="05000000000000000000" pitchFamily="2" charset="2"/>
              <a:buChar char="Ø"/>
            </a:pPr>
            <a:r>
              <a:rPr lang="en-IN" b="1" dirty="0">
                <a:solidFill>
                  <a:schemeClr val="accent1"/>
                </a:solidFill>
              </a:rPr>
              <a:t>Maslow’s Need-Hierarchy Theory</a:t>
            </a:r>
            <a:endParaRPr lang="en-IN" dirty="0">
              <a:solidFill>
                <a:schemeClr val="accent1"/>
              </a:solidFill>
            </a:endParaRPr>
          </a:p>
          <a:p>
            <a:pPr algn="l"/>
            <a:r>
              <a:rPr lang="en-IN" dirty="0" smtClean="0"/>
              <a:t>- All </a:t>
            </a:r>
            <a:r>
              <a:rPr lang="en-IN" dirty="0"/>
              <a:t>people have a variety of needs. At any given time, some of these needs are satisfied and others are unsatisfied. </a:t>
            </a:r>
            <a:endParaRPr lang="en-IN" dirty="0" smtClean="0"/>
          </a:p>
          <a:p>
            <a:pPr algn="l"/>
            <a:r>
              <a:rPr lang="en-IN" dirty="0" smtClean="0"/>
              <a:t>- An </a:t>
            </a:r>
            <a:r>
              <a:rPr lang="en-IN" dirty="0"/>
              <a:t>unsatisfied need is the starting point in the motivation process.</a:t>
            </a:r>
          </a:p>
          <a:p>
            <a:pPr algn="l"/>
            <a:r>
              <a:rPr lang="en-IN" dirty="0" smtClean="0"/>
              <a:t>- When </a:t>
            </a:r>
            <a:r>
              <a:rPr lang="en-IN" dirty="0"/>
              <a:t>a person has an unsatisfied need, he or she attempts to identify something that will satisfy the need. This is called a </a:t>
            </a:r>
            <a:r>
              <a:rPr lang="en-IN" b="1" dirty="0"/>
              <a:t>goal</a:t>
            </a:r>
            <a:r>
              <a:rPr lang="en-IN" dirty="0"/>
              <a:t>. </a:t>
            </a:r>
            <a:endParaRPr lang="en-IN" dirty="0" smtClean="0"/>
          </a:p>
          <a:p>
            <a:pPr algn="l"/>
            <a:r>
              <a:rPr lang="en-IN" dirty="0" smtClean="0"/>
              <a:t>- Once </a:t>
            </a:r>
            <a:r>
              <a:rPr lang="en-IN" dirty="0"/>
              <a:t>a goal has been identified, the person takes action to reach that goal and thereby satisfy the need.</a:t>
            </a:r>
          </a:p>
          <a:p>
            <a:pPr algn="l"/>
            <a:r>
              <a:rPr lang="en-IN" dirty="0" smtClean="0"/>
              <a:t>- </a:t>
            </a:r>
            <a:r>
              <a:rPr lang="en-IN" b="1" dirty="0" smtClean="0"/>
              <a:t>According </a:t>
            </a:r>
            <a:r>
              <a:rPr lang="en-IN" b="1" dirty="0"/>
              <a:t>to A.H. Maslow, needs are arranged in a hierarchy or a ladder of five successive categories  </a:t>
            </a:r>
          </a:p>
          <a:p>
            <a:pPr lvl="0" algn="l"/>
            <a:r>
              <a:rPr lang="en-IN" dirty="0" smtClean="0"/>
              <a:t>1. Physiological </a:t>
            </a:r>
            <a:r>
              <a:rPr lang="en-IN" dirty="0"/>
              <a:t>needs</a:t>
            </a:r>
          </a:p>
          <a:p>
            <a:pPr lvl="0" algn="l"/>
            <a:r>
              <a:rPr lang="en-IN" dirty="0" smtClean="0"/>
              <a:t>2. Security </a:t>
            </a:r>
            <a:r>
              <a:rPr lang="en-IN" dirty="0"/>
              <a:t>needs</a:t>
            </a:r>
          </a:p>
          <a:p>
            <a:pPr lvl="0" algn="l"/>
            <a:r>
              <a:rPr lang="en-IN" dirty="0" smtClean="0"/>
              <a:t>3. Social </a:t>
            </a:r>
            <a:r>
              <a:rPr lang="en-IN" dirty="0"/>
              <a:t>needs</a:t>
            </a:r>
          </a:p>
          <a:p>
            <a:pPr lvl="0" algn="l"/>
            <a:r>
              <a:rPr lang="en-IN" dirty="0" smtClean="0"/>
              <a:t>4. Esteem </a:t>
            </a:r>
            <a:r>
              <a:rPr lang="en-IN" dirty="0"/>
              <a:t>needs and </a:t>
            </a:r>
          </a:p>
          <a:p>
            <a:pPr lvl="0" algn="l"/>
            <a:r>
              <a:rPr lang="en-IN" dirty="0" smtClean="0"/>
              <a:t>5. Self-fulfilment </a:t>
            </a:r>
            <a:r>
              <a:rPr lang="en-IN" dirty="0"/>
              <a:t>needs.</a:t>
            </a:r>
          </a:p>
          <a:p>
            <a:pPr algn="l"/>
            <a:endParaRPr lang="en-IN" dirty="0"/>
          </a:p>
        </p:txBody>
      </p:sp>
    </p:spTree>
    <p:extLst>
      <p:ext uri="{BB962C8B-B14F-4D97-AF65-F5344CB8AC3E}">
        <p14:creationId xmlns:p14="http://schemas.microsoft.com/office/powerpoint/2010/main" val="40383086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0761" y="412124"/>
            <a:ext cx="11243256" cy="6053070"/>
          </a:xfrm>
        </p:spPr>
        <p:txBody>
          <a:bodyPr/>
          <a:lstStyle/>
          <a:p>
            <a:pPr algn="l"/>
            <a:r>
              <a:rPr lang="en-IN" dirty="0">
                <a:solidFill>
                  <a:schemeClr val="accent1"/>
                </a:solidFill>
              </a:rPr>
              <a:t>Figure: Order of priority of human needs</a:t>
            </a:r>
          </a:p>
          <a:p>
            <a:pPr algn="l"/>
            <a:endParaRPr lang="en-IN" dirty="0" smtClean="0"/>
          </a:p>
          <a:p>
            <a:pPr algn="l"/>
            <a:endParaRPr lang="en-IN" dirty="0"/>
          </a:p>
          <a:p>
            <a:pPr algn="l"/>
            <a:endParaRPr lang="en-IN" dirty="0" smtClean="0"/>
          </a:p>
          <a:p>
            <a:pPr algn="l"/>
            <a:endParaRPr lang="en-IN" dirty="0"/>
          </a:p>
          <a:p>
            <a:pPr algn="l"/>
            <a:endParaRPr lang="en-IN" dirty="0" smtClean="0"/>
          </a:p>
          <a:p>
            <a:pPr algn="l"/>
            <a:endParaRPr lang="en-IN" dirty="0"/>
          </a:p>
          <a:p>
            <a:pPr algn="l"/>
            <a:endParaRPr lang="en-IN" dirty="0" smtClean="0"/>
          </a:p>
          <a:p>
            <a:pPr algn="l"/>
            <a:r>
              <a:rPr lang="en-IN" b="1" dirty="0" smtClean="0"/>
              <a:t>- Physiological </a:t>
            </a:r>
            <a:r>
              <a:rPr lang="en-IN" b="1" dirty="0"/>
              <a:t>needs</a:t>
            </a:r>
            <a:r>
              <a:rPr lang="en-IN" dirty="0"/>
              <a:t> are those which arise out of the basic physiology of life.</a:t>
            </a:r>
          </a:p>
          <a:p>
            <a:pPr algn="l"/>
            <a:r>
              <a:rPr lang="en-IN" dirty="0"/>
              <a:t>For example, the need for food, water, air, etc. These needs must be at least partially satisfied for continued survival</a:t>
            </a:r>
            <a:r>
              <a:rPr lang="en-IN" dirty="0" smtClean="0"/>
              <a:t>.</a:t>
            </a:r>
          </a:p>
          <a:p>
            <a:pPr algn="l"/>
            <a:endParaRPr lang="en-IN" sz="1100" dirty="0"/>
          </a:p>
          <a:p>
            <a:pPr algn="l"/>
            <a:r>
              <a:rPr lang="en-IN" b="1" dirty="0" smtClean="0"/>
              <a:t>- Security </a:t>
            </a:r>
            <a:r>
              <a:rPr lang="en-IN" b="1" dirty="0"/>
              <a:t>needs</a:t>
            </a:r>
            <a:r>
              <a:rPr lang="en-IN" dirty="0"/>
              <a:t> are the needs to feel free from economic threats and physical harm.</a:t>
            </a:r>
          </a:p>
        </p:txBody>
      </p:sp>
      <p:pic>
        <p:nvPicPr>
          <p:cNvPr id="4" name="Picture 3"/>
          <p:cNvPicPr>
            <a:picLocks noChangeAspect="1"/>
          </p:cNvPicPr>
          <p:nvPr/>
        </p:nvPicPr>
        <p:blipFill>
          <a:blip r:embed="rId2"/>
          <a:stretch>
            <a:fillRect/>
          </a:stretch>
        </p:blipFill>
        <p:spPr>
          <a:xfrm>
            <a:off x="2451815" y="1133342"/>
            <a:ext cx="4910859" cy="2768622"/>
          </a:xfrm>
          <a:prstGeom prst="rect">
            <a:avLst/>
          </a:prstGeom>
        </p:spPr>
      </p:pic>
    </p:spTree>
    <p:extLst>
      <p:ext uri="{BB962C8B-B14F-4D97-AF65-F5344CB8AC3E}">
        <p14:creationId xmlns:p14="http://schemas.microsoft.com/office/powerpoint/2010/main" val="1283610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89397" y="425003"/>
            <a:ext cx="11307651" cy="5950039"/>
          </a:xfrm>
        </p:spPr>
        <p:txBody>
          <a:bodyPr/>
          <a:lstStyle/>
          <a:p>
            <a:pPr algn="l"/>
            <a:r>
              <a:rPr lang="en-IN" b="1" dirty="0" smtClean="0"/>
              <a:t>- Social </a:t>
            </a:r>
            <a:r>
              <a:rPr lang="en-IN" b="1" dirty="0"/>
              <a:t>needs</a:t>
            </a:r>
            <a:r>
              <a:rPr lang="en-IN" dirty="0"/>
              <a:t> are needs to associate with other people and be accepted by them, to love and </a:t>
            </a:r>
            <a:r>
              <a:rPr lang="en-IN" dirty="0" smtClean="0"/>
              <a:t>be loved.</a:t>
            </a:r>
          </a:p>
          <a:p>
            <a:pPr algn="l"/>
            <a:r>
              <a:rPr lang="en-IN" b="1" dirty="0" smtClean="0"/>
              <a:t>- Egoistic </a:t>
            </a:r>
            <a:r>
              <a:rPr lang="en-IN" b="1" dirty="0"/>
              <a:t>or esteem needs</a:t>
            </a:r>
            <a:r>
              <a:rPr lang="en-IN" dirty="0"/>
              <a:t> are those which relate to respect and prestige. </a:t>
            </a:r>
          </a:p>
          <a:p>
            <a:pPr algn="l"/>
            <a:r>
              <a:rPr lang="en-IN" dirty="0" smtClean="0"/>
              <a:t>- A </a:t>
            </a:r>
            <a:r>
              <a:rPr lang="en-IN" dirty="0"/>
              <a:t>need for dominance may be thought as one of the egoistic needs. </a:t>
            </a:r>
          </a:p>
          <a:p>
            <a:pPr algn="l"/>
            <a:r>
              <a:rPr lang="en-IN" b="1" dirty="0" smtClean="0"/>
              <a:t>- These </a:t>
            </a:r>
            <a:r>
              <a:rPr lang="en-IN" b="1" dirty="0"/>
              <a:t>are of two types: self-esteem and esteem from others.</a:t>
            </a:r>
          </a:p>
          <a:p>
            <a:pPr algn="l"/>
            <a:r>
              <a:rPr lang="en-IN" b="1" dirty="0" smtClean="0"/>
              <a:t>- Self-esteem</a:t>
            </a:r>
            <a:r>
              <a:rPr lang="en-IN" dirty="0" smtClean="0"/>
              <a:t> </a:t>
            </a:r>
            <a:r>
              <a:rPr lang="en-IN" dirty="0"/>
              <a:t>is an individual’s need to feel inside himself that he is worthy.</a:t>
            </a:r>
          </a:p>
          <a:p>
            <a:pPr algn="l"/>
            <a:r>
              <a:rPr lang="en-IN" b="1" dirty="0" smtClean="0"/>
              <a:t>- Esteem </a:t>
            </a:r>
            <a:r>
              <a:rPr lang="en-IN" b="1" dirty="0"/>
              <a:t>from others</a:t>
            </a:r>
            <a:r>
              <a:rPr lang="en-IN" dirty="0"/>
              <a:t> is others also should think that he is worthy.</a:t>
            </a:r>
          </a:p>
          <a:p>
            <a:pPr algn="l"/>
            <a:r>
              <a:rPr lang="en-IN" b="1" dirty="0" smtClean="0"/>
              <a:t>- Self-fulfilment </a:t>
            </a:r>
            <a:r>
              <a:rPr lang="en-IN" b="1" dirty="0"/>
              <a:t>needs</a:t>
            </a:r>
            <a:r>
              <a:rPr lang="en-IN" dirty="0"/>
              <a:t> – are needs for realising one’s potential. These include the need for realising one’s capabilities to the fullest for accomplishing what one is capable of accomplishing, for becoming what one is capable of becoming</a:t>
            </a:r>
            <a:r>
              <a:rPr lang="en-IN" dirty="0" smtClean="0"/>
              <a:t>.</a:t>
            </a:r>
            <a:endParaRPr lang="en-IN" dirty="0"/>
          </a:p>
          <a:p>
            <a:pPr algn="l"/>
            <a:r>
              <a:rPr lang="en-IN" dirty="0" smtClean="0"/>
              <a:t>- A </a:t>
            </a:r>
            <a:r>
              <a:rPr lang="en-IN" dirty="0"/>
              <a:t>musician must make music, an artist must paint, and a poet must write if they want to be ultimately happy.</a:t>
            </a:r>
          </a:p>
          <a:p>
            <a:pPr algn="l"/>
            <a:endParaRPr lang="en-IN" dirty="0"/>
          </a:p>
        </p:txBody>
      </p:sp>
    </p:spTree>
    <p:extLst>
      <p:ext uri="{BB962C8B-B14F-4D97-AF65-F5344CB8AC3E}">
        <p14:creationId xmlns:p14="http://schemas.microsoft.com/office/powerpoint/2010/main" val="21015386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02276" y="412124"/>
            <a:ext cx="11204620" cy="6104586"/>
          </a:xfrm>
        </p:spPr>
        <p:txBody>
          <a:bodyPr/>
          <a:lstStyle/>
          <a:p>
            <a:pPr marL="342900" indent="-342900" algn="l">
              <a:buFont typeface="Wingdings" panose="05000000000000000000" pitchFamily="2" charset="2"/>
              <a:buChar char="Ø"/>
            </a:pPr>
            <a:r>
              <a:rPr lang="en-IN" b="1" dirty="0">
                <a:solidFill>
                  <a:schemeClr val="accent1"/>
                </a:solidFill>
              </a:rPr>
              <a:t>Characteristics of human needs:</a:t>
            </a:r>
            <a:endParaRPr lang="en-IN" dirty="0">
              <a:solidFill>
                <a:schemeClr val="accent1"/>
              </a:solidFill>
            </a:endParaRPr>
          </a:p>
          <a:p>
            <a:pPr algn="l"/>
            <a:r>
              <a:rPr lang="en-IN" dirty="0" smtClean="0"/>
              <a:t>- Human </a:t>
            </a:r>
            <a:r>
              <a:rPr lang="en-IN" dirty="0"/>
              <a:t>needs can also be classified as </a:t>
            </a:r>
          </a:p>
          <a:p>
            <a:pPr algn="l"/>
            <a:r>
              <a:rPr lang="en-IN" b="1" dirty="0"/>
              <a:t>(a) Lower order needs </a:t>
            </a:r>
            <a:r>
              <a:rPr lang="en-IN" b="1" dirty="0" smtClean="0"/>
              <a:t>and   (</a:t>
            </a:r>
            <a:r>
              <a:rPr lang="en-IN" b="1" dirty="0"/>
              <a:t>b) Higher order needs</a:t>
            </a:r>
          </a:p>
          <a:p>
            <a:pPr algn="l"/>
            <a:r>
              <a:rPr lang="en-IN" dirty="0" smtClean="0"/>
              <a:t>- The </a:t>
            </a:r>
            <a:r>
              <a:rPr lang="en-IN" dirty="0"/>
              <a:t>first two needs of Maslow’s classification consist the lower order needs.  </a:t>
            </a:r>
            <a:r>
              <a:rPr lang="en-IN" b="1" dirty="0"/>
              <a:t>(Physiological needs, Security needs)</a:t>
            </a:r>
          </a:p>
          <a:p>
            <a:pPr algn="l"/>
            <a:r>
              <a:rPr lang="en-IN" dirty="0" smtClean="0"/>
              <a:t>- The </a:t>
            </a:r>
            <a:r>
              <a:rPr lang="en-IN" dirty="0"/>
              <a:t>other three are called higher order needs </a:t>
            </a:r>
            <a:r>
              <a:rPr lang="en-IN" b="1" dirty="0"/>
              <a:t>(Social needs, esteem needs, Self-fulfilment needs)</a:t>
            </a:r>
          </a:p>
          <a:p>
            <a:pPr algn="l"/>
            <a:endParaRPr lang="en-IN" dirty="0"/>
          </a:p>
        </p:txBody>
      </p:sp>
      <p:pic>
        <p:nvPicPr>
          <p:cNvPr id="4" name="Picture 3"/>
          <p:cNvPicPr>
            <a:picLocks noChangeAspect="1"/>
          </p:cNvPicPr>
          <p:nvPr/>
        </p:nvPicPr>
        <p:blipFill>
          <a:blip r:embed="rId2"/>
          <a:stretch>
            <a:fillRect/>
          </a:stretch>
        </p:blipFill>
        <p:spPr>
          <a:xfrm>
            <a:off x="2845727" y="3168211"/>
            <a:ext cx="6878325" cy="3348499"/>
          </a:xfrm>
          <a:prstGeom prst="rect">
            <a:avLst/>
          </a:prstGeom>
        </p:spPr>
      </p:pic>
    </p:spTree>
    <p:extLst>
      <p:ext uri="{BB962C8B-B14F-4D97-AF65-F5344CB8AC3E}">
        <p14:creationId xmlns:p14="http://schemas.microsoft.com/office/powerpoint/2010/main" val="30622706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0608" y="373487"/>
            <a:ext cx="11410682" cy="6168981"/>
          </a:xfrm>
        </p:spPr>
        <p:txBody>
          <a:bodyPr/>
          <a:lstStyle/>
          <a:p>
            <a:pPr marL="342900" indent="-342900" algn="l">
              <a:buFont typeface="Arial" panose="020B0604020202020204" pitchFamily="34" charset="0"/>
              <a:buChar char="•"/>
            </a:pPr>
            <a:r>
              <a:rPr lang="en-IN" b="1" dirty="0">
                <a:solidFill>
                  <a:schemeClr val="accent1"/>
                </a:solidFill>
              </a:rPr>
              <a:t>Merits of the Theory</a:t>
            </a:r>
            <a:endParaRPr lang="en-IN" dirty="0">
              <a:solidFill>
                <a:schemeClr val="accent1"/>
              </a:solidFill>
            </a:endParaRPr>
          </a:p>
          <a:p>
            <a:pPr lvl="0" algn="l"/>
            <a:r>
              <a:rPr lang="en-IN" dirty="0" smtClean="0"/>
              <a:t>1. The </a:t>
            </a:r>
            <a:r>
              <a:rPr lang="en-IN" dirty="0"/>
              <a:t>theory helps to explain why one man behaves differently from another in a similar situation.</a:t>
            </a:r>
          </a:p>
          <a:p>
            <a:pPr lvl="0" algn="l"/>
            <a:r>
              <a:rPr lang="en-IN" dirty="0" smtClean="0"/>
              <a:t>2. The </a:t>
            </a:r>
            <a:r>
              <a:rPr lang="en-IN" dirty="0"/>
              <a:t>theory extends to all areas of man’s life instead of being limited to the work situation only.</a:t>
            </a:r>
          </a:p>
          <a:p>
            <a:pPr lvl="0" algn="l"/>
            <a:r>
              <a:rPr lang="en-IN" dirty="0" smtClean="0"/>
              <a:t>3. The </a:t>
            </a:r>
            <a:r>
              <a:rPr lang="en-IN" dirty="0"/>
              <a:t>theory gives some insight into history and future trends.</a:t>
            </a:r>
          </a:p>
          <a:p>
            <a:pPr lvl="0" algn="l"/>
            <a:r>
              <a:rPr lang="en-IN" dirty="0" smtClean="0"/>
              <a:t>4. The </a:t>
            </a:r>
            <a:r>
              <a:rPr lang="en-IN" dirty="0"/>
              <a:t>theory points out a fact which is ignored in the conventional approach.</a:t>
            </a:r>
          </a:p>
          <a:p>
            <a:pPr marL="342900" indent="-342900" algn="l">
              <a:buFont typeface="Arial" panose="020B0604020202020204" pitchFamily="34" charset="0"/>
              <a:buChar char="•"/>
            </a:pPr>
            <a:r>
              <a:rPr lang="en-IN" b="1" dirty="0">
                <a:solidFill>
                  <a:schemeClr val="accent1"/>
                </a:solidFill>
              </a:rPr>
              <a:t>Demerits of the Theory</a:t>
            </a:r>
            <a:endParaRPr lang="en-IN" dirty="0">
              <a:solidFill>
                <a:schemeClr val="accent1"/>
              </a:solidFill>
            </a:endParaRPr>
          </a:p>
          <a:p>
            <a:pPr lvl="0" algn="l"/>
            <a:r>
              <a:rPr lang="en-IN" dirty="0" smtClean="0"/>
              <a:t>1. The </a:t>
            </a:r>
            <a:r>
              <a:rPr lang="en-IN" dirty="0"/>
              <a:t>hierarchy of basic needs is not always fixed. Different people may have different orders.</a:t>
            </a:r>
          </a:p>
          <a:p>
            <a:pPr lvl="0" algn="l"/>
            <a:r>
              <a:rPr lang="en-IN" dirty="0" smtClean="0"/>
              <a:t>2. It </a:t>
            </a:r>
            <a:r>
              <a:rPr lang="en-IN" dirty="0"/>
              <a:t>is difficult to know about the needs and motives of an individual from the analysis of their behaviour.</a:t>
            </a:r>
          </a:p>
          <a:p>
            <a:pPr lvl="0" algn="l"/>
            <a:r>
              <a:rPr lang="en-IN" dirty="0" smtClean="0"/>
              <a:t>3. This </a:t>
            </a:r>
            <a:r>
              <a:rPr lang="en-IN" dirty="0"/>
              <a:t>theory is almost a non-testable theory.</a:t>
            </a:r>
          </a:p>
          <a:p>
            <a:pPr algn="l"/>
            <a:endParaRPr lang="en-IN" dirty="0"/>
          </a:p>
        </p:txBody>
      </p:sp>
    </p:spTree>
    <p:extLst>
      <p:ext uri="{BB962C8B-B14F-4D97-AF65-F5344CB8AC3E}">
        <p14:creationId xmlns:p14="http://schemas.microsoft.com/office/powerpoint/2010/main" val="33660127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89396" y="463639"/>
            <a:ext cx="11397803" cy="6194738"/>
          </a:xfrm>
        </p:spPr>
        <p:txBody>
          <a:bodyPr>
            <a:normAutofit lnSpcReduction="10000"/>
          </a:bodyPr>
          <a:lstStyle/>
          <a:p>
            <a:pPr marL="342900" indent="-342900" algn="l">
              <a:buFont typeface="Wingdings" panose="05000000000000000000" pitchFamily="2" charset="2"/>
              <a:buChar char="Ø"/>
            </a:pPr>
            <a:r>
              <a:rPr lang="en-IN" b="1" dirty="0">
                <a:solidFill>
                  <a:schemeClr val="accent1"/>
                </a:solidFill>
              </a:rPr>
              <a:t>Herzberg’s Two Factor Theory</a:t>
            </a:r>
            <a:endParaRPr lang="en-IN" dirty="0">
              <a:solidFill>
                <a:schemeClr val="accent1"/>
              </a:solidFill>
            </a:endParaRPr>
          </a:p>
          <a:p>
            <a:pPr algn="just"/>
            <a:r>
              <a:rPr lang="en-IN" dirty="0" smtClean="0"/>
              <a:t>- Maslow’s </a:t>
            </a:r>
            <a:r>
              <a:rPr lang="en-IN" dirty="0"/>
              <a:t>hierarchy of needs provides some basic needs of human life. Using this theory as a base Herzberg’s introduced two factor theory, he concentrated mainly on </a:t>
            </a:r>
            <a:r>
              <a:rPr lang="en-IN" b="1" dirty="0"/>
              <a:t>work situation</a:t>
            </a:r>
            <a:r>
              <a:rPr lang="en-IN" dirty="0"/>
              <a:t>. </a:t>
            </a:r>
          </a:p>
          <a:p>
            <a:pPr marL="342900" indent="-342900" algn="just">
              <a:buFontTx/>
              <a:buChar char="-"/>
            </a:pPr>
            <a:r>
              <a:rPr lang="en-IN" dirty="0" smtClean="0"/>
              <a:t>In </a:t>
            </a:r>
            <a:r>
              <a:rPr lang="en-IN" dirty="0"/>
              <a:t>his study he and his associates interviewed 200 engineers and accountants</a:t>
            </a:r>
            <a:r>
              <a:rPr lang="en-IN" dirty="0" smtClean="0"/>
              <a:t>.</a:t>
            </a:r>
          </a:p>
          <a:p>
            <a:pPr algn="l"/>
            <a:r>
              <a:rPr lang="en-IN" dirty="0" smtClean="0"/>
              <a:t>- When </a:t>
            </a:r>
            <a:r>
              <a:rPr lang="en-IN" dirty="0"/>
              <a:t>talking about especially bad times the engineers and accountants brought up things like </a:t>
            </a:r>
            <a:r>
              <a:rPr lang="en-IN" b="1" dirty="0"/>
              <a:t>unfair company policies, poor relationship with their boss and co-workers, and low pay</a:t>
            </a:r>
            <a:r>
              <a:rPr lang="en-IN" b="1" dirty="0" smtClean="0"/>
              <a:t>.</a:t>
            </a:r>
            <a:endParaRPr lang="en-IN" b="1" dirty="0"/>
          </a:p>
          <a:p>
            <a:pPr algn="l"/>
            <a:r>
              <a:rPr lang="en-IN" dirty="0" smtClean="0"/>
              <a:t>- When </a:t>
            </a:r>
            <a:r>
              <a:rPr lang="en-IN" dirty="0"/>
              <a:t>talking about especially good times they generally did not mention these factors. Instead, they talked about </a:t>
            </a:r>
            <a:r>
              <a:rPr lang="en-IN" b="1" dirty="0"/>
              <a:t>recognition they had received for a well done job, or the opportunity their jobs has given them for personal growth and development</a:t>
            </a:r>
            <a:r>
              <a:rPr lang="en-IN" b="1" dirty="0" smtClean="0"/>
              <a:t>.</a:t>
            </a:r>
          </a:p>
          <a:p>
            <a:pPr algn="just"/>
            <a:endParaRPr lang="en-IN" sz="1050" dirty="0"/>
          </a:p>
          <a:p>
            <a:pPr algn="just"/>
            <a:r>
              <a:rPr lang="en-IN" b="1" dirty="0"/>
              <a:t>Finally Herzberg</a:t>
            </a:r>
            <a:r>
              <a:rPr lang="en-IN" b="1" dirty="0" smtClean="0"/>
              <a:t> </a:t>
            </a:r>
            <a:r>
              <a:rPr lang="en-IN" b="1" dirty="0"/>
              <a:t>concludes </a:t>
            </a:r>
            <a:endParaRPr lang="en-IN" b="1" dirty="0" smtClean="0"/>
          </a:p>
          <a:p>
            <a:pPr algn="just"/>
            <a:r>
              <a:rPr lang="en-IN" dirty="0"/>
              <a:t>- When people are dissatisfied they are concerned about the working environment. He called this as </a:t>
            </a:r>
            <a:r>
              <a:rPr lang="en-IN" b="1" dirty="0"/>
              <a:t>Hygiene factors or maintenance factors</a:t>
            </a:r>
            <a:r>
              <a:rPr lang="en-IN" b="1" dirty="0" smtClean="0"/>
              <a:t>.</a:t>
            </a:r>
            <a:endParaRPr lang="en-IN" b="1" dirty="0"/>
          </a:p>
          <a:p>
            <a:pPr lvl="0" algn="just"/>
            <a:r>
              <a:rPr lang="en-IN" dirty="0" smtClean="0"/>
              <a:t>- When </a:t>
            </a:r>
            <a:r>
              <a:rPr lang="en-IN" dirty="0"/>
              <a:t>people are satisfied they are concerned with work itself. He called this as </a:t>
            </a:r>
            <a:r>
              <a:rPr lang="en-IN" b="1" dirty="0"/>
              <a:t>motivation factor or motivators or satisfiers</a:t>
            </a:r>
            <a:r>
              <a:rPr lang="en-IN" b="1" dirty="0" smtClean="0"/>
              <a:t>.</a:t>
            </a:r>
            <a:endParaRPr lang="en-IN" dirty="0"/>
          </a:p>
          <a:p>
            <a:pPr algn="l"/>
            <a:endParaRPr lang="en-IN" dirty="0"/>
          </a:p>
        </p:txBody>
      </p:sp>
    </p:spTree>
    <p:extLst>
      <p:ext uri="{BB962C8B-B14F-4D97-AF65-F5344CB8AC3E}">
        <p14:creationId xmlns:p14="http://schemas.microsoft.com/office/powerpoint/2010/main" val="17747453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0608" y="463639"/>
            <a:ext cx="11384924" cy="5924282"/>
          </a:xfrm>
        </p:spPr>
        <p:txBody>
          <a:bodyPr/>
          <a:lstStyle/>
          <a:p>
            <a:pPr lvl="0" algn="l"/>
            <a:r>
              <a:rPr lang="en-IN" b="1" dirty="0" smtClean="0"/>
              <a:t>- There </a:t>
            </a:r>
            <a:r>
              <a:rPr lang="en-IN" b="1" dirty="0"/>
              <a:t>are ten maintenance </a:t>
            </a:r>
            <a:r>
              <a:rPr lang="en-IN" b="1" dirty="0" smtClean="0"/>
              <a:t>factors</a:t>
            </a:r>
            <a:endParaRPr lang="en-IN" dirty="0"/>
          </a:p>
          <a:p>
            <a:pPr algn="l"/>
            <a:r>
              <a:rPr lang="en-IN" dirty="0"/>
              <a:t>1. Fair company policies and administration</a:t>
            </a:r>
          </a:p>
          <a:p>
            <a:pPr algn="l"/>
            <a:r>
              <a:rPr lang="en-IN" dirty="0"/>
              <a:t>2. A supervisor who knows the work</a:t>
            </a:r>
          </a:p>
          <a:p>
            <a:pPr algn="l"/>
            <a:r>
              <a:rPr lang="en-IN" dirty="0"/>
              <a:t>3. A good relationship with one’s supervisor</a:t>
            </a:r>
          </a:p>
          <a:p>
            <a:pPr algn="l"/>
            <a:r>
              <a:rPr lang="en-IN" dirty="0"/>
              <a:t>4. A good relationship with one’s peers.</a:t>
            </a:r>
          </a:p>
          <a:p>
            <a:pPr algn="l"/>
            <a:r>
              <a:rPr lang="en-IN" dirty="0"/>
              <a:t>5. A good relationship with one’s subordinates</a:t>
            </a:r>
          </a:p>
          <a:p>
            <a:pPr algn="l"/>
            <a:r>
              <a:rPr lang="en-IN" dirty="0"/>
              <a:t>6. A fair salary</a:t>
            </a:r>
          </a:p>
          <a:p>
            <a:pPr algn="l"/>
            <a:r>
              <a:rPr lang="en-IN" dirty="0"/>
              <a:t>7. Job security</a:t>
            </a:r>
          </a:p>
          <a:p>
            <a:pPr algn="l"/>
            <a:r>
              <a:rPr lang="en-IN" dirty="0"/>
              <a:t>8. Personal life</a:t>
            </a:r>
          </a:p>
          <a:p>
            <a:pPr algn="l"/>
            <a:r>
              <a:rPr lang="en-IN" dirty="0"/>
              <a:t>9. Good working conditions</a:t>
            </a:r>
          </a:p>
          <a:p>
            <a:pPr algn="l"/>
            <a:r>
              <a:rPr lang="en-IN" dirty="0"/>
              <a:t>10. Status</a:t>
            </a:r>
          </a:p>
          <a:p>
            <a:pPr algn="l"/>
            <a:endParaRPr lang="en-IN" dirty="0"/>
          </a:p>
        </p:txBody>
      </p:sp>
    </p:spTree>
    <p:extLst>
      <p:ext uri="{BB962C8B-B14F-4D97-AF65-F5344CB8AC3E}">
        <p14:creationId xmlns:p14="http://schemas.microsoft.com/office/powerpoint/2010/main" val="37694717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89397" y="347730"/>
            <a:ext cx="11204620" cy="6143222"/>
          </a:xfrm>
        </p:spPr>
        <p:txBody>
          <a:bodyPr/>
          <a:lstStyle/>
          <a:p>
            <a:pPr lvl="0" algn="l"/>
            <a:r>
              <a:rPr lang="en-IN" b="1" dirty="0" smtClean="0"/>
              <a:t>- There </a:t>
            </a:r>
            <a:r>
              <a:rPr lang="en-IN" b="1" dirty="0"/>
              <a:t>are six motivation factors</a:t>
            </a:r>
            <a:r>
              <a:rPr lang="en-IN" b="1" dirty="0" smtClean="0"/>
              <a:t>.</a:t>
            </a:r>
            <a:endParaRPr lang="en-IN" dirty="0"/>
          </a:p>
          <a:p>
            <a:pPr algn="l"/>
            <a:r>
              <a:rPr lang="en-IN" dirty="0"/>
              <a:t>1. Opportunity to accomplish something significant</a:t>
            </a:r>
          </a:p>
          <a:p>
            <a:pPr algn="l"/>
            <a:r>
              <a:rPr lang="en-IN" dirty="0"/>
              <a:t>2. Recognition for significant accomplishments</a:t>
            </a:r>
          </a:p>
          <a:p>
            <a:pPr algn="l"/>
            <a:r>
              <a:rPr lang="en-IN" dirty="0"/>
              <a:t>3. Chance for advancement</a:t>
            </a:r>
          </a:p>
          <a:p>
            <a:pPr algn="l"/>
            <a:r>
              <a:rPr lang="en-IN" dirty="0"/>
              <a:t>4. Opportunity to grow and develop on the job</a:t>
            </a:r>
          </a:p>
          <a:p>
            <a:pPr algn="l"/>
            <a:r>
              <a:rPr lang="en-IN" dirty="0"/>
              <a:t>5. Chance for increased responsibility</a:t>
            </a:r>
          </a:p>
          <a:p>
            <a:pPr algn="l"/>
            <a:r>
              <a:rPr lang="en-IN" dirty="0"/>
              <a:t>6. The job </a:t>
            </a:r>
            <a:r>
              <a:rPr lang="en-IN" dirty="0" smtClean="0"/>
              <a:t>itself</a:t>
            </a:r>
          </a:p>
          <a:p>
            <a:pPr algn="l"/>
            <a:endParaRPr lang="en-IN" dirty="0" smtClean="0"/>
          </a:p>
          <a:p>
            <a:pPr algn="l"/>
            <a:r>
              <a:rPr lang="en-IN" dirty="0" smtClean="0"/>
              <a:t>- In </a:t>
            </a:r>
            <a:r>
              <a:rPr lang="en-IN" dirty="0"/>
              <a:t>the absence of maintenance factors, for example, workers may feel dissatisfied. There may be more absences, more quits, and more grievances in union organisations. </a:t>
            </a:r>
            <a:endParaRPr lang="en-IN" dirty="0" smtClean="0"/>
          </a:p>
          <a:p>
            <a:pPr algn="l"/>
            <a:r>
              <a:rPr lang="en-IN" dirty="0" smtClean="0"/>
              <a:t>But </a:t>
            </a:r>
            <a:r>
              <a:rPr lang="en-IN" dirty="0"/>
              <a:t>the presence of these factors does not motivate them. </a:t>
            </a:r>
            <a:endParaRPr lang="en-IN" dirty="0" smtClean="0"/>
          </a:p>
          <a:p>
            <a:pPr algn="l"/>
            <a:r>
              <a:rPr lang="en-IN" dirty="0" smtClean="0"/>
              <a:t>- Similarly</a:t>
            </a:r>
            <a:r>
              <a:rPr lang="en-IN" dirty="0"/>
              <a:t>, in the presence of motivators, workers may feel motivated but their absence does not make them dissatisfied.</a:t>
            </a:r>
          </a:p>
          <a:p>
            <a:pPr algn="l"/>
            <a:endParaRPr lang="en-IN" dirty="0"/>
          </a:p>
        </p:txBody>
      </p:sp>
    </p:spTree>
    <p:extLst>
      <p:ext uri="{BB962C8B-B14F-4D97-AF65-F5344CB8AC3E}">
        <p14:creationId xmlns:p14="http://schemas.microsoft.com/office/powerpoint/2010/main" val="18063458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99245" y="437881"/>
            <a:ext cx="11359166" cy="6040191"/>
          </a:xfrm>
        </p:spPr>
        <p:txBody>
          <a:bodyPr/>
          <a:lstStyle/>
          <a:p>
            <a:pPr algn="l"/>
            <a:r>
              <a:rPr lang="en-IN" dirty="0" smtClean="0"/>
              <a:t>- Herzberg </a:t>
            </a:r>
            <a:r>
              <a:rPr lang="en-IN" dirty="0"/>
              <a:t>admits that it is depends upon individual who may be either a </a:t>
            </a:r>
            <a:r>
              <a:rPr lang="en-IN" b="1" dirty="0"/>
              <a:t>“motivation seeker” or a “maintenance seeker”.</a:t>
            </a:r>
          </a:p>
          <a:p>
            <a:pPr lvl="0" algn="l"/>
            <a:r>
              <a:rPr lang="en-IN" dirty="0" smtClean="0"/>
              <a:t>- A </a:t>
            </a:r>
            <a:r>
              <a:rPr lang="en-IN" b="1" dirty="0"/>
              <a:t>motivation seeker </a:t>
            </a:r>
            <a:r>
              <a:rPr lang="en-IN" dirty="0"/>
              <a:t>(high </a:t>
            </a:r>
            <a:r>
              <a:rPr lang="en-IN" dirty="0" err="1"/>
              <a:t>nAch</a:t>
            </a:r>
            <a:r>
              <a:rPr lang="en-IN" dirty="0"/>
              <a:t>) is motivated primarily by the nature of the task and has high tolerance for poor environmental factors</a:t>
            </a:r>
            <a:r>
              <a:rPr lang="en-IN" dirty="0" smtClean="0"/>
              <a:t>.</a:t>
            </a:r>
            <a:endParaRPr lang="en-IN" dirty="0"/>
          </a:p>
          <a:p>
            <a:pPr lvl="0" algn="l"/>
            <a:r>
              <a:rPr lang="en-IN" dirty="0" smtClean="0"/>
              <a:t>- </a:t>
            </a:r>
            <a:r>
              <a:rPr lang="en-IN" b="1" dirty="0" smtClean="0"/>
              <a:t>Maintenance </a:t>
            </a:r>
            <a:r>
              <a:rPr lang="en-IN" b="1" dirty="0"/>
              <a:t>seeker </a:t>
            </a:r>
            <a:r>
              <a:rPr lang="en-IN" dirty="0"/>
              <a:t>(low </a:t>
            </a:r>
            <a:r>
              <a:rPr lang="en-IN" dirty="0" err="1"/>
              <a:t>nAch</a:t>
            </a:r>
            <a:r>
              <a:rPr lang="en-IN" dirty="0"/>
              <a:t>), on the other hand, is motivated primarily by the nature of his environment and tends to avoid motivation opportunities</a:t>
            </a:r>
          </a:p>
          <a:p>
            <a:pPr algn="l"/>
            <a:endParaRPr lang="en-IN"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2336575" y="3013656"/>
            <a:ext cx="5777115" cy="2962141"/>
          </a:xfrm>
          <a:prstGeom prst="rect">
            <a:avLst/>
          </a:prstGeom>
          <a:noFill/>
          <a:ln>
            <a:noFill/>
          </a:ln>
        </p:spPr>
      </p:pic>
    </p:spTree>
    <p:extLst>
      <p:ext uri="{BB962C8B-B14F-4D97-AF65-F5344CB8AC3E}">
        <p14:creationId xmlns:p14="http://schemas.microsoft.com/office/powerpoint/2010/main" val="11170974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89397" y="386366"/>
            <a:ext cx="11243257" cy="6078828"/>
          </a:xfrm>
        </p:spPr>
        <p:txBody>
          <a:bodyPr>
            <a:normAutofit lnSpcReduction="10000"/>
          </a:bodyPr>
          <a:lstStyle/>
          <a:p>
            <a:pPr marL="342900" indent="-342900" algn="l">
              <a:buFont typeface="Wingdings" panose="05000000000000000000" pitchFamily="2" charset="2"/>
              <a:buChar char="Ø"/>
            </a:pPr>
            <a:r>
              <a:rPr lang="en-IN" b="1" dirty="0">
                <a:solidFill>
                  <a:schemeClr val="accent1"/>
                </a:solidFill>
              </a:rPr>
              <a:t>McClelland’s Need for Achievement Theory</a:t>
            </a:r>
            <a:endParaRPr lang="en-IN" dirty="0">
              <a:solidFill>
                <a:schemeClr val="accent1"/>
              </a:solidFill>
            </a:endParaRPr>
          </a:p>
          <a:p>
            <a:pPr algn="l"/>
            <a:r>
              <a:rPr lang="en-IN" dirty="0" smtClean="0"/>
              <a:t>- According </a:t>
            </a:r>
            <a:r>
              <a:rPr lang="en-IN" dirty="0"/>
              <a:t>to McClelland, the three important needs are: </a:t>
            </a:r>
          </a:p>
          <a:p>
            <a:pPr lvl="0" algn="l"/>
            <a:r>
              <a:rPr lang="en-IN" b="1" dirty="0" smtClean="0"/>
              <a:t>1. The </a:t>
            </a:r>
            <a:r>
              <a:rPr lang="en-IN" b="1" dirty="0"/>
              <a:t>need for </a:t>
            </a:r>
            <a:r>
              <a:rPr lang="en-IN" b="1" dirty="0" smtClean="0"/>
              <a:t>Affiliation </a:t>
            </a:r>
            <a:r>
              <a:rPr lang="en-IN" b="1" dirty="0"/>
              <a:t>(n </a:t>
            </a:r>
            <a:r>
              <a:rPr lang="en-IN" b="1" dirty="0" err="1"/>
              <a:t>Aff</a:t>
            </a:r>
            <a:r>
              <a:rPr lang="en-IN" b="1" dirty="0"/>
              <a:t>)</a:t>
            </a:r>
          </a:p>
          <a:p>
            <a:pPr lvl="0" algn="l"/>
            <a:r>
              <a:rPr lang="en-IN" b="1" dirty="0" smtClean="0"/>
              <a:t>2. The </a:t>
            </a:r>
            <a:r>
              <a:rPr lang="en-IN" b="1" dirty="0"/>
              <a:t>need for </a:t>
            </a:r>
            <a:r>
              <a:rPr lang="en-IN" b="1" dirty="0" smtClean="0"/>
              <a:t>Power </a:t>
            </a:r>
            <a:r>
              <a:rPr lang="en-IN" b="1" dirty="0"/>
              <a:t>(n Pow) and </a:t>
            </a:r>
          </a:p>
          <a:p>
            <a:pPr lvl="0" algn="l"/>
            <a:r>
              <a:rPr lang="en-IN" b="1" dirty="0" smtClean="0"/>
              <a:t>3. The </a:t>
            </a:r>
            <a:r>
              <a:rPr lang="en-IN" b="1" dirty="0"/>
              <a:t>need for </a:t>
            </a:r>
            <a:r>
              <a:rPr lang="en-IN" b="1" dirty="0" smtClean="0"/>
              <a:t>Achievement </a:t>
            </a:r>
            <a:r>
              <a:rPr lang="en-IN" b="1" dirty="0"/>
              <a:t>(n Ach).</a:t>
            </a:r>
          </a:p>
          <a:p>
            <a:pPr algn="l"/>
            <a:r>
              <a:rPr lang="en-IN" dirty="0" smtClean="0"/>
              <a:t>- A </a:t>
            </a:r>
            <a:r>
              <a:rPr lang="en-IN" dirty="0"/>
              <a:t>person with a </a:t>
            </a:r>
            <a:r>
              <a:rPr lang="en-IN" b="1" dirty="0"/>
              <a:t>high need for affiliation </a:t>
            </a:r>
            <a:r>
              <a:rPr lang="en-IN" dirty="0"/>
              <a:t>is concerned about social work and importance of personal relationship. It reflects a desire to interact socially with people.</a:t>
            </a:r>
          </a:p>
          <a:p>
            <a:pPr algn="l"/>
            <a:r>
              <a:rPr lang="en-IN" dirty="0" smtClean="0"/>
              <a:t>- A </a:t>
            </a:r>
            <a:r>
              <a:rPr lang="en-IN" dirty="0"/>
              <a:t>person who has a </a:t>
            </a:r>
            <a:r>
              <a:rPr lang="en-IN" b="1" dirty="0"/>
              <a:t>high need for power</a:t>
            </a:r>
            <a:r>
              <a:rPr lang="en-IN" dirty="0"/>
              <a:t> concentrates on obtaining and exercising power and authority. And he is concerned with influencing others and winning arguments.</a:t>
            </a:r>
          </a:p>
          <a:p>
            <a:pPr algn="l"/>
            <a:r>
              <a:rPr lang="en-IN" dirty="0" smtClean="0"/>
              <a:t>- A </a:t>
            </a:r>
            <a:r>
              <a:rPr lang="en-IN" dirty="0"/>
              <a:t>person who has a </a:t>
            </a:r>
            <a:r>
              <a:rPr lang="en-IN" b="1" dirty="0"/>
              <a:t>high need for achievement </a:t>
            </a:r>
            <a:r>
              <a:rPr lang="en-IN" dirty="0"/>
              <a:t>has </a:t>
            </a:r>
            <a:r>
              <a:rPr lang="en-IN" b="1" dirty="0"/>
              <a:t>three distinct characteristics</a:t>
            </a:r>
            <a:r>
              <a:rPr lang="en-IN" dirty="0"/>
              <a:t>. </a:t>
            </a:r>
            <a:endParaRPr lang="en-IN" dirty="0" smtClean="0"/>
          </a:p>
          <a:p>
            <a:pPr algn="l"/>
            <a:r>
              <a:rPr lang="en-IN" dirty="0" err="1" smtClean="0"/>
              <a:t>i</a:t>
            </a:r>
            <a:r>
              <a:rPr lang="en-IN" dirty="0" smtClean="0"/>
              <a:t>). Preference </a:t>
            </a:r>
            <a:r>
              <a:rPr lang="en-IN" dirty="0"/>
              <a:t>for setting moderately difficult but potentially achievable goals.</a:t>
            </a:r>
          </a:p>
          <a:p>
            <a:pPr lvl="0" algn="l"/>
            <a:r>
              <a:rPr lang="en-IN" dirty="0" smtClean="0"/>
              <a:t>ii). Doing </a:t>
            </a:r>
            <a:r>
              <a:rPr lang="en-IN" dirty="0"/>
              <a:t>most things himself rather than getting them done by others. He wants to take personal responsibility for his success or failure and does not want to hold others are responsible for it.</a:t>
            </a:r>
          </a:p>
          <a:p>
            <a:pPr lvl="0" algn="l"/>
            <a:r>
              <a:rPr lang="en-IN" dirty="0" smtClean="0"/>
              <a:t>iii). Seeking </a:t>
            </a:r>
            <a:r>
              <a:rPr lang="en-IN" dirty="0"/>
              <a:t>situations where concrete feedback is possible.</a:t>
            </a:r>
          </a:p>
          <a:p>
            <a:pPr algn="l"/>
            <a:endParaRPr lang="en-IN" dirty="0"/>
          </a:p>
        </p:txBody>
      </p:sp>
    </p:spTree>
    <p:extLst>
      <p:ext uri="{BB962C8B-B14F-4D97-AF65-F5344CB8AC3E}">
        <p14:creationId xmlns:p14="http://schemas.microsoft.com/office/powerpoint/2010/main" val="14552507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63639" y="399244"/>
            <a:ext cx="11269015" cy="6297769"/>
          </a:xfrm>
        </p:spPr>
        <p:txBody>
          <a:bodyPr>
            <a:normAutofit/>
          </a:bodyPr>
          <a:lstStyle/>
          <a:p>
            <a:pPr marL="342900" indent="-342900" algn="l">
              <a:buFont typeface="Wingdings" panose="05000000000000000000" pitchFamily="2" charset="2"/>
              <a:buChar char="Ø"/>
            </a:pPr>
            <a:r>
              <a:rPr lang="en-IN" b="1" dirty="0">
                <a:solidFill>
                  <a:schemeClr val="accent1"/>
                </a:solidFill>
              </a:rPr>
              <a:t>Victor Vroom’s Expectancy Theory</a:t>
            </a:r>
            <a:endParaRPr lang="en-IN" dirty="0">
              <a:solidFill>
                <a:schemeClr val="accent1"/>
              </a:solidFill>
            </a:endParaRPr>
          </a:p>
          <a:p>
            <a:pPr algn="l"/>
            <a:r>
              <a:rPr lang="en-IN" dirty="0" smtClean="0"/>
              <a:t>- According </a:t>
            </a:r>
            <a:r>
              <a:rPr lang="en-IN" dirty="0"/>
              <a:t>to Vroom, under conditions of free choice, an individual is motivated towards that </a:t>
            </a:r>
            <a:r>
              <a:rPr lang="en-IN" dirty="0" smtClean="0"/>
              <a:t>activity, which </a:t>
            </a:r>
            <a:r>
              <a:rPr lang="en-IN" dirty="0"/>
              <a:t>he is most capable of rendering and which he believes has the highest probability of leading him to his most preferred goal</a:t>
            </a:r>
            <a:r>
              <a:rPr lang="en-IN" dirty="0" smtClean="0"/>
              <a:t>.</a:t>
            </a:r>
          </a:p>
          <a:p>
            <a:pPr marL="342900" indent="-342900" algn="l">
              <a:buFont typeface="Arial" panose="020B0604020202020204" pitchFamily="34" charset="0"/>
              <a:buChar char="•"/>
            </a:pPr>
            <a:r>
              <a:rPr lang="en-IN" dirty="0"/>
              <a:t>Following are some basic concepts of this theory</a:t>
            </a:r>
            <a:r>
              <a:rPr lang="en-IN" dirty="0" smtClean="0"/>
              <a:t>.</a:t>
            </a:r>
            <a:r>
              <a:rPr lang="en-IN" b="1" dirty="0"/>
              <a:t> </a:t>
            </a:r>
            <a:endParaRPr lang="en-IN" dirty="0"/>
          </a:p>
          <a:p>
            <a:pPr lvl="0" algn="l"/>
            <a:r>
              <a:rPr lang="en-IN" b="1" dirty="0" smtClean="0"/>
              <a:t>1. First </a:t>
            </a:r>
            <a:r>
              <a:rPr lang="en-IN" b="1" dirty="0"/>
              <a:t>and second-level outcomes </a:t>
            </a:r>
            <a:endParaRPr lang="en-IN" dirty="0"/>
          </a:p>
          <a:p>
            <a:pPr algn="l"/>
            <a:r>
              <a:rPr lang="en-IN" dirty="0" smtClean="0"/>
              <a:t>- There </a:t>
            </a:r>
            <a:r>
              <a:rPr lang="en-IN" dirty="0"/>
              <a:t>can be various job related goals before an individual, such as, promotion, increase in salary, recognition, and praise so on. These are second level outcomes. </a:t>
            </a:r>
          </a:p>
          <a:p>
            <a:pPr algn="l"/>
            <a:r>
              <a:rPr lang="en-IN" dirty="0" smtClean="0"/>
              <a:t>- Each </a:t>
            </a:r>
            <a:r>
              <a:rPr lang="en-IN" dirty="0"/>
              <a:t>second level outcome holds some distinct value for the individual. This is called </a:t>
            </a:r>
            <a:r>
              <a:rPr lang="en-IN" b="1" dirty="0"/>
              <a:t>valence</a:t>
            </a:r>
            <a:r>
              <a:rPr lang="en-IN" b="1" dirty="0" smtClean="0"/>
              <a:t>.</a:t>
            </a:r>
            <a:endParaRPr lang="en-IN" dirty="0"/>
          </a:p>
          <a:p>
            <a:pPr algn="l"/>
            <a:r>
              <a:rPr lang="en-IN" dirty="0" smtClean="0"/>
              <a:t>- The </a:t>
            </a:r>
            <a:r>
              <a:rPr lang="en-IN" dirty="0"/>
              <a:t>valence of any outcome may be </a:t>
            </a:r>
            <a:r>
              <a:rPr lang="en-IN" b="1" dirty="0"/>
              <a:t>positive, negative or zero</a:t>
            </a:r>
            <a:r>
              <a:rPr lang="en-IN" dirty="0" smtClean="0"/>
              <a:t>.</a:t>
            </a:r>
            <a:endParaRPr lang="en-IN" dirty="0"/>
          </a:p>
          <a:p>
            <a:pPr lvl="0" algn="l"/>
            <a:r>
              <a:rPr lang="en-IN" dirty="0" smtClean="0"/>
              <a:t>- It </a:t>
            </a:r>
            <a:r>
              <a:rPr lang="en-IN" b="1" dirty="0"/>
              <a:t>is positive </a:t>
            </a:r>
            <a:r>
              <a:rPr lang="en-IN" dirty="0"/>
              <a:t>for an outcome which an individual prefers to attain (for example, promotion).</a:t>
            </a:r>
          </a:p>
          <a:p>
            <a:pPr lvl="0" algn="l"/>
            <a:r>
              <a:rPr lang="en-IN" dirty="0" smtClean="0"/>
              <a:t>- It </a:t>
            </a:r>
            <a:r>
              <a:rPr lang="en-IN" dirty="0"/>
              <a:t>is </a:t>
            </a:r>
            <a:r>
              <a:rPr lang="en-IN" b="1" dirty="0"/>
              <a:t>negative</a:t>
            </a:r>
            <a:r>
              <a:rPr lang="en-IN" dirty="0"/>
              <a:t> for an outcome which he does not want to attain (for example, demotion).</a:t>
            </a:r>
          </a:p>
          <a:p>
            <a:pPr lvl="0" algn="l"/>
            <a:r>
              <a:rPr lang="en-IN" dirty="0" smtClean="0"/>
              <a:t>- It </a:t>
            </a:r>
            <a:r>
              <a:rPr lang="en-IN" dirty="0"/>
              <a:t>is </a:t>
            </a:r>
            <a:r>
              <a:rPr lang="en-IN" b="1" dirty="0"/>
              <a:t>zero</a:t>
            </a:r>
            <a:r>
              <a:rPr lang="en-IN" dirty="0"/>
              <a:t> for an outcome toward which he is indifferent.( for example, No </a:t>
            </a:r>
            <a:r>
              <a:rPr lang="en-IN" dirty="0" smtClean="0"/>
              <a:t>change)</a:t>
            </a:r>
          </a:p>
          <a:p>
            <a:pPr algn="l"/>
            <a:endParaRPr lang="en-IN" dirty="0"/>
          </a:p>
        </p:txBody>
      </p:sp>
    </p:spTree>
    <p:extLst>
      <p:ext uri="{BB962C8B-B14F-4D97-AF65-F5344CB8AC3E}">
        <p14:creationId xmlns:p14="http://schemas.microsoft.com/office/powerpoint/2010/main" val="6982888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9093" y="412123"/>
            <a:ext cx="11719775" cy="6156101"/>
          </a:xfrm>
        </p:spPr>
        <p:txBody>
          <a:bodyPr>
            <a:normAutofit/>
          </a:bodyPr>
          <a:lstStyle/>
          <a:p>
            <a:pPr algn="l"/>
            <a:r>
              <a:rPr lang="en-IN" dirty="0" smtClean="0"/>
              <a:t>- Each </a:t>
            </a:r>
            <a:r>
              <a:rPr lang="en-IN" dirty="0"/>
              <a:t>second level outcome can be achieved in a number of ways. </a:t>
            </a:r>
          </a:p>
          <a:p>
            <a:pPr algn="l"/>
            <a:r>
              <a:rPr lang="en-IN" dirty="0" smtClean="0"/>
              <a:t>- For </a:t>
            </a:r>
            <a:r>
              <a:rPr lang="en-IN" dirty="0"/>
              <a:t>example, one can achieve promotion either by leaving the organisation or by joining some other organisation or by attending a training programme or by developing intimacy (good relationship) with his boss or by bribing somebody or by improving his performance and so on. These are called </a:t>
            </a:r>
            <a:r>
              <a:rPr lang="en-IN" b="1" dirty="0"/>
              <a:t>first level outcomes</a:t>
            </a:r>
            <a:r>
              <a:rPr lang="en-IN" dirty="0"/>
              <a:t>.</a:t>
            </a:r>
          </a:p>
          <a:p>
            <a:pPr lvl="0" algn="l"/>
            <a:r>
              <a:rPr lang="en-IN" b="1" dirty="0" smtClean="0"/>
              <a:t>2. Instrumentality</a:t>
            </a:r>
            <a:endParaRPr lang="en-IN" dirty="0"/>
          </a:p>
          <a:p>
            <a:pPr algn="l"/>
            <a:r>
              <a:rPr lang="en-IN" dirty="0" smtClean="0"/>
              <a:t>- All </a:t>
            </a:r>
            <a:r>
              <a:rPr lang="en-IN" dirty="0"/>
              <a:t>first level outcomes do not have equal probability of leading the individual to the second level outcome. </a:t>
            </a:r>
          </a:p>
          <a:p>
            <a:pPr algn="l"/>
            <a:r>
              <a:rPr lang="en-IN" dirty="0" smtClean="0"/>
              <a:t>- The </a:t>
            </a:r>
            <a:r>
              <a:rPr lang="en-IN" dirty="0"/>
              <a:t>individual has his own subjective estimates of these probabilities ranging from -1 to +1 these are called </a:t>
            </a:r>
            <a:r>
              <a:rPr lang="en-IN" b="1" dirty="0"/>
              <a:t>instrumentalities.</a:t>
            </a:r>
            <a:endParaRPr lang="en-IN" dirty="0"/>
          </a:p>
          <a:p>
            <a:pPr lvl="0" algn="l"/>
            <a:r>
              <a:rPr lang="en-IN" b="1" dirty="0" smtClean="0"/>
              <a:t>-1 </a:t>
            </a:r>
            <a:r>
              <a:rPr lang="en-IN" b="1" dirty="0"/>
              <a:t>indicates </a:t>
            </a:r>
            <a:r>
              <a:rPr lang="en-IN" dirty="0"/>
              <a:t>a belief that the second level outcome is certain without the first level outcome</a:t>
            </a:r>
            <a:r>
              <a:rPr lang="en-IN" dirty="0" smtClean="0"/>
              <a:t>.</a:t>
            </a:r>
            <a:r>
              <a:rPr lang="en-IN" dirty="0"/>
              <a:t> </a:t>
            </a:r>
          </a:p>
          <a:p>
            <a:pPr lvl="0" algn="l"/>
            <a:r>
              <a:rPr lang="en-IN" b="1" dirty="0" smtClean="0"/>
              <a:t>0 </a:t>
            </a:r>
            <a:r>
              <a:rPr lang="en-IN" b="1" dirty="0"/>
              <a:t>indicates </a:t>
            </a:r>
            <a:r>
              <a:rPr lang="en-IN" dirty="0"/>
              <a:t>a belief that the second level outcome is impossible with the first level outcome.</a:t>
            </a:r>
          </a:p>
          <a:p>
            <a:pPr lvl="0" algn="l"/>
            <a:r>
              <a:rPr lang="en-IN" b="1" dirty="0" smtClean="0"/>
              <a:t>+</a:t>
            </a:r>
            <a:r>
              <a:rPr lang="en-IN" b="1" dirty="0"/>
              <a:t>1 indicates </a:t>
            </a:r>
            <a:r>
              <a:rPr lang="en-IN" dirty="0"/>
              <a:t>a belief that the second level outcome is certain with the first level outcome.</a:t>
            </a:r>
          </a:p>
          <a:p>
            <a:pPr algn="l"/>
            <a:endParaRPr lang="en-IN" dirty="0"/>
          </a:p>
        </p:txBody>
      </p:sp>
    </p:spTree>
    <p:extLst>
      <p:ext uri="{BB962C8B-B14F-4D97-AF65-F5344CB8AC3E}">
        <p14:creationId xmlns:p14="http://schemas.microsoft.com/office/powerpoint/2010/main" val="24375720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25003" y="360608"/>
            <a:ext cx="11333408" cy="6104586"/>
          </a:xfrm>
        </p:spPr>
        <p:txBody>
          <a:bodyPr/>
          <a:lstStyle/>
          <a:p>
            <a:pPr lvl="0" algn="l"/>
            <a:r>
              <a:rPr lang="en-IN" b="1" dirty="0" smtClean="0"/>
              <a:t>3. Expectancy</a:t>
            </a:r>
            <a:endParaRPr lang="en-IN" dirty="0"/>
          </a:p>
          <a:p>
            <a:pPr algn="l"/>
            <a:r>
              <a:rPr lang="en-IN" dirty="0" smtClean="0"/>
              <a:t>- Expectancy </a:t>
            </a:r>
            <a:r>
              <a:rPr lang="en-IN" dirty="0"/>
              <a:t>like instrumentality is also a probability estimate which joins the individual’s efforts to first level outcome.</a:t>
            </a:r>
          </a:p>
          <a:p>
            <a:pPr algn="l"/>
            <a:r>
              <a:rPr lang="en-IN" dirty="0" smtClean="0"/>
              <a:t>- Expectancy </a:t>
            </a:r>
            <a:r>
              <a:rPr lang="en-IN" dirty="0"/>
              <a:t>values are always positive, ranging from 0 to 1.</a:t>
            </a:r>
          </a:p>
          <a:p>
            <a:pPr algn="l"/>
            <a:r>
              <a:rPr lang="en-IN" dirty="0"/>
              <a:t> </a:t>
            </a:r>
          </a:p>
          <a:p>
            <a:pPr lvl="0" algn="l"/>
            <a:r>
              <a:rPr lang="en-IN" b="1" dirty="0" smtClean="0"/>
              <a:t>4. Motivation </a:t>
            </a:r>
            <a:endParaRPr lang="en-IN" dirty="0"/>
          </a:p>
          <a:p>
            <a:pPr algn="l"/>
            <a:r>
              <a:rPr lang="en-IN" dirty="0" smtClean="0"/>
              <a:t>- Motivation </a:t>
            </a:r>
            <a:r>
              <a:rPr lang="en-IN" dirty="0"/>
              <a:t>is a multiplicative function of the valence for each first level outcome (V1) and the believed expectancy (E).</a:t>
            </a:r>
          </a:p>
          <a:p>
            <a:pPr algn="l"/>
            <a:r>
              <a:rPr lang="en-IN" dirty="0"/>
              <a:t> </a:t>
            </a:r>
          </a:p>
          <a:p>
            <a:pPr algn="l"/>
            <a:r>
              <a:rPr lang="en-IN" b="1" dirty="0" err="1"/>
              <a:t>i.e</a:t>
            </a:r>
            <a:r>
              <a:rPr lang="en-IN" b="1" dirty="0"/>
              <a:t> M=f(V1 X E).</a:t>
            </a:r>
            <a:endParaRPr lang="en-IN" dirty="0"/>
          </a:p>
          <a:p>
            <a:pPr algn="l"/>
            <a:endParaRPr lang="en-IN" dirty="0"/>
          </a:p>
        </p:txBody>
      </p:sp>
    </p:spTree>
    <p:extLst>
      <p:ext uri="{BB962C8B-B14F-4D97-AF65-F5344CB8AC3E}">
        <p14:creationId xmlns:p14="http://schemas.microsoft.com/office/powerpoint/2010/main" val="3619698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37882" y="412123"/>
            <a:ext cx="11294772" cy="6091707"/>
          </a:xfrm>
        </p:spPr>
        <p:txBody>
          <a:bodyPr/>
          <a:lstStyle/>
          <a:p>
            <a:pPr algn="l"/>
            <a:r>
              <a:rPr lang="en-IN" dirty="0" smtClean="0"/>
              <a:t>- Example </a:t>
            </a:r>
            <a:r>
              <a:rPr lang="en-IN" dirty="0"/>
              <a:t>of a worker faced with various first and second level outcomes, as shown in below figure</a:t>
            </a:r>
            <a:r>
              <a:rPr lang="en-IN" dirty="0" smtClean="0"/>
              <a:t>.</a:t>
            </a:r>
          </a:p>
          <a:p>
            <a:pPr algn="l"/>
            <a:endParaRPr lang="en-IN" dirty="0"/>
          </a:p>
          <a:p>
            <a:pPr algn="l"/>
            <a:endParaRPr lang="en-IN" dirty="0" smtClean="0"/>
          </a:p>
          <a:p>
            <a:pPr algn="l"/>
            <a:endParaRPr lang="en-IN" dirty="0"/>
          </a:p>
          <a:p>
            <a:pPr algn="l"/>
            <a:endParaRPr lang="en-IN" dirty="0" smtClean="0"/>
          </a:p>
          <a:p>
            <a:pPr algn="l"/>
            <a:endParaRPr lang="en-IN" dirty="0"/>
          </a:p>
          <a:p>
            <a:pPr algn="l"/>
            <a:endParaRPr lang="en-IN" dirty="0" smtClean="0"/>
          </a:p>
          <a:p>
            <a:pPr algn="l"/>
            <a:endParaRPr lang="en-IN" dirty="0"/>
          </a:p>
          <a:p>
            <a:pPr algn="l"/>
            <a:endParaRPr lang="en-IN" dirty="0"/>
          </a:p>
          <a:p>
            <a:pPr algn="l"/>
            <a:r>
              <a:rPr lang="en-IN" dirty="0" smtClean="0"/>
              <a:t>- Thus</a:t>
            </a:r>
            <a:r>
              <a:rPr lang="en-IN" dirty="0"/>
              <a:t>, it can be easily predicted that the worker would be motivated toward developing intimacy with his employer (Boss). His motivation will depend not only on the valence of the first level outcome but also on the value of expectancy.</a:t>
            </a:r>
          </a:p>
          <a:p>
            <a:pPr algn="l"/>
            <a:endParaRPr lang="en-IN"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1765544" y="1269709"/>
            <a:ext cx="8267097" cy="3495474"/>
          </a:xfrm>
          <a:prstGeom prst="rect">
            <a:avLst/>
          </a:prstGeom>
          <a:noFill/>
          <a:ln>
            <a:noFill/>
          </a:ln>
        </p:spPr>
      </p:pic>
    </p:spTree>
    <p:extLst>
      <p:ext uri="{BB962C8B-B14F-4D97-AF65-F5344CB8AC3E}">
        <p14:creationId xmlns:p14="http://schemas.microsoft.com/office/powerpoint/2010/main" val="34987793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37882" y="425003"/>
            <a:ext cx="11294772" cy="6078828"/>
          </a:xfrm>
        </p:spPr>
        <p:txBody>
          <a:bodyPr/>
          <a:lstStyle/>
          <a:p>
            <a:pPr marL="342900" indent="-342900" algn="l">
              <a:buFont typeface="Wingdings" panose="05000000000000000000" pitchFamily="2" charset="2"/>
              <a:buChar char="Ø"/>
            </a:pPr>
            <a:r>
              <a:rPr lang="en-IN" b="1" dirty="0">
                <a:solidFill>
                  <a:schemeClr val="accent1"/>
                </a:solidFill>
              </a:rPr>
              <a:t>Communication</a:t>
            </a:r>
            <a:endParaRPr lang="en-IN" dirty="0">
              <a:solidFill>
                <a:schemeClr val="accent1"/>
              </a:solidFill>
            </a:endParaRPr>
          </a:p>
          <a:p>
            <a:pPr algn="just">
              <a:lnSpc>
                <a:spcPct val="100000"/>
              </a:lnSpc>
            </a:pPr>
            <a:r>
              <a:rPr lang="en-IN" dirty="0" smtClean="0"/>
              <a:t>- </a:t>
            </a:r>
            <a:r>
              <a:rPr lang="en-IN" b="1" dirty="0" smtClean="0"/>
              <a:t>According </a:t>
            </a:r>
            <a:r>
              <a:rPr lang="en-IN" b="1" dirty="0"/>
              <a:t>to Newman and Summer- </a:t>
            </a:r>
            <a:r>
              <a:rPr lang="en-IN" dirty="0"/>
              <a:t>it is an exchange of facts, ideas, opinions or emotions by two or more persons</a:t>
            </a:r>
            <a:r>
              <a:rPr lang="en-IN" dirty="0" smtClean="0"/>
              <a:t>.</a:t>
            </a:r>
            <a:endParaRPr lang="en-IN" dirty="0"/>
          </a:p>
          <a:p>
            <a:pPr algn="just">
              <a:lnSpc>
                <a:spcPct val="100000"/>
              </a:lnSpc>
            </a:pPr>
            <a:r>
              <a:rPr lang="en-IN" b="1" dirty="0" smtClean="0"/>
              <a:t>- Communication</a:t>
            </a:r>
            <a:r>
              <a:rPr lang="en-IN" dirty="0" smtClean="0"/>
              <a:t> </a:t>
            </a:r>
            <a:r>
              <a:rPr lang="en-IN" dirty="0"/>
              <a:t>means the process of passing information and understanding from one person to another. </a:t>
            </a:r>
          </a:p>
          <a:p>
            <a:pPr marL="342900" indent="-342900" algn="just">
              <a:lnSpc>
                <a:spcPct val="100000"/>
              </a:lnSpc>
              <a:buFontTx/>
              <a:buChar char="-"/>
            </a:pPr>
            <a:r>
              <a:rPr lang="en-IN" dirty="0" smtClean="0"/>
              <a:t>A </a:t>
            </a:r>
            <a:r>
              <a:rPr lang="en-IN" b="1" dirty="0"/>
              <a:t>proper understanding </a:t>
            </a:r>
            <a:r>
              <a:rPr lang="en-IN" dirty="0"/>
              <a:t>of information is very important aspect of communication. If the information is not understood by the receiver in the same meaning in which its sender wants him to understand it, the purpose of communication is </a:t>
            </a:r>
            <a:r>
              <a:rPr lang="en-IN" b="1" dirty="0"/>
              <a:t>defeated</a:t>
            </a:r>
            <a:r>
              <a:rPr lang="en-IN" dirty="0"/>
              <a:t>. </a:t>
            </a:r>
            <a:endParaRPr lang="en-IN" dirty="0" smtClean="0"/>
          </a:p>
          <a:p>
            <a:pPr marL="342900" indent="-342900" algn="just">
              <a:lnSpc>
                <a:spcPct val="100000"/>
              </a:lnSpc>
              <a:buFontTx/>
              <a:buChar char="-"/>
            </a:pPr>
            <a:r>
              <a:rPr lang="en-IN" dirty="0" smtClean="0"/>
              <a:t>This </a:t>
            </a:r>
            <a:r>
              <a:rPr lang="en-IN" dirty="0"/>
              <a:t>may result in confusion, chaos and organisational inefficiency, leading to nonfulfillment of business goals</a:t>
            </a:r>
            <a:r>
              <a:rPr lang="en-IN" dirty="0" smtClean="0"/>
              <a:t>.</a:t>
            </a:r>
            <a:endParaRPr lang="en-IN" dirty="0"/>
          </a:p>
          <a:p>
            <a:pPr algn="just">
              <a:lnSpc>
                <a:spcPct val="100000"/>
              </a:lnSpc>
            </a:pPr>
            <a:r>
              <a:rPr lang="en-IN" dirty="0" smtClean="0"/>
              <a:t>- In </a:t>
            </a:r>
            <a:r>
              <a:rPr lang="en-IN" dirty="0"/>
              <a:t>short, communication is not only transmission of information from one person to another but also correct interpretation and understanding of the information.</a:t>
            </a:r>
          </a:p>
        </p:txBody>
      </p:sp>
    </p:spTree>
    <p:extLst>
      <p:ext uri="{BB962C8B-B14F-4D97-AF65-F5344CB8AC3E}">
        <p14:creationId xmlns:p14="http://schemas.microsoft.com/office/powerpoint/2010/main" val="37820515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12124" y="206061"/>
            <a:ext cx="11294772" cy="6503832"/>
          </a:xfrm>
        </p:spPr>
        <p:txBody>
          <a:bodyPr>
            <a:normAutofit/>
          </a:bodyPr>
          <a:lstStyle/>
          <a:p>
            <a:pPr marL="342900" indent="-342900" algn="l">
              <a:buFont typeface="Wingdings" panose="05000000000000000000" pitchFamily="2" charset="2"/>
              <a:buChar char="Ø"/>
            </a:pPr>
            <a:r>
              <a:rPr lang="en-IN" b="1" dirty="0">
                <a:solidFill>
                  <a:schemeClr val="accent1"/>
                </a:solidFill>
              </a:rPr>
              <a:t>Importance (or Purpose) of </a:t>
            </a:r>
            <a:r>
              <a:rPr lang="en-IN" b="1" dirty="0" smtClean="0">
                <a:solidFill>
                  <a:schemeClr val="accent1"/>
                </a:solidFill>
              </a:rPr>
              <a:t>communication</a:t>
            </a:r>
            <a:endParaRPr lang="en-IN" dirty="0">
              <a:solidFill>
                <a:schemeClr val="accent1"/>
              </a:solidFill>
            </a:endParaRPr>
          </a:p>
          <a:p>
            <a:pPr lvl="0" algn="l"/>
            <a:r>
              <a:rPr lang="en-IN" dirty="0" smtClean="0"/>
              <a:t>1. Communication </a:t>
            </a:r>
            <a:r>
              <a:rPr lang="en-IN" dirty="0"/>
              <a:t>is needed in the </a:t>
            </a:r>
            <a:r>
              <a:rPr lang="en-IN" b="1" dirty="0"/>
              <a:t>recruitment process </a:t>
            </a:r>
            <a:r>
              <a:rPr lang="en-IN" dirty="0"/>
              <a:t>to hire the people and to educate them about </a:t>
            </a:r>
            <a:r>
              <a:rPr lang="en-IN" dirty="0" smtClean="0"/>
              <a:t>company </a:t>
            </a:r>
            <a:r>
              <a:rPr lang="en-IN" dirty="0"/>
              <a:t>policies and procedures.</a:t>
            </a:r>
          </a:p>
          <a:p>
            <a:pPr lvl="0" algn="l"/>
            <a:r>
              <a:rPr lang="en-IN" dirty="0" smtClean="0"/>
              <a:t>2. Communication </a:t>
            </a:r>
            <a:r>
              <a:rPr lang="en-IN" dirty="0"/>
              <a:t>is needed in the area of </a:t>
            </a:r>
            <a:r>
              <a:rPr lang="en-IN" b="1" dirty="0"/>
              <a:t>orientation</a:t>
            </a:r>
            <a:r>
              <a:rPr lang="en-IN" dirty="0"/>
              <a:t> to make employees used to company’s rules and regulations.</a:t>
            </a:r>
          </a:p>
          <a:p>
            <a:pPr lvl="0" algn="l"/>
            <a:r>
              <a:rPr lang="en-IN" dirty="0" smtClean="0"/>
              <a:t>3. Communication </a:t>
            </a:r>
            <a:r>
              <a:rPr lang="en-IN" dirty="0"/>
              <a:t>is needed to enable employees to perform their </a:t>
            </a:r>
            <a:r>
              <a:rPr lang="en-IN" b="1" dirty="0"/>
              <a:t>functions effectively</a:t>
            </a:r>
            <a:r>
              <a:rPr lang="en-IN" dirty="0"/>
              <a:t>. </a:t>
            </a:r>
            <a:endParaRPr lang="en-IN" dirty="0" smtClean="0"/>
          </a:p>
          <a:p>
            <a:pPr lvl="0" algn="l"/>
            <a:r>
              <a:rPr lang="en-IN" dirty="0" smtClean="0"/>
              <a:t>4. Communication </a:t>
            </a:r>
            <a:r>
              <a:rPr lang="en-IN" dirty="0"/>
              <a:t>is needed to </a:t>
            </a:r>
            <a:r>
              <a:rPr lang="en-IN" b="1" dirty="0"/>
              <a:t>acquaint </a:t>
            </a:r>
            <a:r>
              <a:rPr lang="en-IN" b="1" dirty="0" smtClean="0"/>
              <a:t>(Aware) the </a:t>
            </a:r>
            <a:r>
              <a:rPr lang="en-IN" b="1" dirty="0"/>
              <a:t>subordinates </a:t>
            </a:r>
            <a:r>
              <a:rPr lang="en-IN" dirty="0"/>
              <a:t>with the evaluation of their contribution to enterprise activity.</a:t>
            </a:r>
          </a:p>
          <a:p>
            <a:pPr lvl="0" algn="l"/>
            <a:r>
              <a:rPr lang="en-IN" dirty="0" smtClean="0"/>
              <a:t>5. Communication </a:t>
            </a:r>
            <a:r>
              <a:rPr lang="en-IN" dirty="0"/>
              <a:t>is needed to teach employees about </a:t>
            </a:r>
            <a:r>
              <a:rPr lang="en-IN" b="1" dirty="0"/>
              <a:t>personal safety </a:t>
            </a:r>
            <a:r>
              <a:rPr lang="en-IN" dirty="0"/>
              <a:t>on the job. This is essential to reduce accidents, to lower compensation and legal costs and to decrease recruitment and training cost for replacements.</a:t>
            </a:r>
          </a:p>
          <a:p>
            <a:pPr lvl="0" algn="l"/>
            <a:r>
              <a:rPr lang="en-IN" dirty="0" smtClean="0"/>
              <a:t>6. Communication </a:t>
            </a:r>
            <a:r>
              <a:rPr lang="en-IN" dirty="0"/>
              <a:t>is importance in </a:t>
            </a:r>
            <a:r>
              <a:rPr lang="en-IN" b="1" dirty="0"/>
              <a:t>projecting the image of an enterprise </a:t>
            </a:r>
            <a:r>
              <a:rPr lang="en-IN" dirty="0"/>
              <a:t>in the society.</a:t>
            </a:r>
          </a:p>
          <a:p>
            <a:pPr lvl="0" algn="l"/>
            <a:r>
              <a:rPr lang="en-IN" dirty="0" smtClean="0"/>
              <a:t>7. Communication </a:t>
            </a:r>
            <a:r>
              <a:rPr lang="en-IN" dirty="0"/>
              <a:t>helps the manager in his </a:t>
            </a:r>
            <a:r>
              <a:rPr lang="en-IN" b="1" dirty="0"/>
              <a:t>decision process</a:t>
            </a:r>
            <a:r>
              <a:rPr lang="en-IN" dirty="0"/>
              <a:t>.</a:t>
            </a:r>
          </a:p>
          <a:p>
            <a:pPr lvl="0" algn="l"/>
            <a:r>
              <a:rPr lang="en-IN" dirty="0" smtClean="0"/>
              <a:t>8. Communication </a:t>
            </a:r>
            <a:r>
              <a:rPr lang="en-IN" dirty="0"/>
              <a:t>helps in </a:t>
            </a:r>
            <a:r>
              <a:rPr lang="en-IN" b="1" dirty="0"/>
              <a:t>achieving coordination</a:t>
            </a:r>
            <a:r>
              <a:rPr lang="en-IN" dirty="0"/>
              <a:t>. In a large organisation, working on the basis of division of labour and specialisation, there is need for coordination among employees of different departments</a:t>
            </a:r>
            <a:r>
              <a:rPr lang="en-IN" dirty="0" smtClean="0"/>
              <a:t>.</a:t>
            </a:r>
            <a:endParaRPr lang="en-IN" dirty="0"/>
          </a:p>
        </p:txBody>
      </p:sp>
    </p:spTree>
    <p:extLst>
      <p:ext uri="{BB962C8B-B14F-4D97-AF65-F5344CB8AC3E}">
        <p14:creationId xmlns:p14="http://schemas.microsoft.com/office/powerpoint/2010/main" val="22153949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0761" y="399245"/>
            <a:ext cx="11191740" cy="5911403"/>
          </a:xfrm>
        </p:spPr>
        <p:txBody>
          <a:bodyPr/>
          <a:lstStyle/>
          <a:p>
            <a:pPr lvl="0" algn="l"/>
            <a:r>
              <a:rPr lang="en-IN" dirty="0" smtClean="0"/>
              <a:t>9. Communication </a:t>
            </a:r>
            <a:r>
              <a:rPr lang="en-IN" dirty="0"/>
              <a:t>promotes </a:t>
            </a:r>
            <a:r>
              <a:rPr lang="en-IN" b="1" dirty="0"/>
              <a:t>cooperation and industrial peace. </a:t>
            </a:r>
            <a:r>
              <a:rPr lang="en-IN" dirty="0"/>
              <a:t>Most of the disputes in an enterprise take place because of either lack of communication or improper communication. </a:t>
            </a:r>
            <a:endParaRPr lang="en-IN" dirty="0" smtClean="0"/>
          </a:p>
          <a:p>
            <a:pPr lvl="0" algn="l"/>
            <a:r>
              <a:rPr lang="en-IN" dirty="0" smtClean="0"/>
              <a:t>10. Communication </a:t>
            </a:r>
            <a:r>
              <a:rPr lang="en-IN" dirty="0"/>
              <a:t>helps the management to tell the subordinates about the </a:t>
            </a:r>
            <a:r>
              <a:rPr lang="en-IN" b="1" dirty="0"/>
              <a:t>objectives of the business </a:t>
            </a:r>
            <a:r>
              <a:rPr lang="en-IN" dirty="0"/>
              <a:t>and how they can help in achieving them.</a:t>
            </a:r>
          </a:p>
          <a:p>
            <a:pPr lvl="0" algn="l"/>
            <a:r>
              <a:rPr lang="en-IN" dirty="0" smtClean="0"/>
              <a:t>11. Communication </a:t>
            </a:r>
            <a:r>
              <a:rPr lang="en-IN" dirty="0"/>
              <a:t>increases </a:t>
            </a:r>
            <a:r>
              <a:rPr lang="en-IN" b="1" dirty="0"/>
              <a:t>managerial efficiency. </a:t>
            </a:r>
            <a:r>
              <a:rPr lang="en-IN" dirty="0"/>
              <a:t>The success of a manager in the performance of his duties depends on his ability to communicate</a:t>
            </a:r>
            <a:r>
              <a:rPr lang="en-IN" dirty="0" smtClean="0"/>
              <a:t>.</a:t>
            </a:r>
          </a:p>
          <a:p>
            <a:pPr lvl="0" algn="l"/>
            <a:endParaRPr lang="en-IN" dirty="0"/>
          </a:p>
          <a:p>
            <a:pPr algn="l"/>
            <a:endParaRPr lang="en-IN" dirty="0"/>
          </a:p>
        </p:txBody>
      </p:sp>
    </p:spTree>
    <p:extLst>
      <p:ext uri="{BB962C8B-B14F-4D97-AF65-F5344CB8AC3E}">
        <p14:creationId xmlns:p14="http://schemas.microsoft.com/office/powerpoint/2010/main" val="11475070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40913" y="360607"/>
            <a:ext cx="11191741" cy="5911403"/>
          </a:xfrm>
        </p:spPr>
        <p:txBody>
          <a:bodyPr/>
          <a:lstStyle/>
          <a:p>
            <a:pPr marL="342900" indent="-342900" algn="l">
              <a:buFont typeface="Wingdings" panose="05000000000000000000" pitchFamily="2" charset="2"/>
              <a:buChar char="Ø"/>
            </a:pPr>
            <a:r>
              <a:rPr lang="en-IN" b="1" dirty="0">
                <a:solidFill>
                  <a:schemeClr val="accent1"/>
                </a:solidFill>
              </a:rPr>
              <a:t>Coordination</a:t>
            </a:r>
            <a:endParaRPr lang="en-IN" dirty="0">
              <a:solidFill>
                <a:schemeClr val="accent1"/>
              </a:solidFill>
            </a:endParaRPr>
          </a:p>
          <a:p>
            <a:pPr algn="l"/>
            <a:r>
              <a:rPr lang="en-IN" dirty="0" smtClean="0"/>
              <a:t>- The </a:t>
            </a:r>
            <a:r>
              <a:rPr lang="en-IN" dirty="0"/>
              <a:t>management of a modem enterprise is based on the principle of </a:t>
            </a:r>
            <a:r>
              <a:rPr lang="en-IN" b="1" dirty="0"/>
              <a:t>specialisation or division of labour</a:t>
            </a:r>
            <a:r>
              <a:rPr lang="en-IN" dirty="0"/>
              <a:t>. Jobs are broken down into sub-tasks, each task is assigned to a team.</a:t>
            </a:r>
          </a:p>
          <a:p>
            <a:pPr algn="l"/>
            <a:r>
              <a:rPr lang="en-IN" dirty="0" smtClean="0"/>
              <a:t>- There </a:t>
            </a:r>
            <a:r>
              <a:rPr lang="en-IN" dirty="0"/>
              <a:t>for to achieve the desire results coordination is important among team members and inter team members</a:t>
            </a:r>
            <a:r>
              <a:rPr lang="en-IN" dirty="0" smtClean="0"/>
              <a:t>.</a:t>
            </a:r>
          </a:p>
          <a:p>
            <a:pPr algn="l"/>
            <a:r>
              <a:rPr lang="en-IN" dirty="0" smtClean="0"/>
              <a:t>- It </a:t>
            </a:r>
            <a:r>
              <a:rPr lang="en-IN" dirty="0"/>
              <a:t>is the </a:t>
            </a:r>
            <a:r>
              <a:rPr lang="en-IN" b="1" dirty="0"/>
              <a:t>orderly synchronisation or fitting together </a:t>
            </a:r>
            <a:r>
              <a:rPr lang="en-IN" dirty="0"/>
              <a:t>of the interdependent efforts of individuals, in order to attain a common goal.</a:t>
            </a:r>
          </a:p>
          <a:p>
            <a:pPr algn="l"/>
            <a:r>
              <a:rPr lang="en-IN" dirty="0" smtClean="0"/>
              <a:t>- Coordination </a:t>
            </a:r>
            <a:r>
              <a:rPr lang="en-IN" dirty="0"/>
              <a:t>is the management of interdependence in work situations.</a:t>
            </a:r>
          </a:p>
          <a:p>
            <a:pPr algn="l"/>
            <a:r>
              <a:rPr lang="en-IN" dirty="0" smtClean="0"/>
              <a:t>- For </a:t>
            </a:r>
            <a:r>
              <a:rPr lang="en-IN" dirty="0"/>
              <a:t>example in a modem enterprise, which consists of a number of departments, such as production, purchase, sales, finance, personnel, etc. there is need for all of them to properly time their interdependent activities and to efficiently reunite the subdivided work.</a:t>
            </a:r>
          </a:p>
          <a:p>
            <a:pPr algn="l"/>
            <a:endParaRPr lang="en-IN" dirty="0"/>
          </a:p>
          <a:p>
            <a:pPr algn="l"/>
            <a:endParaRPr lang="en-IN" dirty="0"/>
          </a:p>
        </p:txBody>
      </p:sp>
    </p:spTree>
    <p:extLst>
      <p:ext uri="{BB962C8B-B14F-4D97-AF65-F5344CB8AC3E}">
        <p14:creationId xmlns:p14="http://schemas.microsoft.com/office/powerpoint/2010/main" val="671629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0607" y="334851"/>
            <a:ext cx="11475077" cy="6117464"/>
          </a:xfrm>
        </p:spPr>
        <p:txBody>
          <a:bodyPr>
            <a:normAutofit/>
          </a:bodyPr>
          <a:lstStyle/>
          <a:p>
            <a:pPr marL="342900" indent="-342900" algn="l">
              <a:buFont typeface="Arial" panose="020B0604020202020204" pitchFamily="34" charset="0"/>
              <a:buChar char="•"/>
            </a:pPr>
            <a:r>
              <a:rPr lang="en-IN" b="1" dirty="0"/>
              <a:t>In a well-coordinated enterprise, the following facts are to be </a:t>
            </a:r>
            <a:r>
              <a:rPr lang="en-IN" b="1" dirty="0" smtClean="0"/>
              <a:t>observed</a:t>
            </a:r>
            <a:endParaRPr lang="en-IN" dirty="0"/>
          </a:p>
          <a:p>
            <a:pPr marL="514350" lvl="0" indent="-514350" algn="l">
              <a:buFont typeface="+mj-lt"/>
              <a:buAutoNum type="romanLcPeriod"/>
            </a:pPr>
            <a:r>
              <a:rPr lang="en-IN" dirty="0" smtClean="0"/>
              <a:t>Each </a:t>
            </a:r>
            <a:r>
              <a:rPr lang="en-IN" dirty="0"/>
              <a:t>department works in harmony with the rest.</a:t>
            </a:r>
          </a:p>
          <a:p>
            <a:pPr marL="514350" lvl="0" indent="-514350" algn="l">
              <a:buFont typeface="+mj-lt"/>
              <a:buAutoNum type="romanLcPeriod"/>
            </a:pPr>
            <a:r>
              <a:rPr lang="en-IN" dirty="0"/>
              <a:t>Each department, division and sub division knows the share it must take in the common task.</a:t>
            </a:r>
          </a:p>
          <a:p>
            <a:pPr marL="514350" lvl="0" indent="-514350" algn="l">
              <a:buFont typeface="+mj-lt"/>
              <a:buAutoNum type="romanLcPeriod"/>
            </a:pPr>
            <a:r>
              <a:rPr lang="en-IN" dirty="0"/>
              <a:t>The working schedule of the various departments is constantly changes based on circumstances.</a:t>
            </a:r>
          </a:p>
          <a:p>
            <a:pPr marL="342900" lvl="0" indent="-342900" algn="l">
              <a:buFont typeface="Wingdings" panose="05000000000000000000" pitchFamily="2" charset="2"/>
              <a:buChar char="Ø"/>
            </a:pPr>
            <a:r>
              <a:rPr lang="en-IN" b="1" dirty="0" smtClean="0">
                <a:solidFill>
                  <a:schemeClr val="accent1"/>
                </a:solidFill>
              </a:rPr>
              <a:t>Importance </a:t>
            </a:r>
            <a:r>
              <a:rPr lang="en-IN" b="1" dirty="0">
                <a:solidFill>
                  <a:schemeClr val="accent1"/>
                </a:solidFill>
              </a:rPr>
              <a:t>of </a:t>
            </a:r>
            <a:r>
              <a:rPr lang="en-IN" b="1" dirty="0" smtClean="0">
                <a:solidFill>
                  <a:schemeClr val="accent1"/>
                </a:solidFill>
              </a:rPr>
              <a:t>coordination</a:t>
            </a:r>
          </a:p>
          <a:p>
            <a:pPr lvl="0" algn="l"/>
            <a:r>
              <a:rPr lang="en-IN" b="1" dirty="0" smtClean="0"/>
              <a:t>1. Division </a:t>
            </a:r>
            <a:r>
              <a:rPr lang="en-IN" b="1" dirty="0"/>
              <a:t>of Labour</a:t>
            </a:r>
            <a:r>
              <a:rPr lang="en-IN" dirty="0"/>
              <a:t> </a:t>
            </a:r>
            <a:r>
              <a:rPr lang="en-IN" dirty="0" smtClean="0"/>
              <a:t>- </a:t>
            </a:r>
            <a:r>
              <a:rPr lang="en-IN" dirty="0"/>
              <a:t>managers divide work into specialised functions or departments, at the same time create a need for the coordination of these activities. Generally the greater the division of labour, the greater the need for coordination.</a:t>
            </a:r>
            <a:endParaRPr lang="en-IN" dirty="0" smtClean="0"/>
          </a:p>
          <a:p>
            <a:pPr algn="l"/>
            <a:r>
              <a:rPr lang="en-IN" b="1" dirty="0" smtClean="0"/>
              <a:t>2. Interdependence </a:t>
            </a:r>
            <a:r>
              <a:rPr lang="en-IN" b="1" dirty="0"/>
              <a:t>of Units</a:t>
            </a:r>
            <a:endParaRPr lang="en-IN" dirty="0"/>
          </a:p>
          <a:p>
            <a:pPr algn="l"/>
            <a:r>
              <a:rPr lang="en-IN" dirty="0" smtClean="0"/>
              <a:t>- The </a:t>
            </a:r>
            <a:r>
              <a:rPr lang="en-IN" dirty="0"/>
              <a:t>need of coordination in an organisation also arises because of the interdependence of various units.</a:t>
            </a:r>
          </a:p>
          <a:p>
            <a:pPr algn="l"/>
            <a:endParaRPr lang="en-IN" dirty="0"/>
          </a:p>
          <a:p>
            <a:pPr lvl="0" algn="l"/>
            <a:endParaRPr lang="en-IN" dirty="0"/>
          </a:p>
          <a:p>
            <a:pPr algn="l"/>
            <a:endParaRPr lang="en-IN" dirty="0"/>
          </a:p>
        </p:txBody>
      </p:sp>
    </p:spTree>
    <p:extLst>
      <p:ext uri="{BB962C8B-B14F-4D97-AF65-F5344CB8AC3E}">
        <p14:creationId xmlns:p14="http://schemas.microsoft.com/office/powerpoint/2010/main" val="21848036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02276" y="360607"/>
            <a:ext cx="11230378" cy="5872767"/>
          </a:xfrm>
        </p:spPr>
        <p:txBody>
          <a:bodyPr/>
          <a:lstStyle/>
          <a:p>
            <a:pPr lvl="0" algn="l"/>
            <a:r>
              <a:rPr lang="en-IN" b="1" dirty="0" err="1" smtClean="0"/>
              <a:t>i</a:t>
            </a:r>
            <a:r>
              <a:rPr lang="en-IN" b="1" dirty="0" smtClean="0"/>
              <a:t>). Pooled </a:t>
            </a:r>
            <a:r>
              <a:rPr lang="en-IN" b="1" dirty="0"/>
              <a:t>Interdependence</a:t>
            </a:r>
            <a:endParaRPr lang="en-IN" dirty="0"/>
          </a:p>
          <a:p>
            <a:pPr algn="l"/>
            <a:r>
              <a:rPr lang="en-IN" dirty="0" smtClean="0"/>
              <a:t>- Coordination </a:t>
            </a:r>
            <a:r>
              <a:rPr lang="en-IN" dirty="0"/>
              <a:t>among all the departments of an organisation at the same time. </a:t>
            </a:r>
          </a:p>
          <a:p>
            <a:pPr lvl="0" algn="l"/>
            <a:r>
              <a:rPr lang="en-IN" b="1" dirty="0" smtClean="0"/>
              <a:t>ii). Sequential </a:t>
            </a:r>
            <a:r>
              <a:rPr lang="en-IN" b="1" dirty="0"/>
              <a:t>Interdependence</a:t>
            </a:r>
            <a:endParaRPr lang="en-IN" dirty="0"/>
          </a:p>
          <a:p>
            <a:pPr algn="l"/>
            <a:r>
              <a:rPr lang="en-IN" dirty="0" smtClean="0"/>
              <a:t>- One </a:t>
            </a:r>
            <a:r>
              <a:rPr lang="en-IN" dirty="0"/>
              <a:t>organisational unit must act before the other.</a:t>
            </a:r>
          </a:p>
          <a:p>
            <a:pPr lvl="0" algn="l"/>
            <a:r>
              <a:rPr lang="en-IN" b="1" dirty="0" smtClean="0"/>
              <a:t>iii). Reciprocal </a:t>
            </a:r>
            <a:r>
              <a:rPr lang="en-IN" b="1" dirty="0"/>
              <a:t>Interdependence</a:t>
            </a:r>
            <a:endParaRPr lang="en-IN" dirty="0"/>
          </a:p>
          <a:p>
            <a:pPr marL="342900" indent="-342900" algn="l">
              <a:buFontTx/>
              <a:buChar char="-"/>
            </a:pPr>
            <a:r>
              <a:rPr lang="en-IN" dirty="0" smtClean="0"/>
              <a:t>The </a:t>
            </a:r>
            <a:r>
              <a:rPr lang="en-IN" dirty="0"/>
              <a:t>input of one unit becomes the output of the other and vice versa. </a:t>
            </a:r>
            <a:endParaRPr lang="en-IN" dirty="0" smtClean="0"/>
          </a:p>
          <a:p>
            <a:pPr marL="342900" indent="-342900" algn="l">
              <a:buFontTx/>
              <a:buChar char="-"/>
            </a:pPr>
            <a:endParaRPr lang="en-IN" dirty="0"/>
          </a:p>
          <a:p>
            <a:pPr marL="342900" indent="-342900" algn="l">
              <a:buFontTx/>
              <a:buChar char="-"/>
            </a:pPr>
            <a:endParaRPr lang="en-IN" dirty="0" smtClean="0"/>
          </a:p>
          <a:p>
            <a:pPr marL="342900" indent="-342900" algn="l">
              <a:buFontTx/>
              <a:buChar char="-"/>
            </a:pPr>
            <a:endParaRPr lang="en-IN" dirty="0"/>
          </a:p>
          <a:p>
            <a:pPr algn="l"/>
            <a:endParaRPr lang="en-IN" sz="1800" b="1" dirty="0" smtClean="0"/>
          </a:p>
          <a:p>
            <a:pPr algn="l"/>
            <a:r>
              <a:rPr lang="en-IN" b="1" dirty="0" smtClean="0"/>
              <a:t>3. Unity </a:t>
            </a:r>
            <a:r>
              <a:rPr lang="en-IN" b="1" dirty="0"/>
              <a:t>in diversity</a:t>
            </a:r>
            <a:r>
              <a:rPr lang="en-IN" dirty="0"/>
              <a:t> - There are large number of employees each with different idea, views and opinions, this results into diversified activity in any organisation, So coordination bring all of them together to achieve common objective.</a:t>
            </a:r>
          </a:p>
          <a:p>
            <a:pPr algn="l"/>
            <a:endParaRPr lang="en-IN" dirty="0" smtClean="0"/>
          </a:p>
          <a:p>
            <a:pPr marL="342900" indent="-342900" algn="l">
              <a:buFontTx/>
              <a:buChar char="-"/>
            </a:pPr>
            <a:endParaRPr lang="en-IN" dirty="0"/>
          </a:p>
          <a:p>
            <a:pPr algn="l"/>
            <a:endParaRPr lang="en-IN"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1301906" y="3296990"/>
            <a:ext cx="6927694" cy="1410707"/>
          </a:xfrm>
          <a:prstGeom prst="rect">
            <a:avLst/>
          </a:prstGeom>
          <a:noFill/>
          <a:ln>
            <a:noFill/>
          </a:ln>
        </p:spPr>
      </p:pic>
    </p:spTree>
    <p:extLst>
      <p:ext uri="{BB962C8B-B14F-4D97-AF65-F5344CB8AC3E}">
        <p14:creationId xmlns:p14="http://schemas.microsoft.com/office/powerpoint/2010/main" val="41014551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4901" y="202015"/>
            <a:ext cx="11419268" cy="6211664"/>
          </a:xfrm>
        </p:spPr>
        <p:txBody>
          <a:bodyPr>
            <a:normAutofit/>
          </a:bodyPr>
          <a:lstStyle/>
          <a:p>
            <a:pPr algn="just"/>
            <a:r>
              <a:rPr lang="en-IN" b="1" dirty="0" smtClean="0"/>
              <a:t>4. Specialisation - </a:t>
            </a:r>
            <a:r>
              <a:rPr lang="en-IN" dirty="0" smtClean="0"/>
              <a:t>In </a:t>
            </a:r>
            <a:r>
              <a:rPr lang="en-IN" dirty="0"/>
              <a:t>modem industrial organizations, there is a high degree of specialization, Coordination plays an important role and in explaining the importance of each other’s activities</a:t>
            </a:r>
            <a:r>
              <a:rPr lang="en-IN" dirty="0" smtClean="0"/>
              <a:t>.</a:t>
            </a:r>
            <a:endParaRPr lang="en-IN" b="1" dirty="0" smtClean="0"/>
          </a:p>
          <a:p>
            <a:pPr algn="just"/>
            <a:r>
              <a:rPr lang="en-IN" b="1" dirty="0" smtClean="0"/>
              <a:t>5. Team </a:t>
            </a:r>
            <a:r>
              <a:rPr lang="en-IN" b="1" dirty="0"/>
              <a:t>work </a:t>
            </a:r>
            <a:r>
              <a:rPr lang="en-IN" b="1" dirty="0" smtClean="0"/>
              <a:t>- </a:t>
            </a:r>
            <a:r>
              <a:rPr lang="en-IN" dirty="0"/>
              <a:t>Coordination promotes teamwork and avoid duplication of </a:t>
            </a:r>
            <a:r>
              <a:rPr lang="en-IN" dirty="0" smtClean="0"/>
              <a:t>work.</a:t>
            </a:r>
            <a:endParaRPr lang="en-IN" b="1" dirty="0" smtClean="0"/>
          </a:p>
          <a:p>
            <a:pPr algn="just"/>
            <a:r>
              <a:rPr lang="en-IN" b="1" dirty="0" smtClean="0"/>
              <a:t>6. Empire </a:t>
            </a:r>
            <a:r>
              <a:rPr lang="en-IN" b="1" dirty="0"/>
              <a:t>building </a:t>
            </a:r>
            <a:r>
              <a:rPr lang="en-IN" b="1" dirty="0" smtClean="0"/>
              <a:t>- </a:t>
            </a:r>
            <a:r>
              <a:rPr lang="en-IN" dirty="0"/>
              <a:t>Empire building refers to top level of line organization. The line officers expect cooperation from staff officers but the line officers are not ready to extend their cooperation to Staff officers. This creates conflicts between line and staff officers. Therefore, coordination is necessary to avoid conflicts between line and staff officers</a:t>
            </a:r>
            <a:r>
              <a:rPr lang="en-IN" dirty="0" smtClean="0"/>
              <a:t>.</a:t>
            </a:r>
            <a:endParaRPr lang="en-IN" b="1" dirty="0" smtClean="0"/>
          </a:p>
          <a:p>
            <a:pPr algn="l"/>
            <a:r>
              <a:rPr lang="en-IN" b="1" dirty="0" smtClean="0"/>
              <a:t>7. Functional </a:t>
            </a:r>
            <a:r>
              <a:rPr lang="en-IN" b="1" dirty="0"/>
              <a:t>differences </a:t>
            </a:r>
            <a:r>
              <a:rPr lang="en-IN" b="1" dirty="0" smtClean="0"/>
              <a:t>- </a:t>
            </a:r>
            <a:r>
              <a:rPr lang="en-IN" dirty="0"/>
              <a:t>The functions of organization are divided section wise. Each section performs different jobs. Each department tries to perform its function in isolation from others, Coordination is necessary to integrate the functions of the related department</a:t>
            </a:r>
            <a:r>
              <a:rPr lang="en-IN" dirty="0" smtClean="0"/>
              <a:t>.</a:t>
            </a:r>
            <a:endParaRPr lang="en-IN" b="1" dirty="0" smtClean="0"/>
          </a:p>
          <a:p>
            <a:pPr algn="l"/>
            <a:r>
              <a:rPr lang="en-IN" b="1" dirty="0" smtClean="0"/>
              <a:t>8. Recognition </a:t>
            </a:r>
            <a:r>
              <a:rPr lang="en-IN" b="1" dirty="0"/>
              <a:t>of goals </a:t>
            </a:r>
            <a:r>
              <a:rPr lang="en-IN" b="1" dirty="0" smtClean="0"/>
              <a:t>- </a:t>
            </a:r>
            <a:r>
              <a:rPr lang="en-IN" dirty="0"/>
              <a:t>The are general goals of an organization. In addition each department has its own goals and the individual employees also have their own goals. Coordination plays important role to reconcile both the employee’s goals and departmental goals with organizational goals</a:t>
            </a:r>
            <a:r>
              <a:rPr lang="en-IN" dirty="0" smtClean="0"/>
              <a:t>.</a:t>
            </a:r>
            <a:endParaRPr lang="en-IN" dirty="0"/>
          </a:p>
          <a:p>
            <a:pPr algn="l"/>
            <a:endParaRPr lang="en-IN" dirty="0"/>
          </a:p>
        </p:txBody>
      </p:sp>
    </p:spTree>
    <p:extLst>
      <p:ext uri="{BB962C8B-B14F-4D97-AF65-F5344CB8AC3E}">
        <p14:creationId xmlns:p14="http://schemas.microsoft.com/office/powerpoint/2010/main" val="28407995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89397" y="450761"/>
            <a:ext cx="11127347" cy="6040191"/>
          </a:xfrm>
        </p:spPr>
        <p:txBody>
          <a:bodyPr/>
          <a:lstStyle/>
          <a:p>
            <a:pPr lvl="0" algn="l"/>
            <a:r>
              <a:rPr lang="en-IN" b="1" dirty="0" smtClean="0"/>
              <a:t>9. Communication </a:t>
            </a:r>
            <a:r>
              <a:rPr lang="en-IN" dirty="0" smtClean="0"/>
              <a:t>- Coordination </a:t>
            </a:r>
            <a:r>
              <a:rPr lang="en-IN" dirty="0"/>
              <a:t>ensures the smooth flow of information one direction to other direction.</a:t>
            </a:r>
          </a:p>
          <a:p>
            <a:pPr algn="l"/>
            <a:endParaRPr lang="en-IN" b="1" dirty="0" smtClean="0"/>
          </a:p>
          <a:p>
            <a:pPr marL="342900" indent="-342900" algn="l">
              <a:buFont typeface="Wingdings" panose="05000000000000000000" pitchFamily="2" charset="2"/>
              <a:buChar char="Ø"/>
            </a:pPr>
            <a:r>
              <a:rPr lang="en-IN" b="1" dirty="0" smtClean="0">
                <a:solidFill>
                  <a:schemeClr val="accent1"/>
                </a:solidFill>
              </a:rPr>
              <a:t>Controlling</a:t>
            </a:r>
            <a:endParaRPr lang="en-IN" dirty="0">
              <a:solidFill>
                <a:schemeClr val="accent1"/>
              </a:solidFill>
            </a:endParaRPr>
          </a:p>
          <a:p>
            <a:pPr algn="just"/>
            <a:r>
              <a:rPr lang="en-IN" dirty="0" smtClean="0"/>
              <a:t>- Control </a:t>
            </a:r>
            <a:r>
              <a:rPr lang="en-IN" dirty="0"/>
              <a:t>is one of the important functions of management. And it is the last function of management..</a:t>
            </a:r>
          </a:p>
          <a:p>
            <a:pPr marL="342900" indent="-342900" algn="just">
              <a:buFontTx/>
              <a:buChar char="-"/>
            </a:pPr>
            <a:r>
              <a:rPr lang="en-IN" dirty="0" smtClean="0"/>
              <a:t>The </a:t>
            </a:r>
            <a:r>
              <a:rPr lang="en-IN" dirty="0"/>
              <a:t>main objective of controlling is to </a:t>
            </a:r>
            <a:r>
              <a:rPr lang="en-IN" b="1" dirty="0"/>
              <a:t>identify the variations </a:t>
            </a:r>
            <a:r>
              <a:rPr lang="en-IN" dirty="0"/>
              <a:t>between the </a:t>
            </a:r>
            <a:r>
              <a:rPr lang="en-IN" b="1" dirty="0"/>
              <a:t>standards set and actual performance</a:t>
            </a:r>
            <a:r>
              <a:rPr lang="en-IN" dirty="0"/>
              <a:t> and then </a:t>
            </a:r>
            <a:r>
              <a:rPr lang="en-IN" b="1" dirty="0"/>
              <a:t>take necessary steps to prevent the occurrence of such variations in future</a:t>
            </a:r>
            <a:r>
              <a:rPr lang="en-IN" b="1" dirty="0" smtClean="0"/>
              <a:t>.</a:t>
            </a:r>
          </a:p>
          <a:p>
            <a:pPr marL="342900" indent="-342900" algn="just">
              <a:buFontTx/>
              <a:buChar char="-"/>
            </a:pPr>
            <a:r>
              <a:rPr lang="en-IN" dirty="0"/>
              <a:t>According to </a:t>
            </a:r>
            <a:r>
              <a:rPr lang="en-IN" b="1" dirty="0"/>
              <a:t>George R. Terry </a:t>
            </a:r>
            <a:r>
              <a:rPr lang="en-IN" dirty="0"/>
              <a:t>- “Controlling is determining what is being accomplished, that is by evaluating the performance and if necessary, applying corrective measures so that the performance takes place according to plans”.</a:t>
            </a:r>
          </a:p>
          <a:p>
            <a:pPr algn="l"/>
            <a:endParaRPr lang="en-IN" b="1" dirty="0"/>
          </a:p>
          <a:p>
            <a:pPr algn="l"/>
            <a:endParaRPr lang="en-IN" dirty="0"/>
          </a:p>
        </p:txBody>
      </p:sp>
    </p:spTree>
    <p:extLst>
      <p:ext uri="{BB962C8B-B14F-4D97-AF65-F5344CB8AC3E}">
        <p14:creationId xmlns:p14="http://schemas.microsoft.com/office/powerpoint/2010/main" val="23739406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28033" y="373487"/>
            <a:ext cx="11101589" cy="6168981"/>
          </a:xfrm>
        </p:spPr>
        <p:txBody>
          <a:bodyPr>
            <a:normAutofit/>
          </a:bodyPr>
          <a:lstStyle/>
          <a:p>
            <a:pPr marL="342900" indent="-342900" algn="l">
              <a:buFont typeface="Wingdings" panose="05000000000000000000" pitchFamily="2" charset="2"/>
              <a:buChar char="Ø"/>
            </a:pPr>
            <a:r>
              <a:rPr lang="en-IN" b="1" dirty="0" smtClean="0">
                <a:solidFill>
                  <a:schemeClr val="accent1"/>
                </a:solidFill>
              </a:rPr>
              <a:t>Steps </a:t>
            </a:r>
            <a:r>
              <a:rPr lang="en-IN" b="1" dirty="0">
                <a:solidFill>
                  <a:schemeClr val="accent1"/>
                </a:solidFill>
              </a:rPr>
              <a:t>in control </a:t>
            </a:r>
            <a:r>
              <a:rPr lang="en-IN" b="1" dirty="0" smtClean="0">
                <a:solidFill>
                  <a:schemeClr val="accent1"/>
                </a:solidFill>
              </a:rPr>
              <a:t>process</a:t>
            </a:r>
            <a:endParaRPr lang="en-IN" dirty="0">
              <a:solidFill>
                <a:schemeClr val="accent1"/>
              </a:solidFill>
            </a:endParaRPr>
          </a:p>
          <a:p>
            <a:pPr algn="l"/>
            <a:r>
              <a:rPr lang="en-IN" dirty="0" smtClean="0"/>
              <a:t>- There </a:t>
            </a:r>
            <a:r>
              <a:rPr lang="en-IN" dirty="0"/>
              <a:t>are three basic steps in a control process</a:t>
            </a:r>
            <a:r>
              <a:rPr lang="en-IN" dirty="0" smtClean="0"/>
              <a:t>:</a:t>
            </a:r>
            <a:endParaRPr lang="en-IN" dirty="0"/>
          </a:p>
          <a:p>
            <a:pPr algn="l"/>
            <a:r>
              <a:rPr lang="en-IN" dirty="0"/>
              <a:t>1.  Establishing standards </a:t>
            </a:r>
          </a:p>
          <a:p>
            <a:pPr algn="l"/>
            <a:r>
              <a:rPr lang="en-IN" dirty="0"/>
              <a:t>2.  Measuring and comparing actual results against standards </a:t>
            </a:r>
          </a:p>
          <a:p>
            <a:pPr algn="l"/>
            <a:r>
              <a:rPr lang="en-IN" dirty="0" smtClean="0"/>
              <a:t>3.  Taking </a:t>
            </a:r>
            <a:r>
              <a:rPr lang="en-IN" dirty="0"/>
              <a:t>corrective </a:t>
            </a:r>
            <a:r>
              <a:rPr lang="en-IN" dirty="0" smtClean="0"/>
              <a:t>action</a:t>
            </a:r>
          </a:p>
          <a:p>
            <a:pPr algn="l"/>
            <a:endParaRPr lang="en-IN" dirty="0" smtClean="0"/>
          </a:p>
          <a:p>
            <a:pPr algn="l"/>
            <a:r>
              <a:rPr lang="en-IN" b="1" dirty="0" smtClean="0"/>
              <a:t>1. Establishing </a:t>
            </a:r>
            <a:r>
              <a:rPr lang="en-IN" b="1" dirty="0"/>
              <a:t>standards</a:t>
            </a:r>
            <a:endParaRPr lang="en-IN" dirty="0"/>
          </a:p>
          <a:p>
            <a:pPr algn="l"/>
            <a:r>
              <a:rPr lang="en-IN" dirty="0" smtClean="0"/>
              <a:t>- The </a:t>
            </a:r>
            <a:r>
              <a:rPr lang="en-IN" dirty="0"/>
              <a:t>first step in the control process is to establish standards against which results can be measured. </a:t>
            </a:r>
          </a:p>
          <a:p>
            <a:pPr algn="l"/>
            <a:r>
              <a:rPr lang="en-IN" dirty="0" smtClean="0"/>
              <a:t>- Since </a:t>
            </a:r>
            <a:r>
              <a:rPr lang="en-IN" dirty="0"/>
              <a:t>entire operations cannot be observed, each organisation must first develop its own list of key areas for the purpose of control. </a:t>
            </a:r>
          </a:p>
          <a:p>
            <a:pPr algn="l"/>
            <a:endParaRPr lang="en-IN" dirty="0"/>
          </a:p>
          <a:p>
            <a:pPr algn="l"/>
            <a:endParaRPr lang="en-IN" dirty="0"/>
          </a:p>
        </p:txBody>
      </p:sp>
    </p:spTree>
    <p:extLst>
      <p:ext uri="{BB962C8B-B14F-4D97-AF65-F5344CB8AC3E}">
        <p14:creationId xmlns:p14="http://schemas.microsoft.com/office/powerpoint/2010/main" val="25570920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76517" y="399245"/>
            <a:ext cx="11217499" cy="5795493"/>
          </a:xfrm>
        </p:spPr>
        <p:txBody>
          <a:bodyPr/>
          <a:lstStyle/>
          <a:p>
            <a:pPr marL="342900" indent="-342900" algn="l">
              <a:buFont typeface="Arial" panose="020B0604020202020204" pitchFamily="34" charset="0"/>
              <a:buChar char="•"/>
            </a:pPr>
            <a:r>
              <a:rPr lang="en-IN" b="1" dirty="0"/>
              <a:t>Some key areas in all business organisations </a:t>
            </a:r>
            <a:r>
              <a:rPr lang="en-IN" b="1" dirty="0" smtClean="0"/>
              <a:t>are</a:t>
            </a:r>
            <a:endParaRPr lang="en-IN" dirty="0"/>
          </a:p>
          <a:p>
            <a:pPr algn="l"/>
            <a:r>
              <a:rPr lang="en-IN" dirty="0" smtClean="0"/>
              <a:t>- Profitability</a:t>
            </a:r>
            <a:r>
              <a:rPr lang="en-IN" dirty="0"/>
              <a:t>, market position, productivity, personnel development, employee attitudes and public responsibility etc</a:t>
            </a:r>
            <a:r>
              <a:rPr lang="en-IN" dirty="0" smtClean="0"/>
              <a:t>.</a:t>
            </a:r>
            <a:endParaRPr lang="en-IN" dirty="0"/>
          </a:p>
          <a:p>
            <a:pPr algn="l"/>
            <a:r>
              <a:rPr lang="en-IN" dirty="0" smtClean="0"/>
              <a:t>- Standards </a:t>
            </a:r>
            <a:r>
              <a:rPr lang="en-IN" dirty="0"/>
              <a:t>need to be flexible in order to adapt to changing conditions</a:t>
            </a:r>
            <a:r>
              <a:rPr lang="en-IN" dirty="0" smtClean="0"/>
              <a:t>.</a:t>
            </a:r>
            <a:endParaRPr lang="en-IN" dirty="0"/>
          </a:p>
          <a:p>
            <a:pPr algn="l"/>
            <a:r>
              <a:rPr lang="en-IN" dirty="0" smtClean="0"/>
              <a:t>- Standards </a:t>
            </a:r>
            <a:r>
              <a:rPr lang="en-IN" dirty="0"/>
              <a:t>may be </a:t>
            </a:r>
            <a:r>
              <a:rPr lang="en-IN" b="1" dirty="0"/>
              <a:t>qualitative</a:t>
            </a:r>
            <a:r>
              <a:rPr lang="en-IN" dirty="0"/>
              <a:t> or </a:t>
            </a:r>
            <a:r>
              <a:rPr lang="en-IN" b="1" dirty="0" smtClean="0"/>
              <a:t>quantitative</a:t>
            </a:r>
            <a:endParaRPr lang="en-IN" dirty="0"/>
          </a:p>
          <a:p>
            <a:pPr algn="l"/>
            <a:r>
              <a:rPr lang="en-IN" dirty="0" smtClean="0"/>
              <a:t>- Standards </a:t>
            </a:r>
            <a:r>
              <a:rPr lang="en-IN" dirty="0"/>
              <a:t>like </a:t>
            </a:r>
            <a:r>
              <a:rPr lang="en-IN" b="1" dirty="0"/>
              <a:t>costs should be reduced</a:t>
            </a:r>
            <a:r>
              <a:rPr lang="en-IN" dirty="0"/>
              <a:t>, </a:t>
            </a:r>
            <a:r>
              <a:rPr lang="en-IN" b="1" dirty="0"/>
              <a:t>communication is to be fas</a:t>
            </a:r>
            <a:r>
              <a:rPr lang="en-IN" dirty="0"/>
              <a:t>ter and </a:t>
            </a:r>
            <a:r>
              <a:rPr lang="en-IN" b="1" dirty="0"/>
              <a:t>employees moral </a:t>
            </a:r>
            <a:r>
              <a:rPr lang="en-IN" dirty="0"/>
              <a:t>etc. are some of the examples of qualitative</a:t>
            </a:r>
            <a:r>
              <a:rPr lang="en-IN" dirty="0" smtClean="0"/>
              <a:t>.</a:t>
            </a:r>
            <a:endParaRPr lang="en-IN" dirty="0"/>
          </a:p>
          <a:p>
            <a:pPr algn="l"/>
            <a:r>
              <a:rPr lang="en-IN" dirty="0" smtClean="0"/>
              <a:t>- Standards </a:t>
            </a:r>
            <a:r>
              <a:rPr lang="en-IN" dirty="0"/>
              <a:t>like </a:t>
            </a:r>
            <a:r>
              <a:rPr lang="en-IN" b="1" dirty="0" smtClean="0"/>
              <a:t>number </a:t>
            </a:r>
            <a:r>
              <a:rPr lang="en-IN" b="1" dirty="0"/>
              <a:t>of units produced</a:t>
            </a:r>
            <a:r>
              <a:rPr lang="en-IN" dirty="0"/>
              <a:t>, </a:t>
            </a:r>
            <a:r>
              <a:rPr lang="en-IN" b="1" dirty="0"/>
              <a:t>profit percentage</a:t>
            </a:r>
            <a:r>
              <a:rPr lang="en-IN" dirty="0"/>
              <a:t>, </a:t>
            </a:r>
            <a:r>
              <a:rPr lang="en-IN" b="1" dirty="0"/>
              <a:t>total cost incurred</a:t>
            </a:r>
            <a:r>
              <a:rPr lang="en-IN" dirty="0"/>
              <a:t>, </a:t>
            </a:r>
            <a:r>
              <a:rPr lang="en-IN" b="1" dirty="0"/>
              <a:t>standard hours </a:t>
            </a:r>
            <a:r>
              <a:rPr lang="en-IN" dirty="0"/>
              <a:t>etc. are some of the examples of quantitative.</a:t>
            </a:r>
          </a:p>
          <a:p>
            <a:pPr algn="l"/>
            <a:endParaRPr lang="en-IN" dirty="0"/>
          </a:p>
        </p:txBody>
      </p:sp>
    </p:spTree>
    <p:extLst>
      <p:ext uri="{BB962C8B-B14F-4D97-AF65-F5344CB8AC3E}">
        <p14:creationId xmlns:p14="http://schemas.microsoft.com/office/powerpoint/2010/main" val="29533827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25003" y="399245"/>
            <a:ext cx="11256135" cy="6053070"/>
          </a:xfrm>
        </p:spPr>
        <p:txBody>
          <a:bodyPr>
            <a:normAutofit fontScale="92500"/>
          </a:bodyPr>
          <a:lstStyle/>
          <a:p>
            <a:pPr marL="342900" indent="-342900" algn="l">
              <a:buFont typeface="Arial" panose="020B0604020202020204" pitchFamily="34" charset="0"/>
              <a:buChar char="•"/>
            </a:pPr>
            <a:r>
              <a:rPr lang="en-IN" b="1" dirty="0"/>
              <a:t>Standards can be of following </a:t>
            </a:r>
            <a:r>
              <a:rPr lang="en-IN" b="1" dirty="0" smtClean="0"/>
              <a:t>types</a:t>
            </a:r>
            <a:endParaRPr lang="en-IN" b="1" dirty="0"/>
          </a:p>
          <a:p>
            <a:pPr lvl="0" algn="l"/>
            <a:r>
              <a:rPr lang="en-IN" b="1" dirty="0"/>
              <a:t>i</a:t>
            </a:r>
            <a:r>
              <a:rPr lang="en-IN" b="1" dirty="0" smtClean="0"/>
              <a:t>. Physical </a:t>
            </a:r>
            <a:r>
              <a:rPr lang="en-IN" b="1" dirty="0"/>
              <a:t>standards</a:t>
            </a:r>
            <a:endParaRPr lang="en-IN" dirty="0"/>
          </a:p>
          <a:p>
            <a:pPr algn="l"/>
            <a:r>
              <a:rPr lang="en-IN" dirty="0" smtClean="0"/>
              <a:t>- Such </a:t>
            </a:r>
            <a:r>
              <a:rPr lang="en-IN" dirty="0"/>
              <a:t>as labour hours per unit of output, units of production per machine per hour so on. </a:t>
            </a:r>
          </a:p>
          <a:p>
            <a:pPr lvl="0" algn="l"/>
            <a:r>
              <a:rPr lang="en-IN" b="1" dirty="0" smtClean="0"/>
              <a:t>ii. Cost </a:t>
            </a:r>
            <a:r>
              <a:rPr lang="en-IN" b="1" dirty="0"/>
              <a:t>standards</a:t>
            </a:r>
            <a:endParaRPr lang="en-IN" dirty="0"/>
          </a:p>
          <a:p>
            <a:pPr algn="l"/>
            <a:r>
              <a:rPr lang="en-IN" dirty="0" smtClean="0"/>
              <a:t>- Such </a:t>
            </a:r>
            <a:r>
              <a:rPr lang="en-IN" dirty="0"/>
              <a:t>as direct and indirect cost per unit produced, material cost per unit, s</a:t>
            </a:r>
            <a:r>
              <a:rPr lang="en-IN" dirty="0" smtClean="0"/>
              <a:t>elling </a:t>
            </a:r>
            <a:r>
              <a:rPr lang="en-IN" dirty="0"/>
              <a:t>cost per unit of sale, etc.</a:t>
            </a:r>
          </a:p>
          <a:p>
            <a:pPr lvl="0" algn="l"/>
            <a:r>
              <a:rPr lang="en-IN" b="1" dirty="0" smtClean="0"/>
              <a:t>iii. Revenue </a:t>
            </a:r>
            <a:r>
              <a:rPr lang="en-IN" b="1" dirty="0"/>
              <a:t>standards</a:t>
            </a:r>
            <a:endParaRPr lang="en-IN" dirty="0"/>
          </a:p>
          <a:p>
            <a:pPr algn="l"/>
            <a:r>
              <a:rPr lang="en-IN" dirty="0" smtClean="0"/>
              <a:t>- Such </a:t>
            </a:r>
            <a:r>
              <a:rPr lang="en-IN" dirty="0"/>
              <a:t>as average sale per customer, sales per capita in a given market area, etc</a:t>
            </a:r>
            <a:r>
              <a:rPr lang="en-IN" dirty="0" smtClean="0"/>
              <a:t>.</a:t>
            </a:r>
            <a:endParaRPr lang="en-IN" dirty="0"/>
          </a:p>
          <a:p>
            <a:pPr lvl="0" algn="l"/>
            <a:r>
              <a:rPr lang="en-IN" b="1" dirty="0" smtClean="0"/>
              <a:t>iv. Capital </a:t>
            </a:r>
            <a:r>
              <a:rPr lang="en-IN" b="1" dirty="0"/>
              <a:t>standards</a:t>
            </a:r>
            <a:endParaRPr lang="en-IN" dirty="0"/>
          </a:p>
          <a:p>
            <a:pPr algn="l"/>
            <a:r>
              <a:rPr lang="en-IN" dirty="0" smtClean="0"/>
              <a:t>- Such </a:t>
            </a:r>
            <a:r>
              <a:rPr lang="en-IN" dirty="0"/>
              <a:t>as the rate of return on capital invested, ratio of current assets to </a:t>
            </a:r>
            <a:r>
              <a:rPr lang="en-IN" dirty="0" smtClean="0"/>
              <a:t>current liabilities</a:t>
            </a:r>
            <a:r>
              <a:rPr lang="en-IN" dirty="0"/>
              <a:t>, etc</a:t>
            </a:r>
            <a:r>
              <a:rPr lang="en-IN" dirty="0" smtClean="0"/>
              <a:t>.</a:t>
            </a:r>
            <a:endParaRPr lang="en-IN" dirty="0"/>
          </a:p>
          <a:p>
            <a:pPr lvl="0" algn="l"/>
            <a:r>
              <a:rPr lang="en-IN" b="1" dirty="0"/>
              <a:t>v</a:t>
            </a:r>
            <a:r>
              <a:rPr lang="en-IN" b="1" dirty="0" smtClean="0"/>
              <a:t>. Intangible </a:t>
            </a:r>
            <a:r>
              <a:rPr lang="en-IN" b="1" dirty="0"/>
              <a:t>standards</a:t>
            </a:r>
            <a:endParaRPr lang="en-IN" dirty="0"/>
          </a:p>
          <a:p>
            <a:pPr algn="l"/>
            <a:r>
              <a:rPr lang="en-IN" dirty="0" smtClean="0"/>
              <a:t>- Such </a:t>
            </a:r>
            <a:r>
              <a:rPr lang="en-IN" dirty="0"/>
              <a:t>as competence of managers and employees, success of a public relation programme, etc</a:t>
            </a:r>
            <a:r>
              <a:rPr lang="en-IN" dirty="0" smtClean="0"/>
              <a:t>.</a:t>
            </a:r>
            <a:endParaRPr lang="en-IN" dirty="0"/>
          </a:p>
          <a:p>
            <a:pPr lvl="0" algn="l"/>
            <a:r>
              <a:rPr lang="en-IN" b="1" dirty="0" smtClean="0"/>
              <a:t>vi. Working </a:t>
            </a:r>
            <a:r>
              <a:rPr lang="en-IN" b="1" dirty="0"/>
              <a:t>practice standards</a:t>
            </a:r>
            <a:endParaRPr lang="en-IN" dirty="0"/>
          </a:p>
          <a:p>
            <a:pPr algn="l"/>
            <a:r>
              <a:rPr lang="en-IN" dirty="0" smtClean="0"/>
              <a:t>- Rules </a:t>
            </a:r>
            <a:r>
              <a:rPr lang="en-IN" dirty="0"/>
              <a:t>and regulations standards for an employees.</a:t>
            </a:r>
          </a:p>
          <a:p>
            <a:pPr algn="l"/>
            <a:endParaRPr lang="en-IN" dirty="0"/>
          </a:p>
        </p:txBody>
      </p:sp>
    </p:spTree>
    <p:extLst>
      <p:ext uri="{BB962C8B-B14F-4D97-AF65-F5344CB8AC3E}">
        <p14:creationId xmlns:p14="http://schemas.microsoft.com/office/powerpoint/2010/main" val="27724386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02276" y="309093"/>
            <a:ext cx="11178862" cy="6130344"/>
          </a:xfrm>
        </p:spPr>
        <p:txBody>
          <a:bodyPr>
            <a:normAutofit/>
          </a:bodyPr>
          <a:lstStyle/>
          <a:p>
            <a:pPr algn="l"/>
            <a:r>
              <a:rPr lang="en-IN" b="1" dirty="0" smtClean="0"/>
              <a:t>2. Measuring </a:t>
            </a:r>
            <a:r>
              <a:rPr lang="en-IN" b="1" dirty="0"/>
              <a:t>and comparing actual results against standards </a:t>
            </a:r>
            <a:endParaRPr lang="en-IN" dirty="0"/>
          </a:p>
          <a:p>
            <a:pPr algn="l"/>
            <a:r>
              <a:rPr lang="en-IN" dirty="0" smtClean="0"/>
              <a:t>- The </a:t>
            </a:r>
            <a:r>
              <a:rPr lang="en-IN" dirty="0"/>
              <a:t>second step in the control process is to measure the performance and compare it with the set standards.</a:t>
            </a:r>
          </a:p>
          <a:p>
            <a:pPr algn="l"/>
            <a:r>
              <a:rPr lang="en-IN" dirty="0" smtClean="0"/>
              <a:t>- Measurement </a:t>
            </a:r>
            <a:r>
              <a:rPr lang="en-IN" dirty="0"/>
              <a:t>of performance can be done by </a:t>
            </a:r>
            <a:r>
              <a:rPr lang="en-IN" b="1" dirty="0"/>
              <a:t>personal observation</a:t>
            </a:r>
            <a:r>
              <a:rPr lang="en-IN" dirty="0"/>
              <a:t>, or </a:t>
            </a:r>
            <a:r>
              <a:rPr lang="en-IN" b="1" dirty="0"/>
              <a:t>by study of a various summaries of figures, reports, charts and standards</a:t>
            </a:r>
            <a:r>
              <a:rPr lang="en-IN" dirty="0"/>
              <a:t>.</a:t>
            </a:r>
          </a:p>
          <a:p>
            <a:pPr algn="l"/>
            <a:r>
              <a:rPr lang="en-IN" dirty="0" smtClean="0"/>
              <a:t>- Comparison </a:t>
            </a:r>
            <a:r>
              <a:rPr lang="en-IN" dirty="0"/>
              <a:t>is easy if system is well defined.</a:t>
            </a:r>
          </a:p>
          <a:p>
            <a:pPr algn="l"/>
            <a:r>
              <a:rPr lang="en-IN" dirty="0" smtClean="0"/>
              <a:t>- Some </a:t>
            </a:r>
            <a:r>
              <a:rPr lang="en-IN" dirty="0"/>
              <a:t>variations are </a:t>
            </a:r>
            <a:r>
              <a:rPr lang="en-IN" b="1" dirty="0" smtClean="0"/>
              <a:t>desirable</a:t>
            </a:r>
            <a:r>
              <a:rPr lang="en-IN" dirty="0" smtClean="0"/>
              <a:t> </a:t>
            </a:r>
            <a:r>
              <a:rPr lang="en-IN" dirty="0"/>
              <a:t>such as the </a:t>
            </a:r>
            <a:r>
              <a:rPr lang="en-IN" b="1" dirty="0"/>
              <a:t>output above the standard or expenses below the standard. </a:t>
            </a:r>
          </a:p>
          <a:p>
            <a:pPr algn="l"/>
            <a:r>
              <a:rPr lang="en-IN" dirty="0" smtClean="0"/>
              <a:t>- But </a:t>
            </a:r>
            <a:r>
              <a:rPr lang="en-IN" dirty="0"/>
              <a:t>some </a:t>
            </a:r>
            <a:r>
              <a:rPr lang="en-IN" dirty="0" smtClean="0"/>
              <a:t>variations </a:t>
            </a:r>
            <a:r>
              <a:rPr lang="en-IN" dirty="0"/>
              <a:t>are </a:t>
            </a:r>
            <a:r>
              <a:rPr lang="en-IN" b="1" dirty="0"/>
              <a:t>undesirable</a:t>
            </a:r>
            <a:r>
              <a:rPr lang="en-IN" dirty="0"/>
              <a:t> such as a </a:t>
            </a:r>
            <a:r>
              <a:rPr lang="en-IN" b="1" dirty="0"/>
              <a:t>variation in the delivery schedule, excess cost per product etc</a:t>
            </a:r>
            <a:r>
              <a:rPr lang="en-IN" b="1" dirty="0" smtClean="0"/>
              <a:t>.</a:t>
            </a:r>
            <a:endParaRPr lang="en-IN" b="1" dirty="0"/>
          </a:p>
          <a:p>
            <a:pPr algn="l"/>
            <a:endParaRPr lang="en-IN" dirty="0"/>
          </a:p>
        </p:txBody>
      </p:sp>
    </p:spTree>
    <p:extLst>
      <p:ext uri="{BB962C8B-B14F-4D97-AF65-F5344CB8AC3E}">
        <p14:creationId xmlns:p14="http://schemas.microsoft.com/office/powerpoint/2010/main" val="601337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99245" y="373487"/>
            <a:ext cx="11294772" cy="6027313"/>
          </a:xfrm>
        </p:spPr>
        <p:txBody>
          <a:bodyPr/>
          <a:lstStyle/>
          <a:p>
            <a:pPr algn="l"/>
            <a:r>
              <a:rPr lang="en-IN" b="1" dirty="0"/>
              <a:t>3. Taking Corrective Action</a:t>
            </a:r>
            <a:endParaRPr lang="en-IN" dirty="0"/>
          </a:p>
          <a:p>
            <a:pPr algn="l"/>
            <a:r>
              <a:rPr lang="en-IN" dirty="0"/>
              <a:t>- After comparing the actual performance with set standards and finding the deviations. The next step that should be taken by the manager is to correct these deviations. </a:t>
            </a:r>
          </a:p>
          <a:p>
            <a:pPr algn="l"/>
            <a:r>
              <a:rPr lang="en-IN" dirty="0"/>
              <a:t>- Corrective action should be taken without wasting time so that the normal position can be restored.</a:t>
            </a:r>
          </a:p>
          <a:p>
            <a:pPr algn="l"/>
            <a:endParaRPr lang="en-IN" b="1" dirty="0" smtClean="0"/>
          </a:p>
          <a:p>
            <a:pPr algn="l"/>
            <a:r>
              <a:rPr lang="en-IN" b="1" dirty="0" smtClean="0"/>
              <a:t>The </a:t>
            </a:r>
            <a:r>
              <a:rPr lang="en-IN" b="1" dirty="0"/>
              <a:t>causes for deviation may be due to</a:t>
            </a:r>
            <a:endParaRPr lang="en-IN" dirty="0"/>
          </a:p>
          <a:p>
            <a:pPr lvl="0" algn="l"/>
            <a:r>
              <a:rPr lang="en-IN" dirty="0" smtClean="0"/>
              <a:t>- Inadequate </a:t>
            </a:r>
            <a:r>
              <a:rPr lang="en-IN" dirty="0"/>
              <a:t>communication</a:t>
            </a:r>
          </a:p>
          <a:p>
            <a:pPr lvl="0" algn="l"/>
            <a:r>
              <a:rPr lang="en-IN" dirty="0" smtClean="0"/>
              <a:t>- Poor </a:t>
            </a:r>
            <a:r>
              <a:rPr lang="en-IN" dirty="0"/>
              <a:t>equipment and machinery</a:t>
            </a:r>
          </a:p>
          <a:p>
            <a:pPr lvl="0" algn="l"/>
            <a:r>
              <a:rPr lang="en-IN" dirty="0" smtClean="0"/>
              <a:t>- Defective </a:t>
            </a:r>
            <a:r>
              <a:rPr lang="en-IN" dirty="0"/>
              <a:t>system of training and selection of personnel</a:t>
            </a:r>
          </a:p>
          <a:p>
            <a:pPr lvl="0" algn="l"/>
            <a:r>
              <a:rPr lang="en-IN" dirty="0" smtClean="0"/>
              <a:t>- Negligence </a:t>
            </a:r>
            <a:r>
              <a:rPr lang="en-IN" dirty="0"/>
              <a:t>from workers</a:t>
            </a:r>
          </a:p>
          <a:p>
            <a:pPr lvl="0" algn="l"/>
            <a:r>
              <a:rPr lang="en-IN" dirty="0" smtClean="0"/>
              <a:t>- Ineffective </a:t>
            </a:r>
            <a:r>
              <a:rPr lang="en-IN" dirty="0"/>
              <a:t>supervision</a:t>
            </a:r>
          </a:p>
          <a:p>
            <a:pPr algn="l"/>
            <a:endParaRPr lang="en-IN" dirty="0"/>
          </a:p>
        </p:txBody>
      </p:sp>
    </p:spTree>
    <p:extLst>
      <p:ext uri="{BB962C8B-B14F-4D97-AF65-F5344CB8AC3E}">
        <p14:creationId xmlns:p14="http://schemas.microsoft.com/office/powerpoint/2010/main" val="30449493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37882" y="373487"/>
            <a:ext cx="11269014" cy="6040192"/>
          </a:xfrm>
        </p:spPr>
        <p:txBody>
          <a:bodyPr>
            <a:normAutofit lnSpcReduction="10000"/>
          </a:bodyPr>
          <a:lstStyle/>
          <a:p>
            <a:pPr marL="342900" indent="-342900" algn="l">
              <a:buFont typeface="Wingdings" panose="05000000000000000000" pitchFamily="2" charset="2"/>
              <a:buChar char="Ø"/>
            </a:pPr>
            <a:r>
              <a:rPr lang="en-IN" b="1" dirty="0">
                <a:solidFill>
                  <a:schemeClr val="accent1"/>
                </a:solidFill>
              </a:rPr>
              <a:t>Methods of establishing control</a:t>
            </a:r>
            <a:endParaRPr lang="en-IN" dirty="0">
              <a:solidFill>
                <a:schemeClr val="accent1"/>
              </a:solidFill>
            </a:endParaRPr>
          </a:p>
          <a:p>
            <a:pPr marL="457200" indent="-457200" algn="l">
              <a:buFont typeface="+mj-lt"/>
              <a:buAutoNum type="arabicPeriod"/>
            </a:pPr>
            <a:r>
              <a:rPr lang="en-IN" dirty="0" smtClean="0"/>
              <a:t>Personal </a:t>
            </a:r>
            <a:r>
              <a:rPr lang="en-IN" dirty="0"/>
              <a:t>observation </a:t>
            </a:r>
            <a:endParaRPr lang="en-IN" dirty="0" smtClean="0"/>
          </a:p>
          <a:p>
            <a:pPr marL="457200" indent="-457200" algn="l">
              <a:buFont typeface="+mj-lt"/>
              <a:buAutoNum type="arabicPeriod"/>
            </a:pPr>
            <a:r>
              <a:rPr lang="en-IN" dirty="0" smtClean="0"/>
              <a:t>Budgeting </a:t>
            </a:r>
          </a:p>
          <a:p>
            <a:pPr marL="457200" indent="-457200" algn="l">
              <a:buFont typeface="+mj-lt"/>
              <a:buAutoNum type="arabicPeriod"/>
            </a:pPr>
            <a:r>
              <a:rPr lang="en-IN" dirty="0"/>
              <a:t>Cost accounting and Cost </a:t>
            </a:r>
            <a:r>
              <a:rPr lang="en-IN" dirty="0" smtClean="0"/>
              <a:t>control</a:t>
            </a:r>
          </a:p>
          <a:p>
            <a:pPr marL="457200" indent="-457200" algn="l">
              <a:buFont typeface="+mj-lt"/>
              <a:buAutoNum type="arabicPeriod"/>
            </a:pPr>
            <a:r>
              <a:rPr lang="en-IN" dirty="0"/>
              <a:t>Break-Even analysis </a:t>
            </a:r>
            <a:endParaRPr lang="en-IN" dirty="0" smtClean="0"/>
          </a:p>
          <a:p>
            <a:pPr marL="457200" indent="-457200" algn="l">
              <a:buFont typeface="+mj-lt"/>
              <a:buAutoNum type="arabicPeriod"/>
            </a:pPr>
            <a:r>
              <a:rPr lang="en-IN" dirty="0"/>
              <a:t>Standard costing </a:t>
            </a:r>
            <a:endParaRPr lang="en-IN" dirty="0" smtClean="0"/>
          </a:p>
          <a:p>
            <a:pPr marL="457200" indent="-457200" algn="l">
              <a:buFont typeface="+mj-lt"/>
              <a:buAutoNum type="arabicPeriod"/>
            </a:pPr>
            <a:r>
              <a:rPr lang="en-IN" dirty="0"/>
              <a:t>Return on investment (ROI</a:t>
            </a:r>
            <a:r>
              <a:rPr lang="en-IN" dirty="0" smtClean="0"/>
              <a:t>)</a:t>
            </a:r>
          </a:p>
          <a:p>
            <a:pPr marL="457200" indent="-457200" algn="l">
              <a:buFont typeface="+mj-lt"/>
              <a:buAutoNum type="arabicPeriod"/>
            </a:pPr>
            <a:r>
              <a:rPr lang="en-IN" dirty="0"/>
              <a:t>Responsibility accounting </a:t>
            </a:r>
            <a:endParaRPr lang="en-IN" dirty="0" smtClean="0"/>
          </a:p>
          <a:p>
            <a:pPr marL="457200" indent="-457200" algn="l">
              <a:buFont typeface="+mj-lt"/>
              <a:buAutoNum type="arabicPeriod"/>
            </a:pPr>
            <a:r>
              <a:rPr lang="en-IN" dirty="0"/>
              <a:t>Management audit </a:t>
            </a:r>
            <a:endParaRPr lang="en-IN" dirty="0" smtClean="0"/>
          </a:p>
          <a:p>
            <a:pPr marL="457200" indent="-457200" algn="l">
              <a:buFont typeface="+mj-lt"/>
              <a:buAutoNum type="arabicPeriod"/>
            </a:pPr>
            <a:r>
              <a:rPr lang="en-IN" dirty="0"/>
              <a:t>Internal audit </a:t>
            </a:r>
            <a:endParaRPr lang="en-IN" dirty="0" smtClean="0"/>
          </a:p>
          <a:p>
            <a:pPr marL="457200" indent="-457200" algn="l">
              <a:buFont typeface="+mj-lt"/>
              <a:buAutoNum type="arabicPeriod"/>
            </a:pPr>
            <a:r>
              <a:rPr lang="en-IN" dirty="0"/>
              <a:t>External audit </a:t>
            </a:r>
            <a:endParaRPr lang="en-IN" dirty="0" smtClean="0"/>
          </a:p>
          <a:p>
            <a:pPr marL="457200" indent="-457200" algn="l">
              <a:buFont typeface="+mj-lt"/>
              <a:buAutoNum type="arabicPeriod"/>
            </a:pPr>
            <a:r>
              <a:rPr lang="en-IN" dirty="0"/>
              <a:t>Gantt milestone chart </a:t>
            </a:r>
            <a:endParaRPr lang="en-IN" dirty="0" smtClean="0"/>
          </a:p>
          <a:p>
            <a:pPr marL="457200" indent="-457200" algn="l">
              <a:buFont typeface="+mj-lt"/>
              <a:buAutoNum type="arabicPeriod"/>
            </a:pPr>
            <a:r>
              <a:rPr lang="en-IN" dirty="0"/>
              <a:t>Programme Evaluation and Review Technique (PERT) </a:t>
            </a:r>
            <a:endParaRPr lang="en-IN" dirty="0" smtClean="0"/>
          </a:p>
          <a:p>
            <a:pPr marL="457200" indent="-457200" algn="l">
              <a:buFont typeface="+mj-lt"/>
              <a:buAutoNum type="arabicPeriod"/>
            </a:pPr>
            <a:r>
              <a:rPr lang="en-IN" dirty="0"/>
              <a:t>Critical Path Method (CPM) </a:t>
            </a:r>
          </a:p>
        </p:txBody>
      </p:sp>
    </p:spTree>
    <p:extLst>
      <p:ext uri="{BB962C8B-B14F-4D97-AF65-F5344CB8AC3E}">
        <p14:creationId xmlns:p14="http://schemas.microsoft.com/office/powerpoint/2010/main" val="37275029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1005</TotalTime>
  <Words>5346</Words>
  <Application>Microsoft Office PowerPoint</Application>
  <PresentationFormat>Widescreen</PresentationFormat>
  <Paragraphs>419</Paragraphs>
  <Slides>48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Imran Khan</cp:lastModifiedBy>
  <cp:revision>420</cp:revision>
  <dcterms:created xsi:type="dcterms:W3CDTF">2019-07-25T03:06:15Z</dcterms:created>
  <dcterms:modified xsi:type="dcterms:W3CDTF">2020-09-26T03:25:45Z</dcterms:modified>
</cp:coreProperties>
</file>